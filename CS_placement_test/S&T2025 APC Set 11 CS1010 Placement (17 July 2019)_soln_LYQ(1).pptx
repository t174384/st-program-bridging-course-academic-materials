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86" r:id="rId2"/>
    <p:sldId id="256" r:id="rId3"/>
    <p:sldId id="384" r:id="rId4"/>
    <p:sldId id="356" r:id="rId5"/>
    <p:sldId id="374" r:id="rId6"/>
    <p:sldId id="357" r:id="rId7"/>
    <p:sldId id="375" r:id="rId8"/>
    <p:sldId id="360" r:id="rId9"/>
    <p:sldId id="376" r:id="rId10"/>
    <p:sldId id="377" r:id="rId11"/>
    <p:sldId id="378" r:id="rId12"/>
    <p:sldId id="361" r:id="rId13"/>
    <p:sldId id="379" r:id="rId14"/>
    <p:sldId id="371" r:id="rId15"/>
    <p:sldId id="380" r:id="rId16"/>
    <p:sldId id="362" r:id="rId17"/>
    <p:sldId id="372" r:id="rId18"/>
    <p:sldId id="363" r:id="rId19"/>
    <p:sldId id="364" r:id="rId20"/>
    <p:sldId id="381" r:id="rId21"/>
    <p:sldId id="365" r:id="rId22"/>
    <p:sldId id="382" r:id="rId23"/>
    <p:sldId id="366" r:id="rId24"/>
    <p:sldId id="373" r:id="rId25"/>
    <p:sldId id="383" r:id="rId26"/>
    <p:sldId id="367" r:id="rId27"/>
    <p:sldId id="368" r:id="rId28"/>
    <p:sldId id="369" r:id="rId29"/>
    <p:sldId id="307" r:id="rId30"/>
    <p:sldId id="317" r:id="rId31"/>
    <p:sldId id="273" r:id="rId32"/>
    <p:sldId id="352" r:id="rId33"/>
    <p:sldId id="385" r:id="rId34"/>
    <p:sldId id="35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99"/>
    <a:srgbClr val="FFFF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7" autoAdjust="0"/>
    <p:restoredTop sz="93114" autoAdjust="0"/>
  </p:normalViewPr>
  <p:slideViewPr>
    <p:cSldViewPr snapToGrid="0">
      <p:cViewPr varScale="1">
        <p:scale>
          <a:sx n="69" d="100"/>
          <a:sy n="69" d="100"/>
        </p:scale>
        <p:origin x="729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2F3D4-9E23-4C30-80E6-9A400E18B3F2}" type="datetimeFigureOut">
              <a:rPr lang="en-SG" smtClean="0"/>
              <a:t>24/6/2026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738AD-10F2-401E-9926-64321680FC14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948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430B-9A9D-FC1D-A2A0-93317138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E3748-A733-C89E-7216-29EAB1F52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D8DBF-B7E8-D09D-EB83-EF7D9FCF9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CEB80-9C47-807B-1A83-5C88E0D0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738AD-10F2-401E-9926-64321680FC14}" type="slidenum">
              <a:rPr lang="en-SG" smtClean="0"/>
              <a:t>29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8884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EE06D-8CDD-B29E-E632-3BB217DF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40EE8-F357-65CB-ED8A-CC8F51831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5E283-085B-11A3-9FF3-81B391FF8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4C55D-E59B-CA54-16E5-244F0BC70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738AD-10F2-401E-9926-64321680FC14}" type="slidenum">
              <a:rPr lang="en-SG" smtClean="0"/>
              <a:t>30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6056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738AD-10F2-401E-9926-64321680FC14}" type="slidenum">
              <a:rPr lang="en-SG" smtClean="0"/>
              <a:t>31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721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E4C8-2F1A-5799-ACAF-9E26E8A60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2C569-4797-36AF-286B-888EE70E5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050F0-2E85-2407-C679-85C9E8EF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59535-43D3-47F0-BEA7-932F040F5F69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3D91D-766E-8539-5114-028CDDBA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4A07-FEAE-D9BF-F7A7-A13FDE08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182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69A9-1B6A-A9EE-03CB-536A29E3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8737-212F-E3CF-41E4-02A2CB023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EA32D-1EEC-65A7-47C5-8AAC56AB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3BD14-CAB9-42AF-B5CD-B1A436E89F4C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047A4-1F06-D465-3AD6-D7FE1AAD5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473AF-4124-BA1C-C455-2943D988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5916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8F2E-66AB-63BA-FAAB-09CAD964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BB7A-3B16-2662-1776-43A1A57F5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5E73F-2ADF-77D8-4050-3DC0311CE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7D29-1E52-4BDE-AB3C-D4A1AD99AD64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A5BA-308D-683E-4170-FDA60738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DA17B-0567-6387-D95E-F08E07F2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819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9FB9-A4FE-8BA0-1C7D-EDD8E0B4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79107-D8D2-6D4F-D460-31E268BB2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5046E-71DC-4418-A485-CF3CFA259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B007B-353F-5548-EB18-4E2E24533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55C63-92FD-4CF0-A9EA-EC27047332C8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0891C-B42B-D68D-5367-07BDB5BA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948B9-0D28-9AC4-517F-3ED1EFA8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815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D621-D308-5E8F-E5D7-FAD1F367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A00E2-456E-7624-9864-B71551F2E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A5EF5-6829-C4FE-F8A0-E0F0DA677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E0EC9-7308-2AD8-D0A7-BDE0DC882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CA0F-5CE7-B5DE-D1DE-639FDD7C5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3A7D9-BEA7-22BE-2B8D-3A6D307B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451E-3EC5-48AF-AAE7-6735DB97BE44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2F176-719F-0542-E85E-3A417C67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F3878-D57B-BAFB-FE27-6B5EED6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0921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24E8-AF85-13C9-EC34-C001E931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CC1DE-6898-7DED-5E9D-F1110D3C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E3D-53F3-46BE-8D0E-50F069647B80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B9723-0163-C900-484B-6B1444B3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7C105-BB1F-1C07-6BA5-F63EC532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2814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FC581-DAFB-BB2C-994A-9CD24DE0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09D4-4FEF-4648-8ADA-DD0A65AB754C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A504-DD5B-6116-7F4C-A6A90C08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E2489-18C6-5463-039D-827540E7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758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2807-9060-9B2F-7EAF-BBC423217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EDA1E-ED31-9CD3-0F30-CCF4CBFD2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7CACD-7E6F-5918-9304-714720C15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431C2-A113-2341-4130-AB1B85494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4A37-211E-44F1-867D-D3D965631639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9CCF7-4154-2FD8-4D15-849953FF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BFFC6-DDE8-DDF6-D63E-D1AE191B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229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8BF8-223E-E25F-45CA-91258BA4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78FD2-BB5F-FDCC-2771-953426C03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0BB0C-F554-D3CD-D493-E1D9C9D99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ACABA-4E76-2BE2-CFF6-3F66326B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C8B3-F9AB-4657-ADF2-AF39197BA314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43915-E9AA-867B-E64D-45F834C0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92375-2229-28A1-9D55-389C7DFC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57065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086D-5552-04F2-62F9-DAD098CE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1A34A-E500-1AE3-C1FE-6EB44FF7E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549CA-36A0-D9B5-8697-46E33BCE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61BE-8C24-4A91-8E50-5129314FD004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A60-6BBA-1A63-1120-B8CE4DBF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E6DA-6334-A175-F8EF-8DDD0EA2F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9608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3B3354-548C-E188-64E2-B77660502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D36B7-0307-EDFE-EA91-C5D3CA02E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3247-F0B5-92F6-8080-2E27B80E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AC28-C0B0-4643-B659-C45030682D83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3E277-83DA-B23F-CC9F-91F7ECE7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7C01F-BB2E-96FF-8642-E95B3DF5D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01942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DBFBA-79CF-09B0-3B82-3643356FA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9CEB9-CFDC-A7F1-5252-FC6A880EB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73B7B-0866-9125-D735-B2E45ADB1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B11D8-CBD6-44EA-B322-830D7D9B841C}" type="datetime1">
              <a:rPr lang="en-SG" smtClean="0"/>
              <a:t>24/6/2026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52239-C693-9F4C-9B5A-CDC9733D9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39D8A-AAE8-2468-4C8C-E18A450FB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DCFFD-5DF0-4D29-8BB5-234142B3227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529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e1513087@u.nus.edu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8A5EC-CB19-FD06-EB69-8AE8D77E9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我们</a:t>
            </a:r>
            <a:r>
              <a:rPr lang="en-US" altLang="zh-CN" dirty="0"/>
              <a:t>7</a:t>
            </a:r>
            <a:r>
              <a:rPr lang="zh-CN" altLang="en-US" dirty="0"/>
              <a:t>：</a:t>
            </a:r>
            <a:r>
              <a:rPr lang="en-US" altLang="zh-CN" dirty="0"/>
              <a:t>05</a:t>
            </a:r>
            <a:r>
              <a:rPr lang="zh-CN" altLang="en-US" dirty="0"/>
              <a:t>开始 </a:t>
            </a:r>
            <a:r>
              <a:rPr lang="en-US" altLang="zh-CN" dirty="0">
                <a:sym typeface="Wingdings" panose="05000000000000000000" pitchFamily="2" charset="2"/>
              </a:rPr>
              <a:t>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9C222-F5D2-95DA-261E-0548341B43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E3B4A-5B22-6471-91F4-F796D6C7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1220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55CF6539-1CC6-06BE-21B5-7E6B4D85F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87975"/>
            <a:ext cx="12036381" cy="1470025"/>
          </a:xfrm>
        </p:spPr>
        <p:txBody>
          <a:bodyPr anchor="ctr">
            <a:noAutofit/>
          </a:bodyPr>
          <a:lstStyle/>
          <a:p>
            <a:pPr eaLnBrk="1" hangingPunct="1"/>
            <a:br>
              <a:rPr lang="en-US" altLang="en-US" sz="2800" b="1" dirty="0">
                <a:latin typeface="Calibri (Headings)"/>
              </a:rPr>
            </a:br>
            <a:br>
              <a:rPr lang="en-US" altLang="en-US" sz="2800" b="1" dirty="0">
                <a:latin typeface="Calibri (Headings)"/>
              </a:rPr>
            </a:br>
            <a:br>
              <a:rPr lang="en-US" altLang="en-US" sz="2800" b="1" dirty="0">
                <a:latin typeface="Calibri (Headings)"/>
              </a:rPr>
            </a:br>
            <a:r>
              <a:rPr lang="en-US" altLang="en-US" sz="2800" b="1" dirty="0">
                <a:latin typeface="Calibri (Headings)"/>
              </a:rPr>
              <a:t>CS1010 Placement Test </a:t>
            </a:r>
            <a:r>
              <a:rPr lang="en-US" altLang="en-US" sz="2800" b="1" dirty="0">
                <a:solidFill>
                  <a:srgbClr val="0000FF"/>
                </a:solidFill>
                <a:latin typeface="Calibri (Headings)"/>
              </a:rPr>
              <a:t>AY2019-20 (17 July 2019)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Liu Yuqi</a:t>
            </a:r>
            <a:r>
              <a:rPr lang="en-US" altLang="en-US" sz="2800" b="1" dirty="0">
                <a:latin typeface="Calibri (Headings)"/>
              </a:rPr>
              <a:t> </a:t>
            </a:r>
            <a:r>
              <a:rPr lang="en-US" altLang="en-US" sz="2800" dirty="0">
                <a:latin typeface="Calibri (Headings)"/>
              </a:rPr>
              <a:t> </a:t>
            </a: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r>
              <a:rPr lang="en-US" altLang="en-US" sz="2800" b="1" dirty="0">
                <a:latin typeface="Calibri (Headings)"/>
              </a:rPr>
              <a:t> 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E-mail: </a:t>
            </a:r>
            <a:r>
              <a:rPr lang="en-US" altLang="en-US" sz="2800" dirty="0">
                <a:latin typeface="Calibri (Headings)"/>
                <a:hlinkClick r:id="rId2"/>
              </a:rPr>
              <a:t>e1513087@u.nus.edu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+86 15823136901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  </a:t>
            </a: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The first draft of the solutions for </a:t>
            </a:r>
            <a:r>
              <a:rPr lang="en-US" altLang="en-US" sz="2800" b="1" dirty="0">
                <a:solidFill>
                  <a:srgbClr val="0000FF"/>
                </a:solidFill>
                <a:latin typeface="Calibri (Headings)"/>
              </a:rPr>
              <a:t>AY2019-20</a:t>
            </a:r>
            <a:r>
              <a:rPr lang="en-US" altLang="en-US" sz="2800" dirty="0">
                <a:latin typeface="Calibri (Headings)"/>
              </a:rPr>
              <a:t> was provided by Liu Y</a:t>
            </a:r>
            <a:r>
              <a:rPr lang="en-US" altLang="zh-CN" sz="2800" dirty="0">
                <a:latin typeface="Calibri (Headings)"/>
              </a:rPr>
              <a:t>u</a:t>
            </a:r>
            <a:r>
              <a:rPr lang="en-US" altLang="en-US" sz="2800" dirty="0">
                <a:latin typeface="Calibri (Headings)"/>
              </a:rPr>
              <a:t>qi.</a:t>
            </a: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 </a:t>
            </a:r>
            <a:br>
              <a:rPr lang="en-US" altLang="en-US" sz="2800" dirty="0">
                <a:latin typeface="Calibri (Headings)"/>
              </a:rPr>
            </a:br>
            <a:r>
              <a:rPr lang="en-US" altLang="en-US" sz="2800" dirty="0">
                <a:latin typeface="Calibri (Headings)"/>
              </a:rPr>
              <a:t> </a:t>
            </a:r>
            <a:br>
              <a:rPr lang="en-US" altLang="en-US" sz="2800" dirty="0">
                <a:latin typeface="Calibri (Headings)"/>
              </a:rPr>
            </a:br>
            <a:endParaRPr lang="en-US" altLang="en-US" sz="2800" dirty="0">
              <a:latin typeface="Calibri (Headings)"/>
            </a:endParaRPr>
          </a:p>
        </p:txBody>
      </p:sp>
      <p:sp>
        <p:nvSpPr>
          <p:cNvPr id="3075" name="Slide Number Placeholder 2">
            <a:extLst>
              <a:ext uri="{FF2B5EF4-FFF2-40B4-BE49-F238E27FC236}">
                <a16:creationId xmlns:a16="http://schemas.microsoft.com/office/drawing/2014/main" id="{D3A9C5AD-F919-DC40-59C1-058310F2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038E49-A893-4ECD-94FB-1C934C131AE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BFB7CA-90AE-4451-877D-E969B944EE2D}"/>
              </a:ext>
            </a:extLst>
          </p:cNvPr>
          <p:cNvSpPr/>
          <p:nvPr/>
        </p:nvSpPr>
        <p:spPr>
          <a:xfrm>
            <a:off x="2802193" y="15531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800" b="1" dirty="0">
                <a:latin typeface="Calibri (Headings)"/>
              </a:rPr>
              <a:t>CS1010 Advanced Placement Credit </a:t>
            </a:r>
          </a:p>
          <a:p>
            <a:pPr algn="ctr">
              <a:spcBef>
                <a:spcPct val="0"/>
              </a:spcBef>
            </a:pPr>
            <a:r>
              <a:rPr lang="en-US" altLang="en-US" sz="2800" b="1" dirty="0">
                <a:latin typeface="Calibri (Headings)"/>
              </a:rPr>
              <a:t>Examination Preparation for </a:t>
            </a:r>
          </a:p>
          <a:p>
            <a:pPr algn="ctr">
              <a:spcBef>
                <a:spcPct val="0"/>
              </a:spcBef>
            </a:pPr>
            <a:r>
              <a:rPr lang="en-US" altLang="en-US" sz="2800" b="1" dirty="0">
                <a:latin typeface="Calibri (Headings)"/>
              </a:rPr>
              <a:t>S&amp;T2025 Scholars (</a:t>
            </a:r>
            <a:r>
              <a:rPr lang="en-US" altLang="en-US" sz="2800" b="1" dirty="0">
                <a:solidFill>
                  <a:srgbClr val="FF0000"/>
                </a:solidFill>
                <a:latin typeface="Calibri (Headings)"/>
              </a:rPr>
              <a:t>Set 11</a:t>
            </a:r>
            <a:r>
              <a:rPr lang="en-US" altLang="en-US" sz="2800" b="1" dirty="0">
                <a:latin typeface="Calibri (Headings)"/>
              </a:rPr>
              <a:t>)</a:t>
            </a:r>
            <a:endParaRPr lang="en-US" altLang="zh-CN" sz="2800" b="1" dirty="0">
              <a:latin typeface="Calibri (Headings)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B3C7-8F91-7D65-C3F8-58938473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CS1010S Placement Test</a:t>
            </a:r>
            <a:r>
              <a:rPr lang="zh-CN" altLang="en-US" dirty="0"/>
              <a:t>考什么？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C4ABB-517A-4BD6-3D48-D4823D572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每年因为不同的出题人，题型等可能有所变化</a:t>
            </a:r>
            <a:endParaRPr lang="en-US" altLang="zh-CN" dirty="0"/>
          </a:p>
          <a:p>
            <a:r>
              <a:rPr lang="zh-CN" altLang="en-US" dirty="0"/>
              <a:t>逻辑推理题</a:t>
            </a:r>
            <a:endParaRPr lang="en-US" altLang="zh-CN" dirty="0"/>
          </a:p>
          <a:p>
            <a:pPr lvl="1"/>
            <a:r>
              <a:rPr lang="zh-CN" altLang="en-US" dirty="0"/>
              <a:t>读懂题意，分类讨论</a:t>
            </a:r>
            <a:endParaRPr lang="en-US" altLang="zh-CN" dirty="0"/>
          </a:p>
          <a:p>
            <a:r>
              <a:rPr lang="zh-CN" altLang="en-US" dirty="0"/>
              <a:t>写代码</a:t>
            </a:r>
            <a:r>
              <a:rPr lang="en-US" altLang="zh-CN" dirty="0"/>
              <a:t>/</a:t>
            </a:r>
            <a:r>
              <a:rPr lang="zh-CN" altLang="en-US" dirty="0"/>
              <a:t>伪代码</a:t>
            </a:r>
            <a:endParaRPr lang="en-US" altLang="zh-CN" dirty="0"/>
          </a:p>
          <a:p>
            <a:pPr lvl="1"/>
            <a:r>
              <a:rPr lang="zh-CN" altLang="en-US" dirty="0"/>
              <a:t>用已知几个函数解决问题 </a:t>
            </a:r>
            <a:r>
              <a:rPr lang="en-US" altLang="zh-CN" dirty="0">
                <a:sym typeface="Wingdings" panose="05000000000000000000" pitchFamily="2" charset="2"/>
              </a:rPr>
              <a:t> </a:t>
            </a:r>
            <a:r>
              <a:rPr lang="zh-CN" altLang="en-US" dirty="0">
                <a:sym typeface="Wingdings" panose="05000000000000000000" pitchFamily="2" charset="2"/>
              </a:rPr>
              <a:t>明白函数在做什么，有什么输出和输入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					</a:t>
            </a:r>
            <a:r>
              <a:rPr lang="zh-CN" altLang="en-US" dirty="0">
                <a:sym typeface="Wingdings" panose="05000000000000000000" pitchFamily="2" charset="2"/>
              </a:rPr>
              <a:t>怎么利用已知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/>
              <a:t>自己独立写来解决问题 </a:t>
            </a:r>
            <a:r>
              <a:rPr lang="en-US" altLang="zh-CN" dirty="0">
                <a:sym typeface="Wingdings" panose="05000000000000000000" pitchFamily="2" charset="2"/>
              </a:rPr>
              <a:t>e.g. anagram,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rotated, palindromic…..</a:t>
            </a:r>
          </a:p>
          <a:p>
            <a:pPr lvl="1"/>
            <a:r>
              <a:rPr lang="zh-CN" altLang="en-US" dirty="0"/>
              <a:t>分析已知程序的</a:t>
            </a:r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0604C-0187-2CD1-4EB2-9B7A4296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637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4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8F49C-6760-4846-8D51-035830BF59F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8" b="18327"/>
          <a:stretch/>
        </p:blipFill>
        <p:spPr>
          <a:xfrm>
            <a:off x="-107002" y="155643"/>
            <a:ext cx="6282803" cy="6527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889F25-3EC7-4CE7-A5FA-D9B7BA3AF961}"/>
              </a:ext>
            </a:extLst>
          </p:cNvPr>
          <p:cNvSpPr txBox="1"/>
          <p:nvPr/>
        </p:nvSpPr>
        <p:spPr>
          <a:xfrm>
            <a:off x="6303525" y="204281"/>
            <a:ext cx="11770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830" y="921328"/>
            <a:ext cx="5528726" cy="5180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椭圆 2"/>
          <p:cNvSpPr/>
          <p:nvPr/>
        </p:nvSpPr>
        <p:spPr>
          <a:xfrm>
            <a:off x="8216002" y="2360645"/>
            <a:ext cx="970383" cy="9373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216001" y="2644643"/>
            <a:ext cx="1474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or 4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7968343" y="604391"/>
            <a:ext cx="1408922" cy="17562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7968343" y="604391"/>
            <a:ext cx="1408922" cy="269358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274628" y="191973"/>
            <a:ext cx="2519266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Must have a 3</a:t>
            </a:r>
          </a:p>
          <a:p>
            <a:r>
              <a:rPr lang="en-US" altLang="zh-CN" dirty="0">
                <a:sym typeface="Wingdings" pitchFamily="2" charset="2"/>
              </a:rPr>
              <a:t> In the red circle can only be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055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5</a:t>
            </a:fld>
            <a:endParaRPr lang="en-SG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55" y="126260"/>
            <a:ext cx="6576315" cy="6162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331029" y="2099388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4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94384" y="1623498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3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94384" y="2544175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1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3890866" y="646331"/>
            <a:ext cx="699795" cy="76259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877078" y="5243804"/>
            <a:ext cx="634481" cy="7218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36302" y="0"/>
            <a:ext cx="288315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To prevent two 1 next to each other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60851" y="4802156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2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877079" y="3461657"/>
            <a:ext cx="914399" cy="250400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3206621" y="646331"/>
            <a:ext cx="1384040" cy="23426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9271" y="5965666"/>
            <a:ext cx="288315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To prevent two 2 next to each other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331029" y="2988963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3</a:t>
            </a:r>
            <a:endParaRPr lang="zh-CN" altLang="en-US" sz="3200" b="1" dirty="0">
              <a:solidFill>
                <a:srgbClr val="00B05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1698" y="3869151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2</a:t>
            </a:r>
            <a:endParaRPr lang="zh-CN" altLang="en-US" sz="3200" b="1" dirty="0">
              <a:solidFill>
                <a:srgbClr val="00B05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03714" y="3433750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4</a:t>
            </a:r>
            <a:endParaRPr lang="zh-CN" altLang="en-US" sz="3200" b="1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70181" y="3869151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3</a:t>
            </a:r>
            <a:endParaRPr lang="zh-CN" altLang="en-US" sz="3200" b="1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31432" y="2556588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1</a:t>
            </a:r>
            <a:endParaRPr lang="zh-CN" altLang="en-US" sz="3200" b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31432" y="3433749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3</a:t>
            </a:r>
            <a:endParaRPr lang="zh-CN" altLang="en-US" sz="3200" b="1" dirty="0">
              <a:solidFill>
                <a:srgbClr val="00B05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99175" y="592274"/>
            <a:ext cx="3163078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Have a try: 1-4-3-2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8805" y="2973383"/>
            <a:ext cx="55983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2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31030" y="3869179"/>
            <a:ext cx="55983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3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42791" y="3461741"/>
            <a:ext cx="55983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1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42791" y="2556588"/>
            <a:ext cx="55983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3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1537219" y="369332"/>
            <a:ext cx="254259" cy="17300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8601" y="0"/>
            <a:ext cx="288315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Can only be 4</a:t>
            </a:r>
            <a:endParaRPr lang="zh-CN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670180" y="2068285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4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7078" y="784830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3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73291" y="1207962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1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83500" y="735238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2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14400" y="1623498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2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7079" y="2556588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3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7078" y="3427500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1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H="1" flipV="1">
            <a:off x="3601616" y="5386931"/>
            <a:ext cx="853751" cy="10404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61047" y="6427331"/>
            <a:ext cx="288315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Can only be 2</a:t>
            </a:r>
            <a:endParaRPr lang="zh-CN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3351247" y="4802155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2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503714" y="5207711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3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142790" y="5243804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1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77881" y="3869150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3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10201" y="5023045"/>
            <a:ext cx="288315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Can only be 3</a:t>
            </a:r>
            <a:endParaRPr lang="zh-CN" altLang="en-US" dirty="0"/>
          </a:p>
        </p:txBody>
      </p:sp>
      <p:cxnSp>
        <p:nvCxnSpPr>
          <p:cNvPr id="58" name="直接箭头连接符 57"/>
          <p:cNvCxnSpPr/>
          <p:nvPr/>
        </p:nvCxnSpPr>
        <p:spPr>
          <a:xfrm flipH="1" flipV="1">
            <a:off x="5635690" y="4453954"/>
            <a:ext cx="1216090" cy="5690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977881" y="2988963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2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77881" y="2099444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1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802086" y="1623498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2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802086" y="2591809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3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802086" y="3427499"/>
            <a:ext cx="559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1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399175" y="1286040"/>
            <a:ext cx="3163078" cy="64633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Cannot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Use 1-4-2-3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884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 animBg="1"/>
      <p:bldP spid="14" grpId="0"/>
      <p:bldP spid="17" grpId="0" animBg="1"/>
      <p:bldP spid="23" grpId="0"/>
      <p:bldP spid="24" grpId="0"/>
      <p:bldP spid="25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8" grpId="0"/>
      <p:bldP spid="40" grpId="0"/>
      <p:bldP spid="41" grpId="0"/>
      <p:bldP spid="42" grpId="0"/>
      <p:bldP spid="43" grpId="0"/>
      <p:bldP spid="44" grpId="0"/>
      <p:bldP spid="45" grpId="0"/>
      <p:bldP spid="47" grpId="0" animBg="1"/>
      <p:bldP spid="53" grpId="0"/>
      <p:bldP spid="54" grpId="0"/>
      <p:bldP spid="55" grpId="0"/>
      <p:bldP spid="56" grpId="0"/>
      <p:bldP spid="57" grpId="0" animBg="1"/>
      <p:bldP spid="61" grpId="0"/>
      <p:bldP spid="62" grpId="0"/>
      <p:bldP spid="63" grpId="0"/>
      <p:bldP spid="64" grpId="0"/>
      <p:bldP spid="65" grpId="0"/>
      <p:bldP spid="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9362" y="6376014"/>
            <a:ext cx="274320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6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B0E9B-1273-4571-96B7-09F1E8F65D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3" b="36312"/>
          <a:stretch/>
        </p:blipFill>
        <p:spPr>
          <a:xfrm>
            <a:off x="-698697" y="-95250"/>
            <a:ext cx="8436062" cy="6836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2542C3-DD05-4C61-94FD-788FB0C6BC2D}"/>
              </a:ext>
            </a:extLst>
          </p:cNvPr>
          <p:cNvSpPr txBox="1"/>
          <p:nvPr/>
        </p:nvSpPr>
        <p:spPr>
          <a:xfrm>
            <a:off x="7109931" y="1476140"/>
            <a:ext cx="125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72324" y="2055744"/>
            <a:ext cx="239042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How to rotate?</a:t>
            </a:r>
            <a:endParaRPr lang="zh-CN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7072324" y="2608254"/>
            <a:ext cx="239042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For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2324" y="3187858"/>
            <a:ext cx="1469472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raining</a:t>
            </a:r>
            <a:endParaRPr lang="zh-CN" alt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8541796" y="3181637"/>
            <a:ext cx="159275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raining</a:t>
            </a:r>
            <a:endParaRPr lang="zh-CN" altLang="en-US" sz="2800" dirty="0"/>
          </a:p>
        </p:txBody>
      </p:sp>
      <p:sp>
        <p:nvSpPr>
          <p:cNvPr id="5" name="椭圆 4"/>
          <p:cNvSpPr/>
          <p:nvPr/>
        </p:nvSpPr>
        <p:spPr>
          <a:xfrm>
            <a:off x="7835944" y="3282719"/>
            <a:ext cx="1511559" cy="55050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072324" y="3957548"/>
            <a:ext cx="4377842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ym typeface="Wingdings" pitchFamily="2" charset="2"/>
              </a:rPr>
              <a:t> Repeat str1 twice, and try to find out whether there is a str2 “in” the new str1.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190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5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7</a:t>
            </a:fld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783771" y="279918"/>
            <a:ext cx="51971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bool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isRotate</a:t>
            </a:r>
            <a:r>
              <a:rPr lang="en-US" altLang="zh-CN" sz="2000" dirty="0"/>
              <a:t>(char *str1, char *str2){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len1, len2, i, j, k;</a:t>
            </a:r>
          </a:p>
          <a:p>
            <a:r>
              <a:rPr lang="en-US" altLang="zh-CN" sz="2000" dirty="0"/>
              <a:t>	char *s;</a:t>
            </a:r>
          </a:p>
          <a:p>
            <a:r>
              <a:rPr lang="en-US" altLang="zh-CN" sz="2000" dirty="0"/>
              <a:t>	len1=length(str1);</a:t>
            </a:r>
          </a:p>
          <a:p>
            <a:r>
              <a:rPr lang="en-US" altLang="zh-CN" sz="2000" dirty="0"/>
              <a:t>	len2=length(str2);</a:t>
            </a:r>
            <a:endParaRPr lang="zh-CN" altLang="en-US" sz="2000" dirty="0"/>
          </a:p>
          <a:p>
            <a:r>
              <a:rPr lang="en-US" altLang="zh-CN" sz="2000" dirty="0"/>
              <a:t>	if(len1!=len2) return false;</a:t>
            </a:r>
          </a:p>
        </p:txBody>
      </p:sp>
      <p:sp>
        <p:nvSpPr>
          <p:cNvPr id="4" name="左箭头 3"/>
          <p:cNvSpPr/>
          <p:nvPr/>
        </p:nvSpPr>
        <p:spPr>
          <a:xfrm>
            <a:off x="5890437" y="1249414"/>
            <a:ext cx="882503" cy="18598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772940" y="1010093"/>
            <a:ext cx="3221665" cy="120032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Check the length of the strings. If the lengths are different, str2 cannot be a rotated str1.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36170" y="2516299"/>
            <a:ext cx="6602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	s=</a:t>
            </a:r>
            <a:r>
              <a:rPr lang="en-US" altLang="zh-CN" sz="2000" dirty="0" err="1"/>
              <a:t>concat</a:t>
            </a:r>
            <a:r>
              <a:rPr lang="en-US" altLang="zh-CN" sz="2000" dirty="0"/>
              <a:t>(str1, str1);</a:t>
            </a:r>
          </a:p>
          <a:p>
            <a:r>
              <a:rPr lang="en-US" altLang="zh-CN" sz="2000" dirty="0"/>
              <a:t>	return contains(s, str2);</a:t>
            </a:r>
          </a:p>
          <a:p>
            <a:r>
              <a:rPr lang="en-US" altLang="zh-CN" sz="2000" dirty="0"/>
              <a:t>	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513FC-B416-9601-275A-7B8040F8BF6C}"/>
              </a:ext>
            </a:extLst>
          </p:cNvPr>
          <p:cNvSpPr txBox="1"/>
          <p:nvPr/>
        </p:nvSpPr>
        <p:spPr>
          <a:xfrm>
            <a:off x="7072324" y="3187858"/>
            <a:ext cx="1469472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raining</a:t>
            </a:r>
            <a:endParaRPr lang="zh-CN" alt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DC491B-3044-80A0-122F-DB05BC0749EB}"/>
              </a:ext>
            </a:extLst>
          </p:cNvPr>
          <p:cNvSpPr txBox="1"/>
          <p:nvPr/>
        </p:nvSpPr>
        <p:spPr>
          <a:xfrm>
            <a:off x="8541796" y="3181637"/>
            <a:ext cx="159275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raining</a:t>
            </a:r>
            <a:endParaRPr lang="zh-CN" altLang="en-US" sz="2800" dirty="0"/>
          </a:p>
        </p:txBody>
      </p:sp>
      <p:sp>
        <p:nvSpPr>
          <p:cNvPr id="9" name="椭圆 4">
            <a:extLst>
              <a:ext uri="{FF2B5EF4-FFF2-40B4-BE49-F238E27FC236}">
                <a16:creationId xmlns:a16="http://schemas.microsoft.com/office/drawing/2014/main" id="{26943F53-C322-4BA1-BA3F-C5B3F6CB6E17}"/>
              </a:ext>
            </a:extLst>
          </p:cNvPr>
          <p:cNvSpPr/>
          <p:nvPr/>
        </p:nvSpPr>
        <p:spPr>
          <a:xfrm>
            <a:off x="7718181" y="3187858"/>
            <a:ext cx="1511559" cy="55050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AC5F7E-3FF1-C558-36D0-EAD4E3501B88}"/>
              </a:ext>
            </a:extLst>
          </p:cNvPr>
          <p:cNvCxnSpPr>
            <a:cxnSpLocks/>
          </p:cNvCxnSpPr>
          <p:nvPr/>
        </p:nvCxnSpPr>
        <p:spPr>
          <a:xfrm>
            <a:off x="7259781" y="2736273"/>
            <a:ext cx="0" cy="394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4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8</a:t>
            </a:fld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0F862-7223-4B09-8C6A-C4E2DF7F49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7" t="7806" r="9331" b="78310"/>
          <a:stretch>
            <a:fillRect/>
          </a:stretch>
        </p:blipFill>
        <p:spPr>
          <a:xfrm>
            <a:off x="247583" y="1350818"/>
            <a:ext cx="11848755" cy="2916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E9FA15-C415-2CDA-C06A-814826C720DC}"/>
              </a:ext>
            </a:extLst>
          </p:cNvPr>
          <p:cNvSpPr txBox="1"/>
          <p:nvPr/>
        </p:nvSpPr>
        <p:spPr>
          <a:xfrm>
            <a:off x="1357745" y="4689764"/>
            <a:ext cx="2826328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默认：不区分大小写</a:t>
            </a:r>
            <a:endParaRPr lang="en-US" altLang="zh-CN" dirty="0"/>
          </a:p>
          <a:p>
            <a:r>
              <a:rPr lang="en-US" dirty="0">
                <a:sym typeface="Wingdings" panose="05000000000000000000" pitchFamily="2" charset="2"/>
              </a:rPr>
              <a:t> Anagram = anagram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4797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9</a:t>
            </a:fld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578FC-6F1A-43D3-BE3C-191A28771D7C}"/>
              </a:ext>
            </a:extLst>
          </p:cNvPr>
          <p:cNvSpPr txBox="1"/>
          <p:nvPr/>
        </p:nvSpPr>
        <p:spPr>
          <a:xfrm>
            <a:off x="713852" y="276447"/>
            <a:ext cx="1891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 </a:t>
            </a:r>
            <a:r>
              <a:rPr lang="en-US" sz="2400" b="1" dirty="0"/>
              <a:t>algorithm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4578" y="1637304"/>
            <a:ext cx="6217277" cy="3693319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SG" altLang="zh-CN" dirty="0"/>
              <a:t>#include &lt;</a:t>
            </a:r>
            <a:r>
              <a:rPr lang="en-SG" altLang="zh-CN" dirty="0" err="1"/>
              <a:t>stdio.h</a:t>
            </a:r>
            <a:r>
              <a:rPr lang="en-SG" altLang="zh-CN" dirty="0"/>
              <a:t>&gt;</a:t>
            </a:r>
          </a:p>
          <a:p>
            <a:r>
              <a:rPr lang="en-SG" altLang="zh-CN" dirty="0"/>
              <a:t>#include &lt;</a:t>
            </a:r>
            <a:r>
              <a:rPr lang="en-SG" altLang="zh-CN" dirty="0" err="1"/>
              <a:t>string.h</a:t>
            </a:r>
            <a:r>
              <a:rPr lang="en-SG" altLang="zh-CN" dirty="0"/>
              <a:t>&gt;</a:t>
            </a:r>
          </a:p>
          <a:p>
            <a:r>
              <a:rPr lang="en-SG" altLang="zh-CN" dirty="0"/>
              <a:t>#include &lt;</a:t>
            </a:r>
            <a:r>
              <a:rPr lang="en-SG" altLang="zh-CN" dirty="0" err="1"/>
              <a:t>ctype.h</a:t>
            </a:r>
            <a:r>
              <a:rPr lang="en-SG" altLang="zh-CN" dirty="0"/>
              <a:t>&gt; // For </a:t>
            </a:r>
            <a:r>
              <a:rPr lang="en-SG" altLang="zh-CN" dirty="0" err="1"/>
              <a:t>tolower</a:t>
            </a:r>
            <a:r>
              <a:rPr lang="en-SG" altLang="zh-CN" dirty="0"/>
              <a:t>()</a:t>
            </a:r>
          </a:p>
          <a:p>
            <a:endParaRPr lang="en-SG" altLang="zh-CN" dirty="0"/>
          </a:p>
          <a:p>
            <a:r>
              <a:rPr lang="en-SG" altLang="zh-CN" dirty="0"/>
              <a:t>#define NUM 256 // Assuming ASCII character set</a:t>
            </a:r>
          </a:p>
          <a:p>
            <a:endParaRPr lang="en-SG" altLang="zh-CN" dirty="0"/>
          </a:p>
          <a:p>
            <a:r>
              <a:rPr lang="en-SG" altLang="zh-CN" dirty="0"/>
              <a:t>int </a:t>
            </a:r>
            <a:r>
              <a:rPr lang="en-SG" altLang="zh-CN" dirty="0" err="1"/>
              <a:t>areAnagrams</a:t>
            </a:r>
            <a:r>
              <a:rPr lang="en-SG" altLang="zh-CN" dirty="0"/>
              <a:t>(</a:t>
            </a:r>
            <a:r>
              <a:rPr lang="en-SG" altLang="zh-CN" dirty="0" err="1"/>
              <a:t>const</a:t>
            </a:r>
            <a:r>
              <a:rPr lang="en-SG" altLang="zh-CN" dirty="0"/>
              <a:t> char *str1, </a:t>
            </a:r>
            <a:r>
              <a:rPr lang="en-SG" altLang="zh-CN" dirty="0" err="1"/>
              <a:t>const</a:t>
            </a:r>
            <a:r>
              <a:rPr lang="en-SG" altLang="zh-CN" dirty="0"/>
              <a:t> char *str2) {</a:t>
            </a:r>
          </a:p>
          <a:p>
            <a:r>
              <a:rPr lang="en-SG" altLang="zh-CN" dirty="0"/>
              <a:t>    int count[NUM] = {0};</a:t>
            </a:r>
          </a:p>
          <a:p>
            <a:r>
              <a:rPr lang="en-SG" altLang="zh-CN" dirty="0"/>
              <a:t>    int </a:t>
            </a:r>
            <a:r>
              <a:rPr lang="en-SG" altLang="zh-CN" dirty="0" err="1"/>
              <a:t>i</a:t>
            </a:r>
            <a:r>
              <a:rPr lang="en-SG" altLang="zh-CN" dirty="0"/>
              <a:t>;</a:t>
            </a:r>
          </a:p>
          <a:p>
            <a:endParaRPr lang="en-SG" altLang="zh-CN" dirty="0"/>
          </a:p>
          <a:p>
            <a:r>
              <a:rPr lang="en-SG" altLang="zh-CN" dirty="0"/>
              <a:t>    if (</a:t>
            </a:r>
            <a:r>
              <a:rPr lang="en-SG" altLang="zh-CN" dirty="0" err="1"/>
              <a:t>strlen</a:t>
            </a:r>
            <a:r>
              <a:rPr lang="en-SG" altLang="zh-CN" dirty="0"/>
              <a:t>(str1) != </a:t>
            </a:r>
            <a:r>
              <a:rPr lang="en-SG" altLang="zh-CN" dirty="0" err="1"/>
              <a:t>strlen</a:t>
            </a:r>
            <a:r>
              <a:rPr lang="en-SG" altLang="zh-CN" dirty="0"/>
              <a:t>(str2))</a:t>
            </a:r>
          </a:p>
          <a:p>
            <a:r>
              <a:rPr lang="en-SG" altLang="zh-CN" dirty="0"/>
              <a:t>        return 0;</a:t>
            </a:r>
          </a:p>
          <a:p>
            <a:endParaRPr lang="en-SG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7263134" y="1637304"/>
            <a:ext cx="4274288" cy="3416320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SG" altLang="zh-CN" dirty="0"/>
              <a:t>for (</a:t>
            </a:r>
            <a:r>
              <a:rPr lang="en-SG" altLang="zh-CN" dirty="0" err="1"/>
              <a:t>i</a:t>
            </a:r>
            <a:r>
              <a:rPr lang="en-SG" altLang="zh-CN" dirty="0"/>
              <a:t> = 0; str1[</a:t>
            </a:r>
            <a:r>
              <a:rPr lang="en-SG" altLang="zh-CN" dirty="0" err="1"/>
              <a:t>i</a:t>
            </a:r>
            <a:r>
              <a:rPr lang="en-SG" altLang="zh-CN" dirty="0"/>
              <a:t>]; </a:t>
            </a:r>
            <a:r>
              <a:rPr lang="en-SG" altLang="zh-CN" dirty="0" err="1"/>
              <a:t>i</a:t>
            </a:r>
            <a:r>
              <a:rPr lang="en-SG" altLang="zh-CN" dirty="0"/>
              <a:t>++) {</a:t>
            </a:r>
          </a:p>
          <a:p>
            <a:r>
              <a:rPr lang="en-SG" altLang="zh-CN" dirty="0"/>
              <a:t>        count[</a:t>
            </a:r>
            <a:r>
              <a:rPr lang="en-SG" altLang="zh-CN" dirty="0" err="1"/>
              <a:t>tolower</a:t>
            </a:r>
            <a:r>
              <a:rPr lang="en-SG" altLang="zh-CN" dirty="0"/>
              <a:t>(str1[</a:t>
            </a:r>
            <a:r>
              <a:rPr lang="en-SG" altLang="zh-CN" dirty="0" err="1"/>
              <a:t>i</a:t>
            </a:r>
            <a:r>
              <a:rPr lang="en-SG" altLang="zh-CN" dirty="0"/>
              <a:t>])]++;</a:t>
            </a:r>
          </a:p>
          <a:p>
            <a:r>
              <a:rPr lang="en-SG" altLang="zh-CN" dirty="0"/>
              <a:t>        count[</a:t>
            </a:r>
            <a:r>
              <a:rPr lang="en-SG" altLang="zh-CN" dirty="0" err="1"/>
              <a:t>tolower</a:t>
            </a:r>
            <a:r>
              <a:rPr lang="en-SG" altLang="zh-CN" dirty="0"/>
              <a:t>(str2[</a:t>
            </a:r>
            <a:r>
              <a:rPr lang="en-SG" altLang="zh-CN" dirty="0" err="1"/>
              <a:t>i</a:t>
            </a:r>
            <a:r>
              <a:rPr lang="en-SG" altLang="zh-CN" dirty="0"/>
              <a:t>])]--;</a:t>
            </a:r>
          </a:p>
          <a:p>
            <a:r>
              <a:rPr lang="en-SG" altLang="zh-CN" dirty="0"/>
              <a:t>    }</a:t>
            </a:r>
          </a:p>
          <a:p>
            <a:endParaRPr lang="en-SG" altLang="zh-CN" dirty="0"/>
          </a:p>
          <a:p>
            <a:r>
              <a:rPr lang="en-SG" altLang="zh-CN" dirty="0"/>
              <a:t>    for (</a:t>
            </a:r>
            <a:r>
              <a:rPr lang="en-SG" altLang="zh-CN" dirty="0" err="1"/>
              <a:t>i</a:t>
            </a:r>
            <a:r>
              <a:rPr lang="en-SG" altLang="zh-CN" dirty="0"/>
              <a:t> = 0; </a:t>
            </a:r>
            <a:r>
              <a:rPr lang="en-SG" altLang="zh-CN" dirty="0" err="1"/>
              <a:t>i</a:t>
            </a:r>
            <a:r>
              <a:rPr lang="en-SG" altLang="zh-CN" dirty="0"/>
              <a:t> &lt; NUM; </a:t>
            </a:r>
            <a:r>
              <a:rPr lang="en-SG" altLang="zh-CN" dirty="0" err="1"/>
              <a:t>i</a:t>
            </a:r>
            <a:r>
              <a:rPr lang="en-SG" altLang="zh-CN" dirty="0"/>
              <a:t>++) {</a:t>
            </a:r>
          </a:p>
          <a:p>
            <a:r>
              <a:rPr lang="en-SG" altLang="zh-CN" dirty="0"/>
              <a:t>        if (count[</a:t>
            </a:r>
            <a:r>
              <a:rPr lang="en-SG" altLang="zh-CN" dirty="0" err="1"/>
              <a:t>i</a:t>
            </a:r>
            <a:r>
              <a:rPr lang="en-SG" altLang="zh-CN" dirty="0"/>
              <a:t>] != 0)</a:t>
            </a:r>
          </a:p>
          <a:p>
            <a:r>
              <a:rPr lang="en-SG" altLang="zh-CN" dirty="0"/>
              <a:t>            return 0;</a:t>
            </a:r>
          </a:p>
          <a:p>
            <a:r>
              <a:rPr lang="en-SG" altLang="zh-CN" dirty="0"/>
              <a:t>    }</a:t>
            </a:r>
          </a:p>
          <a:p>
            <a:endParaRPr lang="en-SG" altLang="zh-CN" dirty="0"/>
          </a:p>
          <a:p>
            <a:r>
              <a:rPr lang="en-SG" altLang="zh-CN" dirty="0"/>
              <a:t>    return 1;</a:t>
            </a:r>
          </a:p>
          <a:p>
            <a:r>
              <a:rPr lang="en-SG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5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10</a:t>
            </a:fld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578FC-6F1A-43D3-BE3C-191A28771D7C}"/>
              </a:ext>
            </a:extLst>
          </p:cNvPr>
          <p:cNvSpPr txBox="1"/>
          <p:nvPr/>
        </p:nvSpPr>
        <p:spPr>
          <a:xfrm>
            <a:off x="713852" y="276447"/>
            <a:ext cx="1891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 </a:t>
            </a:r>
            <a:r>
              <a:rPr lang="en-US" sz="2400" b="1" dirty="0"/>
              <a:t>algorithm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791" y="1307805"/>
            <a:ext cx="5241851" cy="193899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Idea:</a:t>
            </a:r>
          </a:p>
          <a:p>
            <a:r>
              <a:rPr lang="en-US" altLang="zh-CN" sz="2400" dirty="0"/>
              <a:t>Do sorting and make all the character in a certain order</a:t>
            </a:r>
          </a:p>
          <a:p>
            <a:r>
              <a:rPr lang="en-US" altLang="zh-CN" sz="2400" dirty="0">
                <a:sym typeface="Wingdings" pitchFamily="2" charset="2"/>
              </a:rPr>
              <a:t> Check whether the two strings are the same.</a:t>
            </a:r>
            <a:endParaRPr lang="zh-CN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624084" y="2181354"/>
            <a:ext cx="3519376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Switch all letters to their lower forms</a:t>
            </a:r>
            <a:endParaRPr lang="zh-CN" altLang="en-US" sz="2000" dirty="0"/>
          </a:p>
        </p:txBody>
      </p:sp>
      <p:sp>
        <p:nvSpPr>
          <p:cNvPr id="6" name="下箭头 5"/>
          <p:cNvSpPr/>
          <p:nvPr/>
        </p:nvSpPr>
        <p:spPr>
          <a:xfrm>
            <a:off x="8038214" y="2889240"/>
            <a:ext cx="345558" cy="8125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624084" y="3705354"/>
            <a:ext cx="3519376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Bubble sort</a:t>
            </a:r>
            <a:endParaRPr lang="zh-CN" altLang="en-US" sz="2000" dirty="0"/>
          </a:p>
        </p:txBody>
      </p:sp>
      <p:sp>
        <p:nvSpPr>
          <p:cNvPr id="8" name="下箭头 7"/>
          <p:cNvSpPr/>
          <p:nvPr/>
        </p:nvSpPr>
        <p:spPr>
          <a:xfrm>
            <a:off x="8038214" y="4138658"/>
            <a:ext cx="345558" cy="8125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624084" y="4951228"/>
            <a:ext cx="3519376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Compare whether the two strings are the same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624084" y="645778"/>
            <a:ext cx="3519376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Compare the lengths of the strings</a:t>
            </a:r>
            <a:endParaRPr lang="zh-CN" altLang="en-US" sz="2000" dirty="0"/>
          </a:p>
        </p:txBody>
      </p:sp>
      <p:sp>
        <p:nvSpPr>
          <p:cNvPr id="11" name="下箭头 10"/>
          <p:cNvSpPr/>
          <p:nvPr/>
        </p:nvSpPr>
        <p:spPr>
          <a:xfrm>
            <a:off x="8038214" y="1353664"/>
            <a:ext cx="345558" cy="8125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55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11</a:t>
            </a:fld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242455" y="65774"/>
            <a:ext cx="3602182" cy="535531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G" altLang="zh-CN" dirty="0"/>
              <a:t>#include &lt;</a:t>
            </a:r>
            <a:r>
              <a:rPr lang="en-SG" altLang="zh-CN" dirty="0" err="1"/>
              <a:t>stdio.h</a:t>
            </a:r>
            <a:r>
              <a:rPr lang="en-SG" altLang="zh-CN" dirty="0"/>
              <a:t>&gt;</a:t>
            </a:r>
          </a:p>
          <a:p>
            <a:r>
              <a:rPr lang="en-SG" altLang="zh-CN" dirty="0"/>
              <a:t>#include &lt;</a:t>
            </a:r>
            <a:r>
              <a:rPr lang="en-SG" altLang="zh-CN" dirty="0" err="1"/>
              <a:t>string.h</a:t>
            </a:r>
            <a:r>
              <a:rPr lang="en-SG" altLang="zh-CN" dirty="0"/>
              <a:t>&gt;</a:t>
            </a:r>
          </a:p>
          <a:p>
            <a:r>
              <a:rPr lang="en-SG" altLang="zh-CN" dirty="0"/>
              <a:t>#include &lt;</a:t>
            </a:r>
            <a:r>
              <a:rPr lang="en-SG" altLang="zh-CN" dirty="0" err="1"/>
              <a:t>ctype.h</a:t>
            </a:r>
            <a:r>
              <a:rPr lang="en-SG" altLang="zh-CN" dirty="0"/>
              <a:t>&gt;</a:t>
            </a:r>
          </a:p>
          <a:p>
            <a:r>
              <a:rPr lang="en-SG" altLang="zh-CN" dirty="0"/>
              <a:t>#include &lt;</a:t>
            </a:r>
            <a:r>
              <a:rPr lang="en-SG" altLang="zh-CN" dirty="0" err="1"/>
              <a:t>stdlib.h</a:t>
            </a:r>
            <a:r>
              <a:rPr lang="en-SG" altLang="zh-CN" dirty="0"/>
              <a:t>&gt;</a:t>
            </a:r>
          </a:p>
          <a:p>
            <a:endParaRPr lang="en-SG" altLang="zh-CN" dirty="0"/>
          </a:p>
          <a:p>
            <a:endParaRPr lang="en-SG" altLang="zh-CN" dirty="0"/>
          </a:p>
          <a:p>
            <a:r>
              <a:rPr lang="en-SG" altLang="zh-CN" dirty="0"/>
              <a:t>void </a:t>
            </a:r>
            <a:r>
              <a:rPr lang="en-SG" altLang="zh-CN" dirty="0" err="1"/>
              <a:t>bubbleSort</a:t>
            </a:r>
            <a:r>
              <a:rPr lang="en-SG" altLang="zh-CN" dirty="0"/>
              <a:t>(char *</a:t>
            </a:r>
            <a:r>
              <a:rPr lang="en-SG" altLang="zh-CN" dirty="0" err="1"/>
              <a:t>str</a:t>
            </a:r>
            <a:r>
              <a:rPr lang="en-SG" altLang="zh-CN" dirty="0"/>
              <a:t>, </a:t>
            </a:r>
            <a:r>
              <a:rPr lang="en-SG" altLang="zh-CN" dirty="0" err="1"/>
              <a:t>int</a:t>
            </a:r>
            <a:r>
              <a:rPr lang="en-SG" altLang="zh-CN" dirty="0"/>
              <a:t> </a:t>
            </a:r>
            <a:r>
              <a:rPr lang="en-SG" altLang="zh-CN" dirty="0" err="1"/>
              <a:t>len</a:t>
            </a:r>
            <a:r>
              <a:rPr lang="en-SG" altLang="zh-CN" dirty="0"/>
              <a:t>) {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int</a:t>
            </a:r>
            <a:r>
              <a:rPr lang="en-SG" altLang="zh-CN" dirty="0"/>
              <a:t> i, j;</a:t>
            </a:r>
          </a:p>
          <a:p>
            <a:r>
              <a:rPr lang="en-SG" altLang="zh-CN" dirty="0"/>
              <a:t>    char temp;</a:t>
            </a:r>
          </a:p>
          <a:p>
            <a:r>
              <a:rPr lang="en-SG" altLang="zh-CN" dirty="0"/>
              <a:t>    for (i=0; i&lt;len-1; i++) {</a:t>
            </a:r>
          </a:p>
          <a:p>
            <a:r>
              <a:rPr lang="en-SG" altLang="zh-CN" dirty="0"/>
              <a:t>        for (j=0; j&lt;len-i-1; </a:t>
            </a:r>
            <a:r>
              <a:rPr lang="en-SG" altLang="zh-CN" dirty="0" err="1"/>
              <a:t>j++</a:t>
            </a:r>
            <a:r>
              <a:rPr lang="en-SG" altLang="zh-CN" dirty="0"/>
              <a:t>) {</a:t>
            </a:r>
          </a:p>
          <a:p>
            <a:r>
              <a:rPr lang="en-SG" altLang="zh-CN" dirty="0"/>
              <a:t>           if (str[j] &gt; str[j+1]) {</a:t>
            </a:r>
          </a:p>
          <a:p>
            <a:r>
              <a:rPr lang="en-SG" altLang="zh-CN" dirty="0"/>
              <a:t>                temp=str[j];</a:t>
            </a:r>
          </a:p>
          <a:p>
            <a:r>
              <a:rPr lang="en-SG" altLang="zh-CN" dirty="0"/>
              <a:t>                </a:t>
            </a:r>
            <a:r>
              <a:rPr lang="en-SG" altLang="zh-CN" dirty="0" err="1"/>
              <a:t>str</a:t>
            </a:r>
            <a:r>
              <a:rPr lang="en-SG" altLang="zh-CN" dirty="0"/>
              <a:t>[j]=</a:t>
            </a:r>
            <a:r>
              <a:rPr lang="en-SG" altLang="zh-CN" dirty="0" err="1"/>
              <a:t>str</a:t>
            </a:r>
            <a:r>
              <a:rPr lang="en-SG" altLang="zh-CN" dirty="0"/>
              <a:t>[j+1];</a:t>
            </a:r>
          </a:p>
          <a:p>
            <a:r>
              <a:rPr lang="en-SG" altLang="zh-CN" dirty="0"/>
              <a:t>                </a:t>
            </a:r>
            <a:r>
              <a:rPr lang="en-SG" altLang="zh-CN" dirty="0" err="1"/>
              <a:t>str</a:t>
            </a:r>
            <a:r>
              <a:rPr lang="en-SG" altLang="zh-CN" dirty="0"/>
              <a:t>[j+1]=temp;</a:t>
            </a:r>
          </a:p>
          <a:p>
            <a:r>
              <a:rPr lang="en-SG" altLang="zh-CN" dirty="0"/>
              <a:t>            }</a:t>
            </a:r>
          </a:p>
          <a:p>
            <a:r>
              <a:rPr lang="en-SG" altLang="zh-CN" dirty="0"/>
              <a:t>        }</a:t>
            </a:r>
          </a:p>
          <a:p>
            <a:r>
              <a:rPr lang="en-SG" altLang="zh-CN" dirty="0"/>
              <a:t>    }</a:t>
            </a:r>
          </a:p>
          <a:p>
            <a:r>
              <a:rPr lang="en-SG" altLang="zh-CN" dirty="0"/>
              <a:t>}       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61563" y="65774"/>
            <a:ext cx="439345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altLang="zh-CN" dirty="0"/>
          </a:p>
          <a:p>
            <a:r>
              <a:rPr lang="en-SG" altLang="zh-CN" dirty="0"/>
              <a:t>   // Create copies to sort</a:t>
            </a:r>
          </a:p>
          <a:p>
            <a:r>
              <a:rPr lang="en-SG" altLang="zh-CN" dirty="0"/>
              <a:t>    char *copy1=(char *)</a:t>
            </a:r>
            <a:r>
              <a:rPr lang="en-SG" altLang="zh-CN" dirty="0" err="1"/>
              <a:t>malloc</a:t>
            </a:r>
            <a:r>
              <a:rPr lang="en-SG" altLang="zh-CN" dirty="0"/>
              <a:t>(len1+1);</a:t>
            </a:r>
          </a:p>
          <a:p>
            <a:r>
              <a:rPr lang="en-SG" altLang="zh-CN" dirty="0"/>
              <a:t>    char *copy2=(char *)</a:t>
            </a:r>
            <a:r>
              <a:rPr lang="en-SG" altLang="zh-CN" dirty="0" err="1"/>
              <a:t>malloc</a:t>
            </a:r>
            <a:r>
              <a:rPr lang="en-SG" altLang="zh-CN" dirty="0"/>
              <a:t>(len2+1);</a:t>
            </a:r>
          </a:p>
          <a:p>
            <a:r>
              <a:rPr lang="en-SG" altLang="zh-CN" dirty="0"/>
              <a:t>       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strcpy</a:t>
            </a:r>
            <a:r>
              <a:rPr lang="en-SG" altLang="zh-CN" dirty="0"/>
              <a:t>(copy1, str1);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strcpy</a:t>
            </a:r>
            <a:r>
              <a:rPr lang="en-SG" altLang="zh-CN" dirty="0"/>
              <a:t>(copy2, str2);</a:t>
            </a:r>
          </a:p>
          <a:p>
            <a:r>
              <a:rPr lang="en-SG" altLang="zh-CN" dirty="0"/>
              <a:t>    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toLowerStr</a:t>
            </a:r>
            <a:r>
              <a:rPr lang="en-SG" altLang="zh-CN" dirty="0"/>
              <a:t>(copy1, len1);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toLowerStr</a:t>
            </a:r>
            <a:r>
              <a:rPr lang="en-SG" altLang="zh-CN" dirty="0"/>
              <a:t>(copy2, len2);</a:t>
            </a:r>
          </a:p>
          <a:p>
            <a:r>
              <a:rPr lang="en-SG" altLang="zh-CN" dirty="0"/>
              <a:t>    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bubbleSort</a:t>
            </a:r>
            <a:r>
              <a:rPr lang="en-SG" altLang="zh-CN" dirty="0"/>
              <a:t>(copy1, len1);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bubbleSort</a:t>
            </a:r>
            <a:r>
              <a:rPr lang="en-SG" altLang="zh-CN" dirty="0"/>
              <a:t>(copy2, len2);</a:t>
            </a:r>
          </a:p>
          <a:p>
            <a:r>
              <a:rPr lang="en-SG" altLang="zh-CN" dirty="0"/>
              <a:t>    </a:t>
            </a:r>
          </a:p>
          <a:p>
            <a:r>
              <a:rPr lang="en-SG" altLang="zh-CN" dirty="0"/>
              <a:t>     result=(</a:t>
            </a:r>
            <a:r>
              <a:rPr lang="en-SG" altLang="zh-CN" dirty="0" err="1"/>
              <a:t>strcmp</a:t>
            </a:r>
            <a:r>
              <a:rPr lang="en-SG" altLang="zh-CN" dirty="0"/>
              <a:t>(copy1, copy2)==0);</a:t>
            </a:r>
          </a:p>
          <a:p>
            <a:r>
              <a:rPr lang="en-SG" altLang="zh-CN" dirty="0"/>
              <a:t>    </a:t>
            </a:r>
          </a:p>
          <a:p>
            <a:r>
              <a:rPr lang="en-SG" altLang="zh-CN" dirty="0"/>
              <a:t>    free(copy1);</a:t>
            </a:r>
          </a:p>
          <a:p>
            <a:r>
              <a:rPr lang="en-SG" altLang="zh-CN" dirty="0"/>
              <a:t>    free(copy2);</a:t>
            </a:r>
          </a:p>
          <a:p>
            <a:r>
              <a:rPr lang="en-SG" altLang="zh-CN" dirty="0"/>
              <a:t>    </a:t>
            </a:r>
          </a:p>
          <a:p>
            <a:r>
              <a:rPr lang="en-SG" altLang="zh-CN" dirty="0"/>
              <a:t>    return result;</a:t>
            </a:r>
          </a:p>
          <a:p>
            <a:r>
              <a:rPr lang="en-SG" altLang="zh-CN" dirty="0"/>
              <a:t>}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29FB7-4981-CA0A-034A-779D602ECA35}"/>
              </a:ext>
            </a:extLst>
          </p:cNvPr>
          <p:cNvSpPr txBox="1"/>
          <p:nvPr/>
        </p:nvSpPr>
        <p:spPr>
          <a:xfrm>
            <a:off x="3765030" y="261876"/>
            <a:ext cx="3976141" cy="480131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G" altLang="zh-CN" dirty="0"/>
              <a:t>void </a:t>
            </a:r>
            <a:r>
              <a:rPr lang="en-SG" altLang="zh-CN" dirty="0" err="1"/>
              <a:t>toLowerStr</a:t>
            </a:r>
            <a:r>
              <a:rPr lang="en-SG" altLang="zh-CN" dirty="0"/>
              <a:t>(char *str, int </a:t>
            </a:r>
            <a:r>
              <a:rPr lang="en-SG" altLang="zh-CN" dirty="0" err="1"/>
              <a:t>len</a:t>
            </a:r>
            <a:r>
              <a:rPr lang="en-SG" altLang="zh-CN" dirty="0"/>
              <a:t>) {</a:t>
            </a:r>
          </a:p>
          <a:p>
            <a:r>
              <a:rPr lang="en-SG" altLang="zh-CN" dirty="0"/>
              <a:t>    for (int </a:t>
            </a:r>
            <a:r>
              <a:rPr lang="en-SG" altLang="zh-CN" dirty="0" err="1"/>
              <a:t>i</a:t>
            </a:r>
            <a:r>
              <a:rPr lang="en-SG" altLang="zh-CN" dirty="0"/>
              <a:t> = 0; </a:t>
            </a:r>
            <a:r>
              <a:rPr lang="en-SG" altLang="zh-CN" dirty="0" err="1"/>
              <a:t>i</a:t>
            </a:r>
            <a:r>
              <a:rPr lang="en-SG" altLang="zh-CN" dirty="0"/>
              <a:t> &lt; </a:t>
            </a:r>
            <a:r>
              <a:rPr lang="en-SG" altLang="zh-CN" dirty="0" err="1"/>
              <a:t>len</a:t>
            </a:r>
            <a:r>
              <a:rPr lang="en-SG" altLang="zh-CN" dirty="0"/>
              <a:t>; </a:t>
            </a:r>
            <a:r>
              <a:rPr lang="en-SG" altLang="zh-CN" dirty="0" err="1"/>
              <a:t>i</a:t>
            </a:r>
            <a:r>
              <a:rPr lang="en-SG" altLang="zh-CN" dirty="0"/>
              <a:t>++) {</a:t>
            </a:r>
          </a:p>
          <a:p>
            <a:r>
              <a:rPr lang="en-SG" altLang="zh-CN" dirty="0"/>
              <a:t>        str[</a:t>
            </a:r>
            <a:r>
              <a:rPr lang="en-SG" altLang="zh-CN" dirty="0" err="1"/>
              <a:t>i</a:t>
            </a:r>
            <a:r>
              <a:rPr lang="en-SG" altLang="zh-CN" dirty="0"/>
              <a:t>] = </a:t>
            </a:r>
            <a:r>
              <a:rPr lang="en-SG" altLang="zh-CN" dirty="0" err="1"/>
              <a:t>tolower</a:t>
            </a:r>
            <a:r>
              <a:rPr lang="en-SG" altLang="zh-CN" dirty="0"/>
              <a:t>(str[</a:t>
            </a:r>
            <a:r>
              <a:rPr lang="en-SG" altLang="zh-CN" dirty="0" err="1"/>
              <a:t>i</a:t>
            </a:r>
            <a:r>
              <a:rPr lang="en-SG" altLang="zh-CN" dirty="0"/>
              <a:t>]);</a:t>
            </a:r>
          </a:p>
          <a:p>
            <a:r>
              <a:rPr lang="en-SG" altLang="zh-CN" dirty="0"/>
              <a:t>    }</a:t>
            </a:r>
          </a:p>
          <a:p>
            <a:r>
              <a:rPr lang="en-SG" altLang="zh-CN" dirty="0"/>
              <a:t>}</a:t>
            </a:r>
          </a:p>
          <a:p>
            <a:endParaRPr lang="en-SG" altLang="zh-CN" dirty="0"/>
          </a:p>
          <a:p>
            <a:endParaRPr lang="en-SG" altLang="zh-CN" dirty="0"/>
          </a:p>
          <a:p>
            <a:endParaRPr lang="en-SG" altLang="zh-CN" dirty="0"/>
          </a:p>
          <a:p>
            <a:endParaRPr lang="en-SG" altLang="zh-CN" dirty="0"/>
          </a:p>
          <a:p>
            <a:r>
              <a:rPr lang="en-SG" altLang="zh-CN" dirty="0"/>
              <a:t>int </a:t>
            </a:r>
            <a:r>
              <a:rPr lang="en-SG" altLang="zh-CN" dirty="0" err="1"/>
              <a:t>areAnagramsBubbleSort</a:t>
            </a:r>
            <a:r>
              <a:rPr lang="en-SG" altLang="zh-CN" dirty="0"/>
              <a:t>(char *str1, char *str2) {</a:t>
            </a:r>
          </a:p>
          <a:p>
            <a:r>
              <a:rPr lang="en-SG" altLang="zh-CN" dirty="0"/>
              <a:t>    int len1=</a:t>
            </a:r>
            <a:r>
              <a:rPr lang="en-SG" altLang="zh-CN" dirty="0" err="1"/>
              <a:t>strlen</a:t>
            </a:r>
            <a:r>
              <a:rPr lang="en-SG" altLang="zh-CN" dirty="0"/>
              <a:t>(str1);</a:t>
            </a:r>
          </a:p>
          <a:p>
            <a:r>
              <a:rPr lang="en-SG" altLang="zh-CN" dirty="0"/>
              <a:t>    int len2=</a:t>
            </a:r>
            <a:r>
              <a:rPr lang="en-SG" altLang="zh-CN" dirty="0" err="1"/>
              <a:t>strlen</a:t>
            </a:r>
            <a:r>
              <a:rPr lang="en-SG" altLang="zh-CN" dirty="0"/>
              <a:t>(str2);</a:t>
            </a:r>
          </a:p>
          <a:p>
            <a:r>
              <a:rPr lang="en-SG" altLang="zh-CN" dirty="0"/>
              <a:t>    int result;</a:t>
            </a:r>
          </a:p>
          <a:p>
            <a:r>
              <a:rPr lang="en-SG" altLang="zh-CN" dirty="0"/>
              <a:t>    if (len1!=len2) return 0;</a:t>
            </a:r>
          </a:p>
          <a:p>
            <a:endParaRPr lang="en-SG" altLang="zh-CN" dirty="0"/>
          </a:p>
          <a:p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C5E0B-E123-B6DC-345B-879AD211D553}"/>
              </a:ext>
            </a:extLst>
          </p:cNvPr>
          <p:cNvSpPr txBox="1"/>
          <p:nvPr/>
        </p:nvSpPr>
        <p:spPr>
          <a:xfrm>
            <a:off x="976745" y="5895109"/>
            <a:ext cx="2590800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Create copies to sort?</a:t>
            </a:r>
          </a:p>
        </p:txBody>
      </p:sp>
    </p:spTree>
    <p:extLst>
      <p:ext uri="{BB962C8B-B14F-4D97-AF65-F5344CB8AC3E}">
        <p14:creationId xmlns:p14="http://schemas.microsoft.com/office/powerpoint/2010/main" val="18705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12</a:t>
            </a:fld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E899F-253B-40AF-97D7-29DB25789824}"/>
              </a:ext>
            </a:extLst>
          </p:cNvPr>
          <p:cNvSpPr txBox="1"/>
          <p:nvPr/>
        </p:nvSpPr>
        <p:spPr>
          <a:xfrm>
            <a:off x="1857983" y="4319081"/>
            <a:ext cx="1264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696C7-F4AA-4EB2-AC35-09A2F14E5F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2" b="53617"/>
          <a:stretch/>
        </p:blipFill>
        <p:spPr>
          <a:xfrm>
            <a:off x="1667320" y="155642"/>
            <a:ext cx="7545712" cy="41926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7320" y="4827181"/>
            <a:ext cx="2107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13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8754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13</a:t>
            </a:fld>
            <a:endParaRPr lang="en-SG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808074" y="1531088"/>
            <a:ext cx="102604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93135" y="1018492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82725" y="1074738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矩形 6"/>
          <p:cNvSpPr/>
          <p:nvPr/>
        </p:nvSpPr>
        <p:spPr>
          <a:xfrm>
            <a:off x="1722474" y="1018492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25033" y="1043957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658139" y="105898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10" name="矩形 9"/>
          <p:cNvSpPr/>
          <p:nvPr/>
        </p:nvSpPr>
        <p:spPr>
          <a:xfrm>
            <a:off x="2597888" y="100273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62492" y="286086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1102241" y="280461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162492" y="2342951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4" name="矩形 13"/>
          <p:cNvSpPr/>
          <p:nvPr/>
        </p:nvSpPr>
        <p:spPr>
          <a:xfrm>
            <a:off x="1102241" y="2286705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965249" y="2854360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16" name="矩形 15"/>
          <p:cNvSpPr/>
          <p:nvPr/>
        </p:nvSpPr>
        <p:spPr>
          <a:xfrm>
            <a:off x="1904998" y="2798114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960474" y="3320902"/>
            <a:ext cx="102604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84204" y="282979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9" name="矩形 18"/>
          <p:cNvSpPr/>
          <p:nvPr/>
        </p:nvSpPr>
        <p:spPr>
          <a:xfrm>
            <a:off x="2923953" y="277354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984204" y="231188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1" name="矩形 20"/>
          <p:cNvSpPr/>
          <p:nvPr/>
        </p:nvSpPr>
        <p:spPr>
          <a:xfrm>
            <a:off x="2923953" y="225563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864934" y="2855407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23" name="矩形 22"/>
          <p:cNvSpPr/>
          <p:nvPr/>
        </p:nvSpPr>
        <p:spPr>
          <a:xfrm>
            <a:off x="3804683" y="2799161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622308" y="2845619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25" name="矩形 24"/>
          <p:cNvSpPr/>
          <p:nvPr/>
        </p:nvSpPr>
        <p:spPr>
          <a:xfrm>
            <a:off x="6562057" y="2789373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622308" y="2327708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7" name="矩形 26"/>
          <p:cNvSpPr/>
          <p:nvPr/>
        </p:nvSpPr>
        <p:spPr>
          <a:xfrm>
            <a:off x="6562057" y="2271462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425065" y="286935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9" name="矩形 28"/>
          <p:cNvSpPr/>
          <p:nvPr/>
        </p:nvSpPr>
        <p:spPr>
          <a:xfrm>
            <a:off x="7364814" y="281310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557435" y="284267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31" name="矩形 30"/>
          <p:cNvSpPr/>
          <p:nvPr/>
        </p:nvSpPr>
        <p:spPr>
          <a:xfrm>
            <a:off x="8497184" y="278642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8557435" y="232476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33" name="矩形 32"/>
          <p:cNvSpPr/>
          <p:nvPr/>
        </p:nvSpPr>
        <p:spPr>
          <a:xfrm>
            <a:off x="8497184" y="226851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360192" y="286758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35" name="矩形 34"/>
          <p:cNvSpPr/>
          <p:nvPr/>
        </p:nvSpPr>
        <p:spPr>
          <a:xfrm>
            <a:off x="9299941" y="281133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0196623" y="2845626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37" name="矩形 36"/>
          <p:cNvSpPr/>
          <p:nvPr/>
        </p:nvSpPr>
        <p:spPr>
          <a:xfrm>
            <a:off x="10136372" y="2789380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0196623" y="2327715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39" name="矩形 38"/>
          <p:cNvSpPr/>
          <p:nvPr/>
        </p:nvSpPr>
        <p:spPr>
          <a:xfrm>
            <a:off x="10136372" y="2271469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0967482" y="2849164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41" name="矩形 40"/>
          <p:cNvSpPr/>
          <p:nvPr/>
        </p:nvSpPr>
        <p:spPr>
          <a:xfrm>
            <a:off x="10907231" y="2792918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844900" y="2848594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55" name="矩形 54"/>
          <p:cNvSpPr/>
          <p:nvPr/>
        </p:nvSpPr>
        <p:spPr>
          <a:xfrm>
            <a:off x="4784649" y="2792348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4844900" y="233068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57" name="矩形 56"/>
          <p:cNvSpPr/>
          <p:nvPr/>
        </p:nvSpPr>
        <p:spPr>
          <a:xfrm>
            <a:off x="4784649" y="227443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5647657" y="2872328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59" name="矩形 58"/>
          <p:cNvSpPr/>
          <p:nvPr/>
        </p:nvSpPr>
        <p:spPr>
          <a:xfrm>
            <a:off x="5587406" y="2816082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0" name="直接连接符 59"/>
          <p:cNvCxnSpPr/>
          <p:nvPr/>
        </p:nvCxnSpPr>
        <p:spPr>
          <a:xfrm>
            <a:off x="925033" y="5543107"/>
            <a:ext cx="102604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343245" y="5085691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2" name="矩形 61"/>
          <p:cNvSpPr/>
          <p:nvPr/>
        </p:nvSpPr>
        <p:spPr>
          <a:xfrm>
            <a:off x="1282994" y="5029445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1343245" y="4567780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64" name="矩形 63"/>
          <p:cNvSpPr/>
          <p:nvPr/>
        </p:nvSpPr>
        <p:spPr>
          <a:xfrm>
            <a:off x="1282994" y="4511534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1360963" y="404453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66" name="矩形 65"/>
          <p:cNvSpPr/>
          <p:nvPr/>
        </p:nvSpPr>
        <p:spPr>
          <a:xfrm>
            <a:off x="1279449" y="398828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2987751" y="5074364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8" name="矩形 67"/>
          <p:cNvSpPr/>
          <p:nvPr/>
        </p:nvSpPr>
        <p:spPr>
          <a:xfrm>
            <a:off x="2927500" y="5018118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2987751" y="455645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70" name="矩形 69"/>
          <p:cNvSpPr/>
          <p:nvPr/>
        </p:nvSpPr>
        <p:spPr>
          <a:xfrm>
            <a:off x="2927500" y="450020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3005469" y="4033205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2" name="矩形 71"/>
          <p:cNvSpPr/>
          <p:nvPr/>
        </p:nvSpPr>
        <p:spPr>
          <a:xfrm>
            <a:off x="2913319" y="3976959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4703135" y="504639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4" name="矩形 73"/>
          <p:cNvSpPr/>
          <p:nvPr/>
        </p:nvSpPr>
        <p:spPr>
          <a:xfrm>
            <a:off x="4642884" y="499014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4703135" y="452848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76" name="矩形 75"/>
          <p:cNvSpPr/>
          <p:nvPr/>
        </p:nvSpPr>
        <p:spPr>
          <a:xfrm>
            <a:off x="4642884" y="447223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4720853" y="4005234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78" name="矩形 77"/>
          <p:cNvSpPr/>
          <p:nvPr/>
        </p:nvSpPr>
        <p:spPr>
          <a:xfrm>
            <a:off x="4628703" y="3948988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100773" y="5113291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80" name="矩形 79"/>
          <p:cNvSpPr/>
          <p:nvPr/>
        </p:nvSpPr>
        <p:spPr>
          <a:xfrm>
            <a:off x="7040522" y="5057045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7100773" y="4595380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82" name="矩形 81"/>
          <p:cNvSpPr/>
          <p:nvPr/>
        </p:nvSpPr>
        <p:spPr>
          <a:xfrm>
            <a:off x="7040522" y="4539134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7118491" y="407213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84" name="矩形 83"/>
          <p:cNvSpPr/>
          <p:nvPr/>
        </p:nvSpPr>
        <p:spPr>
          <a:xfrm>
            <a:off x="7026341" y="401588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8702753" y="5085691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86" name="矩形 85"/>
          <p:cNvSpPr/>
          <p:nvPr/>
        </p:nvSpPr>
        <p:spPr>
          <a:xfrm>
            <a:off x="8642502" y="5029445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8702753" y="4567780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88" name="矩形 87"/>
          <p:cNvSpPr/>
          <p:nvPr/>
        </p:nvSpPr>
        <p:spPr>
          <a:xfrm>
            <a:off x="8642502" y="4511534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8720471" y="404453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90" name="矩形 89"/>
          <p:cNvSpPr/>
          <p:nvPr/>
        </p:nvSpPr>
        <p:spPr>
          <a:xfrm>
            <a:off x="8628321" y="398828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1747283" y="1626781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(1)</a:t>
            </a:r>
            <a:endParaRPr lang="zh-CN" altLang="en-US" b="1" dirty="0"/>
          </a:p>
        </p:txBody>
      </p:sp>
      <p:sp>
        <p:nvSpPr>
          <p:cNvPr id="92" name="TextBox 91"/>
          <p:cNvSpPr txBox="1"/>
          <p:nvPr/>
        </p:nvSpPr>
        <p:spPr>
          <a:xfrm>
            <a:off x="1516911" y="3416595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(2)</a:t>
            </a:r>
            <a:endParaRPr lang="zh-CN" altLang="en-US" b="1" dirty="0"/>
          </a:p>
        </p:txBody>
      </p:sp>
      <p:sp>
        <p:nvSpPr>
          <p:cNvPr id="93" name="TextBox 92"/>
          <p:cNvSpPr txBox="1"/>
          <p:nvPr/>
        </p:nvSpPr>
        <p:spPr>
          <a:xfrm>
            <a:off x="10533320" y="3416595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(7)</a:t>
            </a:r>
            <a:endParaRPr lang="zh-CN" altLang="en-US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8911853" y="3416595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(6)</a:t>
            </a:r>
            <a:endParaRPr lang="zh-CN" altLang="en-US" b="1" dirty="0"/>
          </a:p>
        </p:txBody>
      </p:sp>
      <p:sp>
        <p:nvSpPr>
          <p:cNvPr id="95" name="TextBox 94"/>
          <p:cNvSpPr txBox="1"/>
          <p:nvPr/>
        </p:nvSpPr>
        <p:spPr>
          <a:xfrm>
            <a:off x="7003302" y="3416595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(5)</a:t>
            </a:r>
            <a:endParaRPr lang="zh-CN" altLang="en-US" b="1" dirty="0"/>
          </a:p>
        </p:txBody>
      </p:sp>
      <p:sp>
        <p:nvSpPr>
          <p:cNvPr id="96" name="TextBox 95"/>
          <p:cNvSpPr txBox="1"/>
          <p:nvPr/>
        </p:nvSpPr>
        <p:spPr>
          <a:xfrm>
            <a:off x="5137293" y="3416595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(4)</a:t>
            </a:r>
            <a:endParaRPr lang="zh-CN" altLang="en-US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3455581" y="3416595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(3)</a:t>
            </a:r>
            <a:endParaRPr lang="zh-CN" altLang="en-US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1252867" y="5801831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(8)</a:t>
            </a:r>
            <a:endParaRPr lang="zh-CN" altLang="en-US" b="1" dirty="0"/>
          </a:p>
        </p:txBody>
      </p:sp>
      <p:sp>
        <p:nvSpPr>
          <p:cNvPr id="99" name="TextBox 98"/>
          <p:cNvSpPr txBox="1"/>
          <p:nvPr/>
        </p:nvSpPr>
        <p:spPr>
          <a:xfrm>
            <a:off x="2955851" y="5801831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(9)</a:t>
            </a:r>
            <a:endParaRPr lang="zh-CN" altLang="en-US" b="1" dirty="0"/>
          </a:p>
        </p:txBody>
      </p:sp>
      <p:sp>
        <p:nvSpPr>
          <p:cNvPr id="100" name="TextBox 99"/>
          <p:cNvSpPr txBox="1"/>
          <p:nvPr/>
        </p:nvSpPr>
        <p:spPr>
          <a:xfrm>
            <a:off x="4642883" y="5764952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(10)</a:t>
            </a:r>
            <a:endParaRPr lang="zh-CN" altLang="en-US" b="1" dirty="0"/>
          </a:p>
        </p:txBody>
      </p:sp>
      <p:sp>
        <p:nvSpPr>
          <p:cNvPr id="101" name="TextBox 100"/>
          <p:cNvSpPr txBox="1"/>
          <p:nvPr/>
        </p:nvSpPr>
        <p:spPr>
          <a:xfrm>
            <a:off x="7026341" y="5766390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(11)</a:t>
            </a:r>
            <a:endParaRPr lang="zh-CN" altLang="en-US" b="1" dirty="0"/>
          </a:p>
        </p:txBody>
      </p:sp>
      <p:sp>
        <p:nvSpPr>
          <p:cNvPr id="102" name="TextBox 101"/>
          <p:cNvSpPr txBox="1"/>
          <p:nvPr/>
        </p:nvSpPr>
        <p:spPr>
          <a:xfrm>
            <a:off x="8646039" y="5801831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(12)</a:t>
            </a:r>
            <a:endParaRPr lang="zh-CN" altLang="en-US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10375603" y="5801831"/>
            <a:ext cx="5316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(13)</a:t>
            </a:r>
            <a:endParaRPr lang="zh-CN" altLang="en-US" b="1" dirty="0"/>
          </a:p>
        </p:txBody>
      </p:sp>
      <p:sp>
        <p:nvSpPr>
          <p:cNvPr id="104" name="TextBox 103"/>
          <p:cNvSpPr txBox="1"/>
          <p:nvPr/>
        </p:nvSpPr>
        <p:spPr>
          <a:xfrm>
            <a:off x="10373835" y="5101964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105" name="矩形 104"/>
          <p:cNvSpPr/>
          <p:nvPr/>
        </p:nvSpPr>
        <p:spPr>
          <a:xfrm>
            <a:off x="10313584" y="5045718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TextBox 105"/>
          <p:cNvSpPr txBox="1"/>
          <p:nvPr/>
        </p:nvSpPr>
        <p:spPr>
          <a:xfrm>
            <a:off x="10373835" y="458405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107" name="矩形 106"/>
          <p:cNvSpPr/>
          <p:nvPr/>
        </p:nvSpPr>
        <p:spPr>
          <a:xfrm>
            <a:off x="10313584" y="452780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10391553" y="4060805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09" name="矩形 108"/>
          <p:cNvSpPr/>
          <p:nvPr/>
        </p:nvSpPr>
        <p:spPr>
          <a:xfrm>
            <a:off x="10299403" y="4004559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矩形 110"/>
          <p:cNvSpPr/>
          <p:nvPr/>
        </p:nvSpPr>
        <p:spPr>
          <a:xfrm>
            <a:off x="650354" y="662459"/>
            <a:ext cx="11100391" cy="1400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" name="矩形 111"/>
          <p:cNvSpPr/>
          <p:nvPr/>
        </p:nvSpPr>
        <p:spPr>
          <a:xfrm>
            <a:off x="632634" y="2189555"/>
            <a:ext cx="11100391" cy="16805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>
            <a:off x="632634" y="3937386"/>
            <a:ext cx="11100391" cy="24615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TextBox 113"/>
          <p:cNvSpPr txBox="1"/>
          <p:nvPr/>
        </p:nvSpPr>
        <p:spPr>
          <a:xfrm>
            <a:off x="1252867" y="1131971"/>
            <a:ext cx="2378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1+1+1</a:t>
            </a:r>
            <a:endParaRPr lang="zh-CN" altLang="en-US" sz="2400" b="1" dirty="0"/>
          </a:p>
        </p:txBody>
      </p:sp>
      <p:sp>
        <p:nvSpPr>
          <p:cNvPr id="116" name="TextBox 115"/>
          <p:cNvSpPr txBox="1"/>
          <p:nvPr/>
        </p:nvSpPr>
        <p:spPr>
          <a:xfrm>
            <a:off x="1041989" y="2872327"/>
            <a:ext cx="2378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2+1</a:t>
            </a:r>
            <a:endParaRPr lang="zh-CN" altLang="en-US" sz="2400" b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1045535" y="4884424"/>
            <a:ext cx="2378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3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8968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2" grpId="0" animBg="1"/>
      <p:bldP spid="113" grpId="0" animBg="1"/>
      <p:bldP spid="114" grpId="0"/>
      <p:bldP spid="116" grpId="0"/>
      <p:bldP spid="1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14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696C7-F4AA-4EB2-AC35-09A2F14E5F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2" b="13475"/>
          <a:stretch/>
        </p:blipFill>
        <p:spPr>
          <a:xfrm>
            <a:off x="1482493" y="311285"/>
            <a:ext cx="8723271" cy="39195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CE1439-1060-4906-9C6E-F2DB2DF43C54}"/>
              </a:ext>
            </a:extLst>
          </p:cNvPr>
          <p:cNvSpPr txBox="1"/>
          <p:nvPr/>
        </p:nvSpPr>
        <p:spPr>
          <a:xfrm>
            <a:off x="1447825" y="3727729"/>
            <a:ext cx="1353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49347" y="6634715"/>
            <a:ext cx="102604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324928" y="6140034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403924" y="6165499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739807" y="6178365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5679556" y="6122119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324928" y="562959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403924" y="565506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5" name="矩形 14"/>
          <p:cNvSpPr/>
          <p:nvPr/>
        </p:nvSpPr>
        <p:spPr>
          <a:xfrm>
            <a:off x="4324928" y="512328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03924" y="5148751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17" name="矩形 16"/>
          <p:cNvSpPr/>
          <p:nvPr/>
        </p:nvSpPr>
        <p:spPr>
          <a:xfrm>
            <a:off x="4324928" y="4612849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403924" y="4638314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9906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 animBg="1"/>
      <p:bldP spid="13" grpId="0" animBg="1"/>
      <p:bldP spid="14" grpId="0"/>
      <p:bldP spid="15" grpId="0" animBg="1"/>
      <p:bldP spid="16" grpId="0"/>
      <p:bldP spid="17" grpId="0" animBg="1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15</a:t>
            </a:fld>
            <a:endParaRPr lang="en-SG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45596" y="2703827"/>
            <a:ext cx="102604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42042" y="2201032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21038" y="2226497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6" name="矩形 5"/>
          <p:cNvSpPr/>
          <p:nvPr/>
        </p:nvSpPr>
        <p:spPr>
          <a:xfrm>
            <a:off x="642042" y="1690595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21038" y="1716060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矩形 7"/>
          <p:cNvSpPr/>
          <p:nvPr/>
        </p:nvSpPr>
        <p:spPr>
          <a:xfrm>
            <a:off x="642042" y="1184284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21038" y="1209749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10" name="矩形 9"/>
          <p:cNvSpPr/>
          <p:nvPr/>
        </p:nvSpPr>
        <p:spPr>
          <a:xfrm>
            <a:off x="642042" y="673847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21038" y="699312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657242" y="18671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36238" y="189586"/>
            <a:ext cx="501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171211" y="6099157"/>
            <a:ext cx="102604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67657" y="5596362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46653" y="5621827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9" name="矩形 18"/>
          <p:cNvSpPr/>
          <p:nvPr/>
        </p:nvSpPr>
        <p:spPr>
          <a:xfrm>
            <a:off x="3014671" y="5583035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093667" y="5608500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1" name="矩形 20"/>
          <p:cNvSpPr/>
          <p:nvPr/>
        </p:nvSpPr>
        <p:spPr>
          <a:xfrm>
            <a:off x="3014671" y="5072598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093667" y="509806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3" name="矩形 22"/>
          <p:cNvSpPr/>
          <p:nvPr/>
        </p:nvSpPr>
        <p:spPr>
          <a:xfrm>
            <a:off x="4830995" y="5576602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909991" y="5602067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25" name="矩形 24"/>
          <p:cNvSpPr/>
          <p:nvPr/>
        </p:nvSpPr>
        <p:spPr>
          <a:xfrm>
            <a:off x="4830995" y="5066165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909991" y="5091630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991" y="189585"/>
            <a:ext cx="6878804" cy="971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矩形 26"/>
          <p:cNvSpPr/>
          <p:nvPr/>
        </p:nvSpPr>
        <p:spPr>
          <a:xfrm>
            <a:off x="88875" y="3531994"/>
            <a:ext cx="10675088" cy="30302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52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3468E-6 -3.33333E-6 L 0.20138 0.2932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62" y="1465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0221E-6 -1.11111E-6 L 0.19422 0.2916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11" y="1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7665E-6 1.85185E-6 L 0.19331 0.1539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59" y="768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26477E-6 3.33333E-6 L 0.1967 0.1509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28" y="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7665E-6 -3.7037E-6 L 0.35121 0.1509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61" y="754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26477E-6 -3.7037E-6 L 0.35382 0.150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91" y="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89768E-6 2.59259E-6 L 0.3486 0.0018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30" y="9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26477E-6 3.7037E-6 L 0.34692 0.0034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39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6878E-6 -1.85185E-6 L -0.1825 -0.0027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25" y="-139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98204E-7 -1.85185E-6 L -0.18849 -0.0011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5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98204E-7 1.11111E-6 L -0.17886 -0.1469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43" y="-7361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6878E-6 1.11111E-6 L -0.18068 -0.154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34" y="-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46E-6 4.07407E-6 L -0.33325 -0.15625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62" y="-782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2098E-6 4.07407E-6 L -0.33142 -0.15787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71" y="-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1" animBg="1"/>
      <p:bldP spid="13" grpId="1"/>
      <p:bldP spid="19" grpId="0" animBg="1"/>
      <p:bldP spid="20" grpId="0"/>
      <p:bldP spid="21" grpId="0" animBg="1"/>
      <p:bldP spid="22" grpId="0"/>
      <p:bldP spid="25" grpId="0" animBg="1"/>
      <p:bldP spid="26" grpId="0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16</a:t>
            </a:fld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E899F-253B-40AF-97D7-29DB25789824}"/>
              </a:ext>
            </a:extLst>
          </p:cNvPr>
          <p:cNvSpPr txBox="1"/>
          <p:nvPr/>
        </p:nvSpPr>
        <p:spPr>
          <a:xfrm>
            <a:off x="1206230" y="2159541"/>
            <a:ext cx="345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F4144-59FD-4FF9-84A3-CD7B5F7B02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9" b="83404"/>
          <a:stretch/>
        </p:blipFill>
        <p:spPr>
          <a:xfrm>
            <a:off x="208461" y="719847"/>
            <a:ext cx="11149854" cy="1361872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02249" y="5752212"/>
            <a:ext cx="102604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77830" y="5257531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56826" y="5282996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277830" y="4747094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356826" y="4772559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1" name="矩形 10"/>
          <p:cNvSpPr/>
          <p:nvPr/>
        </p:nvSpPr>
        <p:spPr>
          <a:xfrm>
            <a:off x="4277830" y="4240783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356826" y="4266248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14" name="矩形 13"/>
          <p:cNvSpPr/>
          <p:nvPr/>
        </p:nvSpPr>
        <p:spPr>
          <a:xfrm>
            <a:off x="6684332" y="5232066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763328" y="5257531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16" name="矩形 15"/>
          <p:cNvSpPr/>
          <p:nvPr/>
        </p:nvSpPr>
        <p:spPr>
          <a:xfrm>
            <a:off x="6684332" y="4721629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763328" y="4747094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18" name="矩形 17"/>
          <p:cNvSpPr/>
          <p:nvPr/>
        </p:nvSpPr>
        <p:spPr>
          <a:xfrm>
            <a:off x="6684332" y="4215318"/>
            <a:ext cx="595424" cy="5125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763328" y="4240783"/>
            <a:ext cx="5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5555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4" grpId="0" animBg="1"/>
      <p:bldP spid="15" grpId="0"/>
      <p:bldP spid="16" grpId="0" animBg="1"/>
      <p:bldP spid="17" grpId="0"/>
      <p:bldP spid="18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17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F4144-59FD-4FF9-84A3-CD7B5F7B02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0" t="38582" r="9565" b="12624"/>
          <a:stretch>
            <a:fillRect/>
          </a:stretch>
        </p:blipFill>
        <p:spPr>
          <a:xfrm>
            <a:off x="321013" y="998209"/>
            <a:ext cx="5774987" cy="52312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C6FB95-1344-4119-A334-9466274035FA}"/>
              </a:ext>
            </a:extLst>
          </p:cNvPr>
          <p:cNvSpPr/>
          <p:nvPr/>
        </p:nvSpPr>
        <p:spPr>
          <a:xfrm>
            <a:off x="1264596" y="2723745"/>
            <a:ext cx="3375498" cy="1780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9A40D9-0C53-4BB9-BC9E-E0BB816DFB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97" t="54912" r="27738" b="27731"/>
          <a:stretch/>
        </p:blipFill>
        <p:spPr>
          <a:xfrm>
            <a:off x="273509" y="2787967"/>
            <a:ext cx="3093395" cy="1750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C7FF06-3AC7-41B9-BAFA-7753062A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4" t="6951" r="27066" b="74610"/>
          <a:stretch/>
        </p:blipFill>
        <p:spPr>
          <a:xfrm>
            <a:off x="3838696" y="2688704"/>
            <a:ext cx="2529190" cy="16196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A4992E-5468-456C-8484-254107BACB9C}"/>
              </a:ext>
            </a:extLst>
          </p:cNvPr>
          <p:cNvSpPr txBox="1"/>
          <p:nvPr/>
        </p:nvSpPr>
        <p:spPr>
          <a:xfrm>
            <a:off x="5702325" y="114472"/>
            <a:ext cx="1206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2680" y="2571005"/>
            <a:ext cx="52383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rotate(int k)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total, i, j;</a:t>
            </a:r>
          </a:p>
          <a:p>
            <a:r>
              <a:rPr lang="en-US" altLang="zh-CN" dirty="0"/>
              <a:t>	total=size(t0);</a:t>
            </a:r>
          </a:p>
          <a:p>
            <a:endParaRPr lang="en-US" altLang="zh-CN" dirty="0"/>
          </a:p>
          <a:p>
            <a:r>
              <a:rPr lang="en-US" altLang="zh-CN" dirty="0"/>
              <a:t>	for(i=0; i&lt;k;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puton</a:t>
            </a:r>
            <a:r>
              <a:rPr lang="en-US" altLang="zh-CN" dirty="0"/>
              <a:t>(t0, t1);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	for(j=0; j&lt;total-k; j++)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puton</a:t>
            </a:r>
            <a:r>
              <a:rPr lang="en-US" altLang="zh-CN" dirty="0"/>
              <a:t>(t0, t2);</a:t>
            </a:r>
          </a:p>
          <a:p>
            <a:r>
              <a:rPr lang="en-US" altLang="zh-CN" dirty="0"/>
              <a:t>	for(i=0; i&lt;k; i++)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puton</a:t>
            </a:r>
            <a:r>
              <a:rPr lang="en-US" altLang="zh-CN" dirty="0"/>
              <a:t>(t1, t0);</a:t>
            </a:r>
          </a:p>
          <a:p>
            <a:r>
              <a:rPr lang="en-US" altLang="zh-CN" dirty="0"/>
              <a:t>	for(j=0; j&lt;total-k; j++)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puton</a:t>
            </a:r>
            <a:r>
              <a:rPr lang="en-US" altLang="zh-CN" dirty="0"/>
              <a:t>(t2, t0);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56A1D-1C07-08ED-6775-D1759855B0CE}"/>
              </a:ext>
            </a:extLst>
          </p:cNvPr>
          <p:cNvSpPr txBox="1"/>
          <p:nvPr/>
        </p:nvSpPr>
        <p:spPr>
          <a:xfrm>
            <a:off x="6428510" y="514582"/>
            <a:ext cx="394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3A6D3-EE41-8208-F26E-6C642CD82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555" y="39678"/>
            <a:ext cx="4445245" cy="251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18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B795E1-DB9C-428C-BCF0-84370F8F5B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6" t="22605" b="65814"/>
          <a:stretch>
            <a:fillRect/>
          </a:stretch>
        </p:blipFill>
        <p:spPr>
          <a:xfrm>
            <a:off x="290945" y="136525"/>
            <a:ext cx="11500632" cy="2062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6C34C9-7F05-47A3-A807-21844779136F}"/>
              </a:ext>
            </a:extLst>
          </p:cNvPr>
          <p:cNvSpPr txBox="1"/>
          <p:nvPr/>
        </p:nvSpPr>
        <p:spPr>
          <a:xfrm>
            <a:off x="856035" y="2558375"/>
            <a:ext cx="1313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4446" y="2318800"/>
            <a:ext cx="3740554" cy="4402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bool </a:t>
            </a:r>
            <a:r>
              <a:rPr lang="en-US" altLang="zh-CN" dirty="0" err="1"/>
              <a:t>is_Armstrong</a:t>
            </a:r>
            <a:r>
              <a:rPr lang="en-US" altLang="zh-CN" dirty="0"/>
              <a:t>(int n) {</a:t>
            </a:r>
          </a:p>
          <a:p>
            <a:r>
              <a:rPr lang="en-US" altLang="zh-CN" dirty="0"/>
              <a:t>  int sum=0; </a:t>
            </a:r>
          </a:p>
          <a:p>
            <a:r>
              <a:rPr lang="en-US" altLang="zh-CN" dirty="0"/>
              <a:t>  int </a:t>
            </a:r>
            <a:r>
              <a:rPr lang="en-US" altLang="zh-CN" dirty="0" err="1"/>
              <a:t>i</a:t>
            </a:r>
            <a:r>
              <a:rPr lang="en-US" altLang="zh-CN" dirty="0"/>
              <a:t>=0;</a:t>
            </a:r>
          </a:p>
          <a:p>
            <a:r>
              <a:rPr lang="en-US" altLang="zh-CN" dirty="0"/>
              <a:t>  int digit;</a:t>
            </a:r>
          </a:p>
          <a:p>
            <a:r>
              <a:rPr lang="en-US" altLang="zh-CN" dirty="0"/>
              <a:t>  int </a:t>
            </a:r>
            <a:r>
              <a:rPr lang="en-US" altLang="zh-CN" b="1" dirty="0">
                <a:solidFill>
                  <a:srgbClr val="FF0000"/>
                </a:solidFill>
              </a:rPr>
              <a:t>t=n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while(</a:t>
            </a:r>
            <a:r>
              <a:rPr lang="en-US" altLang="zh-CN" b="1" dirty="0">
                <a:solidFill>
                  <a:srgbClr val="FF0000"/>
                </a:solidFill>
              </a:rPr>
              <a:t>t&gt;0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   	t=t/10;</a:t>
            </a:r>
          </a:p>
          <a:p>
            <a:r>
              <a:rPr lang="en-US" altLang="zh-CN" dirty="0"/>
              <a:t>	i++;   </a:t>
            </a:r>
          </a:p>
          <a:p>
            <a:r>
              <a:rPr lang="en-US" altLang="zh-CN" dirty="0"/>
              <a:t>  }</a:t>
            </a:r>
          </a:p>
          <a:p>
            <a:r>
              <a:rPr lang="en-US" altLang="zh-CN" dirty="0"/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t=n;</a:t>
            </a:r>
          </a:p>
          <a:p>
            <a:r>
              <a:rPr lang="en-US" altLang="zh-CN" dirty="0"/>
              <a:t>  while(</a:t>
            </a:r>
            <a:r>
              <a:rPr lang="en-US" altLang="zh-CN" b="1" dirty="0">
                <a:solidFill>
                  <a:srgbClr val="FF0000"/>
                </a:solidFill>
              </a:rPr>
              <a:t>t&gt;0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	digit=t%10;</a:t>
            </a:r>
          </a:p>
          <a:p>
            <a:r>
              <a:rPr lang="en-US" altLang="zh-CN" dirty="0"/>
              <a:t>	t=t/10;</a:t>
            </a:r>
          </a:p>
          <a:p>
            <a:r>
              <a:rPr lang="en-US" altLang="zh-CN" dirty="0"/>
              <a:t>	sum=</a:t>
            </a:r>
            <a:r>
              <a:rPr lang="en-US" altLang="zh-CN" dirty="0" err="1"/>
              <a:t>pow</a:t>
            </a:r>
            <a:r>
              <a:rPr lang="en-US" altLang="zh-CN" dirty="0"/>
              <a:t>(digit, i)+sum;</a:t>
            </a:r>
          </a:p>
          <a:p>
            <a:r>
              <a:rPr lang="en-US" altLang="zh-CN" dirty="0"/>
              <a:t>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75897" y="3338624"/>
            <a:ext cx="398721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if(sum==n) return true;</a:t>
            </a:r>
          </a:p>
          <a:p>
            <a:r>
              <a:rPr lang="en-US" altLang="zh-CN" dirty="0"/>
              <a:t>else return false;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35367" y="4626320"/>
            <a:ext cx="3322622" cy="1631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Cannot directly use n to do the operations, because in the end it needs the original n to compare with the sum.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A9468-A508-F5F7-1EE1-2A18073C4DAE}"/>
              </a:ext>
            </a:extLst>
          </p:cNvPr>
          <p:cNvSpPr txBox="1"/>
          <p:nvPr/>
        </p:nvSpPr>
        <p:spPr>
          <a:xfrm>
            <a:off x="6075897" y="2336225"/>
            <a:ext cx="398721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Or: keep an array to store all digits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205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19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53C93-885E-451E-AA67-26C17CB9FF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2" t="8674" r="10109" b="76312"/>
          <a:stretch>
            <a:fillRect/>
          </a:stretch>
        </p:blipFill>
        <p:spPr>
          <a:xfrm>
            <a:off x="581891" y="136525"/>
            <a:ext cx="10836201" cy="2830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289BD-8B09-474A-B2F6-0548BBF48235}"/>
              </a:ext>
            </a:extLst>
          </p:cNvPr>
          <p:cNvSpPr txBox="1"/>
          <p:nvPr/>
        </p:nvSpPr>
        <p:spPr>
          <a:xfrm>
            <a:off x="807397" y="2966937"/>
            <a:ext cx="1186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2624" y="3742660"/>
            <a:ext cx="9824484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is_palindromic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n) {</a:t>
            </a:r>
          </a:p>
          <a:p>
            <a:r>
              <a:rPr lang="en-US" altLang="zh-CN" dirty="0"/>
              <a:t>    // Base cases</a:t>
            </a:r>
          </a:p>
          <a:p>
            <a:r>
              <a:rPr lang="en-US" altLang="zh-CN" dirty="0"/>
              <a:t>    if (n&lt;0) return 0;  // Negative numbers aren't palindromic</a:t>
            </a:r>
          </a:p>
          <a:p>
            <a:r>
              <a:rPr lang="en-US" altLang="zh-CN" dirty="0"/>
              <a:t>    if (n&lt;10) return 1;  // Single-digit numbers are palindromic</a:t>
            </a:r>
          </a:p>
          <a:p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BD34C-246E-654D-7011-E18FB40F75A8}"/>
              </a:ext>
            </a:extLst>
          </p:cNvPr>
          <p:cNvSpPr txBox="1"/>
          <p:nvPr/>
        </p:nvSpPr>
        <p:spPr>
          <a:xfrm>
            <a:off x="7065497" y="5433020"/>
            <a:ext cx="4170539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Recursion</a:t>
            </a:r>
            <a:r>
              <a:rPr lang="zh-CN" altLang="en-US" dirty="0"/>
              <a:t>思考方向：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最简单的情况？</a:t>
            </a:r>
            <a:r>
              <a:rPr lang="en-US" altLang="zh-CN" dirty="0"/>
              <a:t>(base case)</a:t>
            </a:r>
          </a:p>
          <a:p>
            <a:pPr marL="342900" indent="-342900">
              <a:buAutoNum type="arabicPeriod"/>
            </a:pPr>
            <a:r>
              <a:rPr lang="zh-CN" altLang="en-US" dirty="0"/>
              <a:t>每一层要做什么？</a:t>
            </a:r>
            <a:endParaRPr lang="en-US" altLang="zh-CN" dirty="0"/>
          </a:p>
          <a:p>
            <a:r>
              <a:rPr lang="zh-CN" altLang="en-US" dirty="0"/>
              <a:t>举例：</a:t>
            </a:r>
            <a:r>
              <a:rPr lang="en-US" altLang="zh-CN" dirty="0"/>
              <a:t>Fibonacci sequence</a:t>
            </a:r>
          </a:p>
        </p:txBody>
      </p:sp>
    </p:spTree>
    <p:extLst>
      <p:ext uri="{BB962C8B-B14F-4D97-AF65-F5344CB8AC3E}">
        <p14:creationId xmlns:p14="http://schemas.microsoft.com/office/powerpoint/2010/main" val="241359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20</a:t>
            </a:fld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829339" y="1786270"/>
            <a:ext cx="8452884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// Calculate the highest power of 10 less than n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power=1;</a:t>
            </a:r>
          </a:p>
          <a:p>
            <a:r>
              <a:rPr lang="en-US" altLang="zh-CN" dirty="0"/>
              <a:t>    while (power*10&lt;=n) {</a:t>
            </a:r>
          </a:p>
          <a:p>
            <a:r>
              <a:rPr lang="en-US" altLang="zh-CN" dirty="0"/>
              <a:t>        power *= 10;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</a:t>
            </a:r>
          </a:p>
          <a:p>
            <a:r>
              <a:rPr lang="en-US" altLang="zh-CN" dirty="0"/>
              <a:t>    // Compare first and last digits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first_digit</a:t>
            </a:r>
            <a:r>
              <a:rPr lang="en-US" altLang="zh-CN" dirty="0"/>
              <a:t>=n/power;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last_digit</a:t>
            </a:r>
            <a:r>
              <a:rPr lang="en-US" altLang="zh-CN" dirty="0"/>
              <a:t>=n%10;</a:t>
            </a:r>
          </a:p>
          <a:p>
            <a:r>
              <a:rPr lang="en-US" altLang="zh-CN" dirty="0"/>
              <a:t>    </a:t>
            </a:r>
          </a:p>
          <a:p>
            <a:r>
              <a:rPr lang="en-US" altLang="zh-CN" dirty="0"/>
              <a:t>    if (</a:t>
            </a:r>
            <a:r>
              <a:rPr lang="en-US" altLang="zh-CN" dirty="0" err="1"/>
              <a:t>first_digit</a:t>
            </a:r>
            <a:r>
              <a:rPr lang="en-US" altLang="zh-CN" dirty="0"/>
              <a:t>!=</a:t>
            </a:r>
            <a:r>
              <a:rPr lang="en-US" altLang="zh-CN" dirty="0" err="1"/>
              <a:t>last_digit</a:t>
            </a:r>
            <a:r>
              <a:rPr lang="en-US" altLang="zh-CN" dirty="0"/>
              <a:t>) return 0;</a:t>
            </a:r>
          </a:p>
          <a:p>
            <a:r>
              <a:rPr lang="en-US" altLang="zh-CN" dirty="0"/>
              <a:t>    </a:t>
            </a:r>
          </a:p>
          <a:p>
            <a:r>
              <a:rPr lang="en-US" altLang="zh-CN" dirty="0"/>
              <a:t>    // Remove first and last digits and </a:t>
            </a:r>
            <a:r>
              <a:rPr lang="en-US" altLang="zh-CN" dirty="0" err="1"/>
              <a:t>recurse</a:t>
            </a:r>
            <a:endParaRPr lang="en-US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is_palindromic</a:t>
            </a:r>
            <a:r>
              <a:rPr lang="en-US" altLang="zh-CN" dirty="0"/>
              <a:t>((n % power)/10);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9339" y="382772"/>
            <a:ext cx="9824484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is_palindromic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n) {</a:t>
            </a:r>
          </a:p>
          <a:p>
            <a:r>
              <a:rPr lang="en-US" altLang="zh-CN" dirty="0"/>
              <a:t>    // Base cases</a:t>
            </a:r>
          </a:p>
          <a:p>
            <a:r>
              <a:rPr lang="en-US" altLang="zh-CN" dirty="0"/>
              <a:t>    if (n&lt;0) return 0;  // Negative numbers aren't palindromic</a:t>
            </a:r>
          </a:p>
          <a:p>
            <a:r>
              <a:rPr lang="en-US" altLang="zh-CN" dirty="0"/>
              <a:t>    if (n&lt;10) return 1;  // Single-digit numbers are palindromic</a:t>
            </a:r>
          </a:p>
        </p:txBody>
      </p:sp>
    </p:spTree>
    <p:extLst>
      <p:ext uri="{BB962C8B-B14F-4D97-AF65-F5344CB8AC3E}">
        <p14:creationId xmlns:p14="http://schemas.microsoft.com/office/powerpoint/2010/main" val="346476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21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A48DC-9A7C-46D9-AE7C-1C8471BA9C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" t="7436" r="9281" b="67032"/>
          <a:stretch/>
        </p:blipFill>
        <p:spPr>
          <a:xfrm>
            <a:off x="0" y="184827"/>
            <a:ext cx="7910623" cy="3336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460F0-29CB-45B1-92E1-F471F97A38B1}"/>
              </a:ext>
            </a:extLst>
          </p:cNvPr>
          <p:cNvSpPr txBox="1"/>
          <p:nvPr/>
        </p:nvSpPr>
        <p:spPr>
          <a:xfrm>
            <a:off x="184825" y="3521414"/>
            <a:ext cx="1313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8949" y="4210493"/>
            <a:ext cx="5996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…… pivot ……</a:t>
            </a:r>
            <a:endParaRPr lang="zh-CN" altLang="en-US" sz="4000" b="1" dirty="0"/>
          </a:p>
        </p:txBody>
      </p:sp>
      <p:sp>
        <p:nvSpPr>
          <p:cNvPr id="5" name="椭圆 4"/>
          <p:cNvSpPr/>
          <p:nvPr/>
        </p:nvSpPr>
        <p:spPr>
          <a:xfrm>
            <a:off x="1913860" y="4210493"/>
            <a:ext cx="1722475" cy="882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>
            <a:stCxn id="5" idx="4"/>
          </p:cNvCxnSpPr>
          <p:nvPr/>
        </p:nvCxnSpPr>
        <p:spPr>
          <a:xfrm>
            <a:off x="2775098" y="5092995"/>
            <a:ext cx="483781" cy="58479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75837" y="5433020"/>
            <a:ext cx="260497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What is its relationship with the </a:t>
            </a:r>
            <a:r>
              <a:rPr lang="en-US" altLang="zh-CN" dirty="0" err="1"/>
              <a:t>kth</a:t>
            </a:r>
            <a:r>
              <a:rPr lang="en-US" altLang="zh-CN" dirty="0"/>
              <a:t> smallest element?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070112" y="499730"/>
            <a:ext cx="357253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If the returned index equals to k-1</a:t>
            </a:r>
          </a:p>
          <a:p>
            <a:r>
              <a:rPr lang="en-US" altLang="zh-CN" dirty="0">
                <a:sym typeface="Wingdings" pitchFamily="2" charset="2"/>
              </a:rPr>
              <a:t> Return the pivot element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070111" y="1736218"/>
            <a:ext cx="3572539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If the returned index is greater than k-1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The kth smallest element is at the left side of the pivot element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Partition from left to the old pivot point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070110" y="4077332"/>
            <a:ext cx="3572539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If the returned index is smaller than k-1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The kth smallest element is at the right side of the pivot element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Partition from the old pivot point to the right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528930" y="3767543"/>
            <a:ext cx="1626782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Recursive function</a:t>
            </a:r>
            <a:endParaRPr lang="zh-CN" altLang="en-US" sz="2400" b="1" dirty="0"/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7272670" y="3370521"/>
            <a:ext cx="797440" cy="812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7272670" y="4369981"/>
            <a:ext cx="797442" cy="13078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7272670" y="1423060"/>
            <a:ext cx="797442" cy="2498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25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0" grpId="0" animBg="1"/>
      <p:bldP spid="11" grpId="0" animBg="1"/>
      <p:bldP spid="12" grpId="0" animBg="1"/>
      <p:bldP spid="13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22</a:t>
            </a:fld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1130595" y="629602"/>
            <a:ext cx="993080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dirty="0"/>
              <a:t>#include &lt;</a:t>
            </a:r>
            <a:r>
              <a:rPr lang="en-SG" altLang="zh-CN" dirty="0" err="1"/>
              <a:t>stdio.h</a:t>
            </a:r>
            <a:r>
              <a:rPr lang="en-SG" altLang="zh-CN" dirty="0"/>
              <a:t>&gt;</a:t>
            </a:r>
          </a:p>
          <a:p>
            <a:endParaRPr lang="en-SG" altLang="zh-CN" dirty="0"/>
          </a:p>
          <a:p>
            <a:r>
              <a:rPr lang="en-SG" altLang="zh-CN" dirty="0" err="1"/>
              <a:t>int</a:t>
            </a:r>
            <a:r>
              <a:rPr lang="en-SG" altLang="zh-CN" dirty="0"/>
              <a:t> partition(</a:t>
            </a:r>
            <a:r>
              <a:rPr lang="en-SG" altLang="zh-CN" dirty="0" err="1"/>
              <a:t>int</a:t>
            </a:r>
            <a:r>
              <a:rPr lang="en-SG" altLang="zh-CN" dirty="0"/>
              <a:t> </a:t>
            </a:r>
            <a:r>
              <a:rPr lang="en-SG" altLang="zh-CN" dirty="0" err="1"/>
              <a:t>arr</a:t>
            </a:r>
            <a:r>
              <a:rPr lang="en-SG" altLang="zh-CN" dirty="0"/>
              <a:t>[], </a:t>
            </a:r>
            <a:r>
              <a:rPr lang="en-SG" altLang="zh-CN" dirty="0" err="1"/>
              <a:t>int</a:t>
            </a:r>
            <a:r>
              <a:rPr lang="en-SG" altLang="zh-CN" dirty="0"/>
              <a:t> left, </a:t>
            </a:r>
            <a:r>
              <a:rPr lang="en-SG" altLang="zh-CN" dirty="0" err="1"/>
              <a:t>int</a:t>
            </a:r>
            <a:r>
              <a:rPr lang="en-SG" altLang="zh-CN" dirty="0"/>
              <a:t> right);</a:t>
            </a:r>
          </a:p>
          <a:p>
            <a:endParaRPr lang="en-SG" altLang="zh-CN" dirty="0"/>
          </a:p>
          <a:p>
            <a:r>
              <a:rPr lang="en-SG" altLang="zh-CN" dirty="0" err="1"/>
              <a:t>int</a:t>
            </a:r>
            <a:r>
              <a:rPr lang="en-SG" altLang="zh-CN" dirty="0"/>
              <a:t> </a:t>
            </a:r>
            <a:r>
              <a:rPr lang="en-SG" altLang="zh-CN" dirty="0" err="1"/>
              <a:t>find_kth</a:t>
            </a:r>
            <a:r>
              <a:rPr lang="en-SG" altLang="zh-CN" dirty="0"/>
              <a:t>(</a:t>
            </a:r>
            <a:r>
              <a:rPr lang="en-SG" altLang="zh-CN" dirty="0" err="1"/>
              <a:t>int</a:t>
            </a:r>
            <a:r>
              <a:rPr lang="en-SG" altLang="zh-CN" dirty="0"/>
              <a:t> </a:t>
            </a:r>
            <a:r>
              <a:rPr lang="en-SG" altLang="zh-CN" dirty="0" err="1"/>
              <a:t>arr</a:t>
            </a:r>
            <a:r>
              <a:rPr lang="en-SG" altLang="zh-CN" dirty="0"/>
              <a:t>[], </a:t>
            </a:r>
            <a:r>
              <a:rPr lang="en-SG" altLang="zh-CN" dirty="0" err="1"/>
              <a:t>int</a:t>
            </a:r>
            <a:r>
              <a:rPr lang="en-SG" altLang="zh-CN" dirty="0"/>
              <a:t> left, </a:t>
            </a:r>
            <a:r>
              <a:rPr lang="en-SG" altLang="zh-CN" dirty="0" err="1"/>
              <a:t>int</a:t>
            </a:r>
            <a:r>
              <a:rPr lang="en-SG" altLang="zh-CN" dirty="0"/>
              <a:t> right, </a:t>
            </a:r>
            <a:r>
              <a:rPr lang="en-SG" altLang="zh-CN" dirty="0" err="1"/>
              <a:t>int</a:t>
            </a:r>
            <a:r>
              <a:rPr lang="en-SG" altLang="zh-CN" dirty="0"/>
              <a:t> k) {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int</a:t>
            </a:r>
            <a:r>
              <a:rPr lang="en-SG" altLang="zh-CN" dirty="0"/>
              <a:t> </a:t>
            </a:r>
            <a:r>
              <a:rPr lang="en-SG" altLang="zh-CN" dirty="0" err="1"/>
              <a:t>pivotIndex</a:t>
            </a:r>
            <a:r>
              <a:rPr lang="en-SG" altLang="zh-CN" dirty="0"/>
              <a:t>;</a:t>
            </a:r>
          </a:p>
          <a:p>
            <a:r>
              <a:rPr lang="en-SG" altLang="zh-CN" dirty="0"/>
              <a:t>    if (left==right) {</a:t>
            </a:r>
          </a:p>
          <a:p>
            <a:r>
              <a:rPr lang="en-SG" altLang="zh-CN" dirty="0"/>
              <a:t>        return </a:t>
            </a:r>
            <a:r>
              <a:rPr lang="en-SG" altLang="zh-CN" dirty="0" err="1"/>
              <a:t>arr</a:t>
            </a:r>
            <a:r>
              <a:rPr lang="en-SG" altLang="zh-CN" dirty="0"/>
              <a:t>[left];</a:t>
            </a:r>
          </a:p>
          <a:p>
            <a:r>
              <a:rPr lang="en-SG" altLang="zh-CN" dirty="0"/>
              <a:t>    }</a:t>
            </a:r>
          </a:p>
          <a:p>
            <a:r>
              <a:rPr lang="en-SG" altLang="zh-CN" dirty="0"/>
              <a:t>    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pivotIndex</a:t>
            </a:r>
            <a:r>
              <a:rPr lang="en-SG" altLang="zh-CN" dirty="0"/>
              <a:t> = partition(</a:t>
            </a:r>
            <a:r>
              <a:rPr lang="en-SG" altLang="zh-CN" dirty="0" err="1"/>
              <a:t>arr</a:t>
            </a:r>
            <a:r>
              <a:rPr lang="en-SG" altLang="zh-CN" dirty="0"/>
              <a:t>, left, right);</a:t>
            </a:r>
          </a:p>
          <a:p>
            <a:r>
              <a:rPr lang="en-SG" altLang="zh-CN" dirty="0"/>
              <a:t>    </a:t>
            </a:r>
          </a:p>
          <a:p>
            <a:r>
              <a:rPr lang="en-SG" altLang="zh-CN" dirty="0"/>
              <a:t>    if (k-1==</a:t>
            </a:r>
            <a:r>
              <a:rPr lang="en-SG" altLang="zh-CN" dirty="0" err="1"/>
              <a:t>pivotIndex</a:t>
            </a:r>
            <a:r>
              <a:rPr lang="en-SG" altLang="zh-CN" dirty="0"/>
              <a:t>) {</a:t>
            </a:r>
          </a:p>
          <a:p>
            <a:r>
              <a:rPr lang="en-SG" altLang="zh-CN" dirty="0"/>
              <a:t>        return </a:t>
            </a:r>
            <a:r>
              <a:rPr lang="en-SG" altLang="zh-CN" dirty="0" err="1"/>
              <a:t>arr</a:t>
            </a:r>
            <a:r>
              <a:rPr lang="en-SG" altLang="zh-CN" dirty="0"/>
              <a:t>[</a:t>
            </a:r>
            <a:r>
              <a:rPr lang="en-SG" altLang="zh-CN" dirty="0" err="1"/>
              <a:t>pivotIndex</a:t>
            </a:r>
            <a:r>
              <a:rPr lang="en-SG" altLang="zh-CN" dirty="0"/>
              <a:t>];</a:t>
            </a:r>
          </a:p>
          <a:p>
            <a:r>
              <a:rPr lang="en-SG" altLang="zh-CN" dirty="0"/>
              <a:t>    } else if (k - 1&lt;</a:t>
            </a:r>
            <a:r>
              <a:rPr lang="en-SG" altLang="zh-CN" dirty="0" err="1"/>
              <a:t>pivotIndex</a:t>
            </a:r>
            <a:r>
              <a:rPr lang="en-SG" altLang="zh-CN" dirty="0"/>
              <a:t>) {</a:t>
            </a:r>
          </a:p>
          <a:p>
            <a:r>
              <a:rPr lang="en-SG" altLang="zh-CN" dirty="0"/>
              <a:t>        return </a:t>
            </a:r>
            <a:r>
              <a:rPr lang="en-SG" altLang="zh-CN" dirty="0" err="1"/>
              <a:t>find_kth</a:t>
            </a:r>
            <a:r>
              <a:rPr lang="en-SG" altLang="zh-CN" dirty="0"/>
              <a:t>(</a:t>
            </a:r>
            <a:r>
              <a:rPr lang="en-SG" altLang="zh-CN" dirty="0" err="1"/>
              <a:t>arr</a:t>
            </a:r>
            <a:r>
              <a:rPr lang="en-SG" altLang="zh-CN" dirty="0"/>
              <a:t>, left, pivotIndex-1, k);</a:t>
            </a:r>
          </a:p>
          <a:p>
            <a:r>
              <a:rPr lang="en-SG" altLang="zh-CN" dirty="0"/>
              <a:t>    } else {</a:t>
            </a:r>
          </a:p>
          <a:p>
            <a:r>
              <a:rPr lang="en-SG" altLang="zh-CN" dirty="0"/>
              <a:t>        return </a:t>
            </a:r>
            <a:r>
              <a:rPr lang="en-SG" altLang="zh-CN" dirty="0" err="1"/>
              <a:t>find_kth</a:t>
            </a:r>
            <a:r>
              <a:rPr lang="en-SG" altLang="zh-CN" dirty="0"/>
              <a:t>(</a:t>
            </a:r>
            <a:r>
              <a:rPr lang="en-SG" altLang="zh-CN" dirty="0" err="1"/>
              <a:t>arr</a:t>
            </a:r>
            <a:r>
              <a:rPr lang="en-SG" altLang="zh-CN" dirty="0"/>
              <a:t>, pivotIndex+1, right, k);</a:t>
            </a:r>
          </a:p>
          <a:p>
            <a:r>
              <a:rPr lang="en-SG" altLang="zh-CN" dirty="0"/>
              <a:t>    }</a:t>
            </a:r>
          </a:p>
          <a:p>
            <a:r>
              <a:rPr lang="en-SG" altLang="zh-CN" dirty="0"/>
              <a:t>}</a:t>
            </a:r>
          </a:p>
          <a:p>
            <a:endParaRPr lang="en-SG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8070112" y="499730"/>
            <a:ext cx="357253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If the returned index equals to k-1</a:t>
            </a:r>
          </a:p>
          <a:p>
            <a:r>
              <a:rPr lang="en-US" altLang="zh-CN" dirty="0">
                <a:sym typeface="Wingdings" pitchFamily="2" charset="2"/>
              </a:rPr>
              <a:t> Return the pivot element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070112" y="4008221"/>
            <a:ext cx="3572539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If the returned index is smaller than k-1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The kth smallest element is at the right side of the pivot element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Partition from the old pivot point to the right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070110" y="1736217"/>
            <a:ext cx="3572539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If the returned index is greater than k-1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The kth smallest element is at the left side of the pivot element</a:t>
            </a:r>
          </a:p>
          <a:p>
            <a:pPr marL="285750" indent="-285750">
              <a:buFont typeface="Wingdings"/>
              <a:buChar char="è"/>
            </a:pPr>
            <a:r>
              <a:rPr lang="en-US" altLang="zh-CN" dirty="0">
                <a:sym typeface="Wingdings" pitchFamily="2" charset="2"/>
              </a:rPr>
              <a:t>Partition from left to the old pivot point</a:t>
            </a:r>
          </a:p>
          <a:p>
            <a:pPr marL="285750" indent="-285750">
              <a:buFont typeface="Wingdings"/>
              <a:buChar char="è"/>
            </a:pPr>
            <a:endParaRPr lang="en-US" altLang="zh-CN" dirty="0">
              <a:sym typeface="Wingdings" pitchFamily="2" charset="2"/>
            </a:endParaRPr>
          </a:p>
        </p:txBody>
      </p:sp>
      <p:cxnSp>
        <p:nvCxnSpPr>
          <p:cNvPr id="7" name="直接箭头连接符 6"/>
          <p:cNvCxnSpPr>
            <a:cxnSpLocks/>
          </p:cNvCxnSpPr>
          <p:nvPr/>
        </p:nvCxnSpPr>
        <p:spPr>
          <a:xfrm flipH="1">
            <a:off x="5211271" y="2596985"/>
            <a:ext cx="2858840" cy="2130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cxnSpLocks/>
          </p:cNvCxnSpPr>
          <p:nvPr/>
        </p:nvCxnSpPr>
        <p:spPr>
          <a:xfrm flipH="1">
            <a:off x="5696793" y="5023883"/>
            <a:ext cx="2373317" cy="4706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cxnSpLocks/>
          </p:cNvCxnSpPr>
          <p:nvPr/>
        </p:nvCxnSpPr>
        <p:spPr>
          <a:xfrm flipH="1">
            <a:off x="3762796" y="961395"/>
            <a:ext cx="4307314" cy="3262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35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23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818736-CF6B-40B1-9865-77964FA9E9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07" b="81427"/>
          <a:stretch/>
        </p:blipFill>
        <p:spPr>
          <a:xfrm>
            <a:off x="280658" y="263254"/>
            <a:ext cx="10240118" cy="14141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D7339D-2415-4B5F-88A2-92BDBCE5774E}"/>
              </a:ext>
            </a:extLst>
          </p:cNvPr>
          <p:cNvSpPr txBox="1"/>
          <p:nvPr/>
        </p:nvSpPr>
        <p:spPr>
          <a:xfrm>
            <a:off x="1149449" y="1677385"/>
            <a:ext cx="1455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7097" y="2606715"/>
            <a:ext cx="8963247" cy="2862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void reverse(char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[],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left,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right) {</a:t>
            </a:r>
          </a:p>
          <a:p>
            <a:r>
              <a:rPr lang="en-US" altLang="zh-CN" sz="2000" dirty="0"/>
              <a:t>    while (left&lt;right) {</a:t>
            </a:r>
          </a:p>
          <a:p>
            <a:r>
              <a:rPr lang="en-US" altLang="zh-CN" sz="2000" dirty="0"/>
              <a:t>        char temp=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[left];</a:t>
            </a:r>
          </a:p>
          <a:p>
            <a:r>
              <a:rPr lang="en-US" altLang="zh-CN" sz="2000" dirty="0"/>
              <a:t>       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[left]=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[right];</a:t>
            </a:r>
          </a:p>
          <a:p>
            <a:r>
              <a:rPr lang="en-US" altLang="zh-CN" sz="2000" dirty="0"/>
              <a:t>       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[right]=temp;</a:t>
            </a:r>
          </a:p>
          <a:p>
            <a:r>
              <a:rPr lang="en-US" altLang="zh-CN" sz="2000" dirty="0"/>
              <a:t>        left++;</a:t>
            </a:r>
          </a:p>
          <a:p>
            <a:r>
              <a:rPr lang="en-US" altLang="zh-CN" sz="2000" dirty="0"/>
              <a:t>        right--;</a:t>
            </a:r>
          </a:p>
          <a:p>
            <a:r>
              <a:rPr lang="en-US" altLang="zh-CN" sz="2000" dirty="0"/>
              <a:t>    }</a:t>
            </a:r>
          </a:p>
          <a:p>
            <a:r>
              <a:rPr lang="en-US" altLang="zh-CN" sz="20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F35C7-9CDD-D452-0F25-A1904052CF5F}"/>
              </a:ext>
            </a:extLst>
          </p:cNvPr>
          <p:cNvSpPr txBox="1"/>
          <p:nvPr/>
        </p:nvSpPr>
        <p:spPr>
          <a:xfrm>
            <a:off x="5895109" y="1853748"/>
            <a:ext cx="3643746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本质：给对应的两个</a:t>
            </a:r>
            <a:r>
              <a:rPr lang="en-US" altLang="zh-CN" dirty="0"/>
              <a:t>char</a:t>
            </a:r>
            <a:r>
              <a:rPr lang="zh-CN" altLang="en-US" dirty="0"/>
              <a:t>交换位置</a:t>
            </a:r>
            <a:endParaRPr lang="en-US" altLang="zh-CN" dirty="0"/>
          </a:p>
          <a:p>
            <a:r>
              <a:rPr lang="zh-CN" altLang="en-US" dirty="0"/>
              <a:t>（个数为奇</a:t>
            </a:r>
            <a:r>
              <a:rPr lang="en-US" altLang="zh-CN" dirty="0"/>
              <a:t>/</a:t>
            </a:r>
            <a:r>
              <a:rPr lang="zh-CN" altLang="en-US" dirty="0"/>
              <a:t>偶均同理）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040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E7C5E-27FD-4821-BE1A-19077847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24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11187-DDAB-4D80-A2EF-8AD5D8D9C1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4042"/>
          <a:stretch/>
        </p:blipFill>
        <p:spPr>
          <a:xfrm>
            <a:off x="105715" y="282100"/>
            <a:ext cx="11214611" cy="2879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7422BE-0800-45FA-B609-575211844785}"/>
              </a:ext>
            </a:extLst>
          </p:cNvPr>
          <p:cNvSpPr txBox="1"/>
          <p:nvPr/>
        </p:nvSpPr>
        <p:spPr>
          <a:xfrm>
            <a:off x="933856" y="3161491"/>
            <a:ext cx="1458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4912" y="3561601"/>
            <a:ext cx="413606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The fox jumps over the lazy dog</a:t>
            </a:r>
            <a:endParaRPr lang="zh-CN" altLang="en-US" dirty="0"/>
          </a:p>
        </p:txBody>
      </p:sp>
      <p:sp>
        <p:nvSpPr>
          <p:cNvPr id="4" name="右箭头 3"/>
          <p:cNvSpPr/>
          <p:nvPr/>
        </p:nvSpPr>
        <p:spPr>
          <a:xfrm>
            <a:off x="4890977" y="3636335"/>
            <a:ext cx="822043" cy="2126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30187" y="3561601"/>
            <a:ext cx="413606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god </a:t>
            </a:r>
            <a:r>
              <a:rPr lang="en-US" altLang="zh-CN" dirty="0" err="1"/>
              <a:t>yzal</a:t>
            </a:r>
            <a:r>
              <a:rPr lang="en-US" altLang="zh-CN" dirty="0"/>
              <a:t> </a:t>
            </a:r>
            <a:r>
              <a:rPr lang="en-US" altLang="zh-CN" dirty="0" err="1"/>
              <a:t>eht</a:t>
            </a:r>
            <a:r>
              <a:rPr lang="en-US" altLang="zh-CN" dirty="0"/>
              <a:t> </a:t>
            </a:r>
            <a:r>
              <a:rPr lang="en-US" altLang="zh-CN" dirty="0" err="1"/>
              <a:t>revo</a:t>
            </a:r>
            <a:r>
              <a:rPr lang="en-US" altLang="zh-CN" dirty="0"/>
              <a:t> </a:t>
            </a:r>
            <a:r>
              <a:rPr lang="en-US" altLang="zh-CN" dirty="0" err="1"/>
              <a:t>spmuj</a:t>
            </a:r>
            <a:r>
              <a:rPr lang="en-US" altLang="zh-CN" dirty="0"/>
              <a:t> </a:t>
            </a:r>
            <a:r>
              <a:rPr lang="en-US" altLang="zh-CN" dirty="0" err="1"/>
              <a:t>xof</a:t>
            </a:r>
            <a:r>
              <a:rPr lang="en-US" altLang="zh-CN" dirty="0"/>
              <a:t> </a:t>
            </a:r>
            <a:r>
              <a:rPr lang="en-US" altLang="zh-CN" dirty="0" err="1"/>
              <a:t>ehT</a:t>
            </a:r>
            <a:endParaRPr lang="zh-CN" altLang="en-US" dirty="0"/>
          </a:p>
        </p:txBody>
      </p:sp>
      <p:sp>
        <p:nvSpPr>
          <p:cNvPr id="8" name="下箭头 7"/>
          <p:cNvSpPr/>
          <p:nvPr/>
        </p:nvSpPr>
        <p:spPr>
          <a:xfrm>
            <a:off x="7166344" y="3930933"/>
            <a:ext cx="372140" cy="1023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713020" y="5053704"/>
            <a:ext cx="413606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dog lazy the over jumps fox The 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636474" y="4001631"/>
            <a:ext cx="2963502" cy="646331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Reverse the entire string</a:t>
            </a:r>
            <a:endParaRPr lang="en-SG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7672411" y="4119686"/>
            <a:ext cx="2963502" cy="646331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SG" altLang="zh-CN" dirty="0"/>
              <a:t>Reverse each word in the reversed 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3F21F-4C01-169A-160A-4041E06D0243}"/>
              </a:ext>
            </a:extLst>
          </p:cNvPr>
          <p:cNvSpPr txBox="1"/>
          <p:nvPr/>
        </p:nvSpPr>
        <p:spPr>
          <a:xfrm>
            <a:off x="998009" y="5238370"/>
            <a:ext cx="4051971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关键：利用上一问的</a:t>
            </a:r>
            <a:r>
              <a:rPr lang="en-US" altLang="zh-CN" dirty="0"/>
              <a:t>reverse function</a:t>
            </a:r>
          </a:p>
        </p:txBody>
      </p:sp>
    </p:spTree>
    <p:extLst>
      <p:ext uri="{BB962C8B-B14F-4D97-AF65-F5344CB8AC3E}">
        <p14:creationId xmlns:p14="http://schemas.microsoft.com/office/powerpoint/2010/main" val="321437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25</a:t>
            </a:fld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1025357" y="717013"/>
            <a:ext cx="7448686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altLang="zh-CN" dirty="0"/>
              <a:t>void </a:t>
            </a:r>
            <a:r>
              <a:rPr lang="en-SG" altLang="zh-CN" dirty="0" err="1"/>
              <a:t>reverse_string</a:t>
            </a:r>
            <a:r>
              <a:rPr lang="en-SG" altLang="zh-CN" dirty="0"/>
              <a:t>(char </a:t>
            </a:r>
            <a:r>
              <a:rPr lang="en-SG" altLang="zh-CN" dirty="0" err="1"/>
              <a:t>str</a:t>
            </a:r>
            <a:r>
              <a:rPr lang="en-SG" altLang="zh-CN" dirty="0"/>
              <a:t>[]) {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int</a:t>
            </a:r>
            <a:r>
              <a:rPr lang="en-SG" altLang="zh-CN" dirty="0"/>
              <a:t> n=</a:t>
            </a:r>
            <a:r>
              <a:rPr lang="en-SG" altLang="zh-CN" dirty="0" err="1"/>
              <a:t>strlen</a:t>
            </a:r>
            <a:r>
              <a:rPr lang="en-SG" altLang="zh-CN" dirty="0"/>
              <a:t>(</a:t>
            </a:r>
            <a:r>
              <a:rPr lang="en-SG" altLang="zh-CN" dirty="0" err="1"/>
              <a:t>str</a:t>
            </a:r>
            <a:r>
              <a:rPr lang="en-SG" altLang="zh-CN" dirty="0"/>
              <a:t>);</a:t>
            </a:r>
          </a:p>
          <a:p>
            <a:endParaRPr lang="en-SG" altLang="zh-CN" dirty="0"/>
          </a:p>
          <a:p>
            <a:r>
              <a:rPr lang="en-SG" altLang="zh-CN" dirty="0"/>
              <a:t>    // Step 1: Reverse the entire string</a:t>
            </a:r>
          </a:p>
          <a:p>
            <a:r>
              <a:rPr lang="en-SG" altLang="zh-CN" dirty="0"/>
              <a:t>    reverse(</a:t>
            </a:r>
            <a:r>
              <a:rPr lang="en-SG" altLang="zh-CN" dirty="0" err="1"/>
              <a:t>str</a:t>
            </a:r>
            <a:r>
              <a:rPr lang="en-SG" altLang="zh-CN" dirty="0"/>
              <a:t>, 0, n-1);</a:t>
            </a:r>
          </a:p>
          <a:p>
            <a:endParaRPr lang="en-SG" altLang="zh-CN" dirty="0"/>
          </a:p>
          <a:p>
            <a:r>
              <a:rPr lang="en-SG" altLang="zh-CN" dirty="0"/>
              <a:t>    // Step 2: Reverse each word in the reversed string</a:t>
            </a:r>
          </a:p>
          <a:p>
            <a:r>
              <a:rPr lang="en-SG" altLang="zh-CN" dirty="0"/>
              <a:t>    </a:t>
            </a:r>
            <a:r>
              <a:rPr lang="en-SG" altLang="zh-CN" dirty="0" err="1"/>
              <a:t>int</a:t>
            </a:r>
            <a:r>
              <a:rPr lang="en-SG" altLang="zh-CN" dirty="0"/>
              <a:t> start=0;</a:t>
            </a:r>
          </a:p>
          <a:p>
            <a:r>
              <a:rPr lang="en-SG" altLang="zh-CN" dirty="0"/>
              <a:t>    for (</a:t>
            </a:r>
            <a:r>
              <a:rPr lang="en-SG" altLang="zh-CN" dirty="0" err="1"/>
              <a:t>int</a:t>
            </a:r>
            <a:r>
              <a:rPr lang="en-SG" altLang="zh-CN" dirty="0"/>
              <a:t> i=0; i&lt;=n; i++) {</a:t>
            </a:r>
          </a:p>
          <a:p>
            <a:r>
              <a:rPr lang="en-SG" altLang="zh-CN" dirty="0"/>
              <a:t>        if (</a:t>
            </a:r>
            <a:r>
              <a:rPr lang="en-SG" altLang="zh-CN" dirty="0" err="1"/>
              <a:t>str</a:t>
            </a:r>
            <a:r>
              <a:rPr lang="en-SG" altLang="zh-CN" dirty="0"/>
              <a:t>[i]== </a:t>
            </a:r>
            <a:r>
              <a:rPr lang="en-US" altLang="zh-CN" dirty="0"/>
              <a:t>‘ ’</a:t>
            </a:r>
            <a:r>
              <a:rPr lang="en-SG" altLang="zh-CN" dirty="0"/>
              <a:t> || </a:t>
            </a:r>
            <a:r>
              <a:rPr lang="en-SG" altLang="zh-CN" dirty="0" err="1"/>
              <a:t>str</a:t>
            </a:r>
            <a:r>
              <a:rPr lang="en-SG" altLang="zh-CN" dirty="0"/>
              <a:t>[i]==</a:t>
            </a:r>
            <a:r>
              <a:rPr lang="en-US" altLang="zh-CN" dirty="0"/>
              <a:t>‘\0’</a:t>
            </a:r>
            <a:r>
              <a:rPr lang="en-SG" altLang="zh-CN" dirty="0"/>
              <a:t>) {</a:t>
            </a:r>
          </a:p>
          <a:p>
            <a:r>
              <a:rPr lang="en-SG" altLang="zh-CN" dirty="0"/>
              <a:t>            reverse(</a:t>
            </a:r>
            <a:r>
              <a:rPr lang="en-SG" altLang="zh-CN" dirty="0" err="1"/>
              <a:t>str</a:t>
            </a:r>
            <a:r>
              <a:rPr lang="en-SG" altLang="zh-CN" dirty="0"/>
              <a:t>, start, i - 1);</a:t>
            </a:r>
          </a:p>
          <a:p>
            <a:r>
              <a:rPr lang="en-SG" altLang="zh-CN" dirty="0"/>
              <a:t>            start=i+1;</a:t>
            </a:r>
          </a:p>
          <a:p>
            <a:r>
              <a:rPr lang="en-SG" altLang="zh-CN" dirty="0"/>
              <a:t>        }</a:t>
            </a:r>
          </a:p>
          <a:p>
            <a:r>
              <a:rPr lang="en-SG" altLang="zh-CN" dirty="0"/>
              <a:t>    }</a:t>
            </a:r>
          </a:p>
          <a:p>
            <a:r>
              <a:rPr lang="en-SG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01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26</a:t>
            </a:fld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E375EC-F9CF-48D3-818C-8104F3434C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5" b="59574"/>
          <a:stretch/>
        </p:blipFill>
        <p:spPr>
          <a:xfrm>
            <a:off x="1044349" y="223736"/>
            <a:ext cx="9105068" cy="4163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6440BE-410F-419B-B759-D891B28EC6FE}"/>
              </a:ext>
            </a:extLst>
          </p:cNvPr>
          <p:cNvSpPr txBox="1"/>
          <p:nvPr/>
        </p:nvSpPr>
        <p:spPr>
          <a:xfrm>
            <a:off x="1274324" y="4289898"/>
            <a:ext cx="345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73972" y="4462793"/>
            <a:ext cx="5410772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What the function should do:</a:t>
            </a:r>
          </a:p>
          <a:p>
            <a:pPr marL="342900" indent="-342900">
              <a:buFontTx/>
              <a:buAutoNum type="arabicParenR"/>
            </a:pPr>
            <a:r>
              <a:rPr lang="en-US" altLang="zh-CN" dirty="0"/>
              <a:t>Check all the columns whether the numbers are from 1 to 9.</a:t>
            </a:r>
          </a:p>
          <a:p>
            <a:pPr marL="342900" indent="-342900">
              <a:buFontTx/>
              <a:buAutoNum type="arabicParenR"/>
            </a:pPr>
            <a:r>
              <a:rPr lang="en-US" altLang="zh-CN" dirty="0"/>
              <a:t>Check all the rows whether the numbers are from 1 to 9.</a:t>
            </a:r>
          </a:p>
          <a:p>
            <a:pPr marL="342900" indent="-342900">
              <a:buAutoNum type="arabicParenR"/>
            </a:pPr>
            <a:r>
              <a:rPr lang="en-US" altLang="zh-CN" dirty="0"/>
              <a:t>Check all the small grids whether the numbers are from 1 to 9.</a:t>
            </a:r>
          </a:p>
        </p:txBody>
      </p:sp>
    </p:spTree>
    <p:extLst>
      <p:ext uri="{BB962C8B-B14F-4D97-AF65-F5344CB8AC3E}">
        <p14:creationId xmlns:p14="http://schemas.microsoft.com/office/powerpoint/2010/main" val="422124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27</a:t>
            </a:fld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E899F-253B-40AF-97D7-29DB25789824}"/>
              </a:ext>
            </a:extLst>
          </p:cNvPr>
          <p:cNvSpPr txBox="1"/>
          <p:nvPr/>
        </p:nvSpPr>
        <p:spPr>
          <a:xfrm>
            <a:off x="288941" y="122681"/>
            <a:ext cx="345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406" y="887607"/>
            <a:ext cx="60937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 </a:t>
            </a:r>
            <a:r>
              <a:rPr lang="en-US" altLang="zh-CN" dirty="0" err="1"/>
              <a:t>valid_sudoku</a:t>
            </a:r>
            <a:r>
              <a:rPr lang="en-US" altLang="zh-CN" dirty="0"/>
              <a:t>(int </a:t>
            </a:r>
            <a:r>
              <a:rPr lang="en-US" altLang="zh-CN" dirty="0" err="1"/>
              <a:t>arr</a:t>
            </a:r>
            <a:r>
              <a:rPr lang="en-US" altLang="zh-CN" dirty="0"/>
              <a:t>[][9]){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check[9]={0},</a:t>
            </a:r>
            <a:r>
              <a:rPr lang="en-US" altLang="zh-CN" dirty="0" err="1"/>
              <a:t>i,j,k,p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//check the columns</a:t>
            </a:r>
          </a:p>
          <a:p>
            <a:r>
              <a:rPr lang="en-US" altLang="zh-CN" dirty="0"/>
              <a:t>	for(i=0; i&lt;9; i++){</a:t>
            </a:r>
          </a:p>
          <a:p>
            <a:r>
              <a:rPr lang="en-US" altLang="zh-CN" dirty="0"/>
              <a:t>	   for(j=0; j&lt;9; j++){</a:t>
            </a:r>
          </a:p>
          <a:p>
            <a:r>
              <a:rPr lang="en-US" altLang="zh-CN" dirty="0"/>
              <a:t>                          </a:t>
            </a:r>
            <a:r>
              <a:rPr lang="en-US" altLang="zh-CN" dirty="0">
                <a:solidFill>
                  <a:srgbClr val="FF0000"/>
                </a:solidFill>
              </a:rPr>
              <a:t>if (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[i][j] &lt; 1 || 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[i][j] &gt; 9)     return 0;</a:t>
            </a:r>
          </a:p>
          <a:p>
            <a:r>
              <a:rPr lang="en-US" altLang="zh-CN" dirty="0"/>
              <a:t>	      check[</a:t>
            </a:r>
            <a:r>
              <a:rPr lang="en-US" altLang="zh-CN" dirty="0" err="1"/>
              <a:t>arr</a:t>
            </a:r>
            <a:r>
              <a:rPr lang="en-US" altLang="zh-CN" dirty="0"/>
              <a:t>[i][j]-1]++;</a:t>
            </a:r>
          </a:p>
          <a:p>
            <a:r>
              <a:rPr lang="en-US" altLang="zh-CN" dirty="0"/>
              <a:t>	    }</a:t>
            </a:r>
          </a:p>
          <a:p>
            <a:endParaRPr lang="en-US" altLang="zh-CN" dirty="0"/>
          </a:p>
          <a:p>
            <a:r>
              <a:rPr lang="en-US" altLang="zh-CN" dirty="0"/>
              <a:t>	   for(j=0; j&lt;9; j++){</a:t>
            </a:r>
          </a:p>
          <a:p>
            <a:r>
              <a:rPr lang="en-US" altLang="zh-CN" dirty="0"/>
              <a:t>	       if(check[j]!=1) return 0;</a:t>
            </a:r>
          </a:p>
          <a:p>
            <a:r>
              <a:rPr lang="en-US" altLang="zh-CN" dirty="0"/>
              <a:t>	       check[j]=0;</a:t>
            </a:r>
          </a:p>
          <a:p>
            <a:r>
              <a:rPr lang="en-US" altLang="zh-CN" dirty="0"/>
              <a:t>	    }</a:t>
            </a:r>
          </a:p>
          <a:p>
            <a:r>
              <a:rPr lang="en-US" altLang="zh-CN" dirty="0"/>
              <a:t>	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10731" y="880864"/>
            <a:ext cx="57670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//check the rows</a:t>
            </a:r>
          </a:p>
          <a:p>
            <a:r>
              <a:rPr lang="en-US" altLang="zh-CN" dirty="0"/>
              <a:t>for(i=0; i&lt;9; i++){</a:t>
            </a:r>
          </a:p>
          <a:p>
            <a:r>
              <a:rPr lang="en-US" altLang="zh-CN" dirty="0"/>
              <a:t>        for(j=0; j&lt;9; j++){</a:t>
            </a:r>
          </a:p>
          <a:p>
            <a:r>
              <a:rPr lang="en-US" altLang="zh-CN" dirty="0"/>
              <a:t>                    </a:t>
            </a:r>
            <a:r>
              <a:rPr lang="en-US" altLang="zh-CN" dirty="0">
                <a:solidFill>
                  <a:srgbClr val="FF0000"/>
                </a:solidFill>
              </a:rPr>
              <a:t>if (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[j][i] &lt; 1 || 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[j][i] &gt; 9)      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                          return 0;</a:t>
            </a:r>
          </a:p>
          <a:p>
            <a:r>
              <a:rPr lang="en-US" altLang="zh-CN" dirty="0"/>
              <a:t>	      check[</a:t>
            </a:r>
            <a:r>
              <a:rPr lang="en-US" altLang="zh-CN" dirty="0" err="1"/>
              <a:t>arr</a:t>
            </a:r>
            <a:r>
              <a:rPr lang="en-US" altLang="zh-CN" dirty="0"/>
              <a:t>[j][i]-1]++;</a:t>
            </a:r>
          </a:p>
          <a:p>
            <a:r>
              <a:rPr lang="en-US" altLang="zh-CN" dirty="0"/>
              <a:t>          }</a:t>
            </a:r>
          </a:p>
          <a:p>
            <a:r>
              <a:rPr lang="en-US" altLang="zh-CN" dirty="0"/>
              <a:t>         for(j=0; j&lt;9; j++){</a:t>
            </a:r>
          </a:p>
          <a:p>
            <a:r>
              <a:rPr lang="en-US" altLang="zh-CN" dirty="0"/>
              <a:t>                     if(check[j]!=1) return 0;</a:t>
            </a:r>
          </a:p>
          <a:p>
            <a:r>
              <a:rPr lang="en-US" altLang="zh-CN" dirty="0"/>
              <a:t>	 check[j]=0;</a:t>
            </a:r>
          </a:p>
          <a:p>
            <a:r>
              <a:rPr lang="en-US" altLang="zh-CN" dirty="0"/>
              <a:t>          }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5282" y="4961299"/>
            <a:ext cx="4567859" cy="13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Need to check whether the number is within the range, or check[</a:t>
            </a:r>
            <a:r>
              <a:rPr lang="en-US" altLang="zh-CN" sz="2000" b="1" dirty="0" err="1">
                <a:solidFill>
                  <a:srgbClr val="FF0000"/>
                </a:solidFill>
              </a:rPr>
              <a:t>arr</a:t>
            </a:r>
            <a:r>
              <a:rPr lang="en-US" altLang="zh-CN" sz="2000" b="1" dirty="0">
                <a:solidFill>
                  <a:srgbClr val="FF0000"/>
                </a:solidFill>
              </a:rPr>
              <a:t>[j][i]-1] may cause trouble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95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F3561-86E1-4FE1-9480-EC9BE64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28</a:t>
            </a:fld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E899F-253B-40AF-97D7-29DB25789824}"/>
              </a:ext>
            </a:extLst>
          </p:cNvPr>
          <p:cNvSpPr txBox="1"/>
          <p:nvPr/>
        </p:nvSpPr>
        <p:spPr>
          <a:xfrm>
            <a:off x="6128426" y="505839"/>
            <a:ext cx="345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Answer: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7730" y="1041149"/>
            <a:ext cx="53777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//check the small grids</a:t>
            </a:r>
          </a:p>
          <a:p>
            <a:r>
              <a:rPr lang="en-US" altLang="zh-CN" dirty="0"/>
              <a:t>for(k=0; k&lt;3; k++){</a:t>
            </a:r>
          </a:p>
          <a:p>
            <a:r>
              <a:rPr lang="en-US" altLang="zh-CN" dirty="0"/>
              <a:t>   for(p=0; p&lt;3; p++){</a:t>
            </a:r>
          </a:p>
          <a:p>
            <a:r>
              <a:rPr lang="en-US" altLang="zh-CN" dirty="0"/>
              <a:t>	for(i=p*3; i&lt;p*3+3; i++){</a:t>
            </a:r>
          </a:p>
          <a:p>
            <a:r>
              <a:rPr lang="en-US" altLang="zh-CN" dirty="0"/>
              <a:t>	   for(j=k*3; j&lt;k*3+3; j++){</a:t>
            </a:r>
          </a:p>
          <a:p>
            <a:r>
              <a:rPr lang="en-US" altLang="zh-CN" dirty="0"/>
              <a:t>	  </a:t>
            </a:r>
            <a:r>
              <a:rPr lang="en-US" altLang="zh-CN" dirty="0">
                <a:solidFill>
                  <a:srgbClr val="FF0000"/>
                </a:solidFill>
              </a:rPr>
              <a:t>if (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[i][j] &lt; 1 || 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[i][j] &gt; 9)      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        return false;</a:t>
            </a:r>
          </a:p>
          <a:p>
            <a:r>
              <a:rPr lang="en-US" altLang="zh-CN" dirty="0"/>
              <a:t>	      check[</a:t>
            </a:r>
            <a:r>
              <a:rPr lang="en-US" altLang="zh-CN" dirty="0" err="1"/>
              <a:t>arr</a:t>
            </a:r>
            <a:r>
              <a:rPr lang="en-US" altLang="zh-CN" dirty="0"/>
              <a:t>[i][j]-1]++;</a:t>
            </a:r>
          </a:p>
          <a:p>
            <a:r>
              <a:rPr lang="en-US" altLang="zh-CN" dirty="0"/>
              <a:t>	    }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for(j=0; j&lt;9; j++){</a:t>
            </a:r>
          </a:p>
          <a:p>
            <a:r>
              <a:rPr lang="en-US" altLang="zh-CN" dirty="0"/>
              <a:t>                               if(check[j]!=1) return 0;</a:t>
            </a:r>
          </a:p>
          <a:p>
            <a:r>
              <a:rPr lang="en-US" altLang="zh-CN" dirty="0"/>
              <a:t>	           check[j] = 0;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   }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return 1;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297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EEED-7725-672C-BDF4-88EC3D2F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08A0-5B4D-CC92-9C6C-0D5344B3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82" y="332292"/>
            <a:ext cx="11766717" cy="49600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 1 Zombie Island Apocalypse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僵尸岛启示录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(Part B)</a:t>
            </a:r>
            <a:endParaRPr lang="en-S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FB1CF-770C-5BE3-BFF9-CFA7BB88E2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9320" y="1103405"/>
                <a:ext cx="10207275" cy="305543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Just when you thought that the world was recovering from COVID-19, a new zombie apocalypse has broken out on a desert island.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outbreak starts on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day 0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one infected person (zombie). The rate of the zombie infection is modelled by a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On each new day, the zombies will infect an additional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times the existing zombie population, rounded up. You may assume the function </a:t>
                </a:r>
                <a:r>
                  <a:rPr lang="en-US" sz="1800" dirty="0">
                    <a:latin typeface="Courier"/>
                    <a:cs typeface="Times New Roman" panose="02020603050405020304" pitchFamily="18" charset="0"/>
                  </a:rPr>
                  <a:t>int ceil(double)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available to round up.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SG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=0.5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sequence of zombie population is 1, 2, 3, 5, 8, 12, 18, 27, 41, 62, 93, ...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SG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=1.0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sequence of zombie population is 1, 2, 4, 8, 16, 32, 64, 128, 256, 512, 1024, ...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SG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=2.0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sequence of zombie population is 1, 3, 9, 27, 81, 243, 729, 2187, 6561, 19683, ...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FB1CF-770C-5BE3-BFF9-CFA7BB88E2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9320" y="1103405"/>
                <a:ext cx="10207275" cy="3055432"/>
              </a:xfrm>
              <a:blipFill>
                <a:blip r:embed="rId3"/>
                <a:stretch>
                  <a:fillRect l="-478" t="-1796" r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05456-CD60-F7AE-F075-E317D909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11801"/>
            <a:ext cx="274320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29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B875F6B-3F9F-6445-1A84-889A86E086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7448" y="4146990"/>
                <a:ext cx="8573451" cy="14423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Implement a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RECURSIVE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>
                    <a:latin typeface="Courier"/>
                    <a:cs typeface="Times New Roman" panose="02020603050405020304" pitchFamily="18" charset="0"/>
                  </a:rPr>
                  <a:t>int zombie(double r0, int day)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takes as input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 and a day. It returns the number of zombies on the island on the given day. E.g., zombie(0.5, 6) returns 18.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function should be purely recursive, i.e. no loops or using any helper function.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B875F6B-3F9F-6445-1A84-889A86E08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48" y="4146990"/>
                <a:ext cx="8573451" cy="1442391"/>
              </a:xfrm>
              <a:prstGeom prst="rect">
                <a:avLst/>
              </a:prstGeom>
              <a:blipFill>
                <a:blip r:embed="rId4"/>
                <a:stretch>
                  <a:fillRect l="-1138" t="-5907" r="-1565" b="-70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1">
            <a:extLst>
              <a:ext uri="{FF2B5EF4-FFF2-40B4-BE49-F238E27FC236}">
                <a16:creationId xmlns:a16="http://schemas.microsoft.com/office/drawing/2014/main" id="{C5B3BB5F-4C05-42C0-8D96-70884BA50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1629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40757-6518-8BF5-11DE-4E5420C3D99B}"/>
              </a:ext>
            </a:extLst>
          </p:cNvPr>
          <p:cNvSpPr txBox="1"/>
          <p:nvPr/>
        </p:nvSpPr>
        <p:spPr>
          <a:xfrm>
            <a:off x="8950036" y="2616510"/>
            <a:ext cx="292330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f(n-1) + roundup[f(n-1) * r0 ]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42FC7-336C-C6A6-4DE2-2EC758C0DAB1}"/>
              </a:ext>
            </a:extLst>
          </p:cNvPr>
          <p:cNvSpPr txBox="1"/>
          <p:nvPr/>
        </p:nvSpPr>
        <p:spPr>
          <a:xfrm>
            <a:off x="8950035" y="4158837"/>
            <a:ext cx="292330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Base case: day = 0</a:t>
            </a:r>
          </a:p>
        </p:txBody>
      </p:sp>
    </p:spTree>
    <p:extLst>
      <p:ext uri="{BB962C8B-B14F-4D97-AF65-F5344CB8AC3E}">
        <p14:creationId xmlns:p14="http://schemas.microsoft.com/office/powerpoint/2010/main" val="77045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D3A23-54C0-6566-F041-14DDBEEF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2E35-E1A3-9683-E380-C088A282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76" y="95697"/>
            <a:ext cx="10515600" cy="49600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 1 Zombie Island Apocalypse (Part B)</a:t>
            </a:r>
            <a:endParaRPr lang="en-S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C1B021-F9E1-9C26-39EE-045C5C3E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2741" y="6398880"/>
            <a:ext cx="274320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30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45D654-9268-D181-2876-64E292057E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2532" y="570284"/>
                <a:ext cx="9535087" cy="14423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Implement a </a:t>
                </a:r>
                <a:r>
                  <a:rPr lang="en-US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RECURSIVE</a:t>
                </a:r>
                <a:r>
                  <a:rPr lang="en-US" sz="1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</a:t>
                </a:r>
                <a:r>
                  <a:rPr lang="en-US" sz="1800" dirty="0">
                    <a:latin typeface="Courier"/>
                    <a:cs typeface="Times New Roman" panose="02020603050405020304" pitchFamily="18" charset="0"/>
                  </a:rPr>
                  <a:t>int zombie(double r0, int day)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takes as input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 and a day. It returns the number of zombies on the island on the given day. E.g., zombie(0.5, 6) returns 18.</a:t>
                </a:r>
                <a:r>
                  <a:rPr lang="en-US" sz="1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(0.5, 3) should give 5.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function should be purely recursive, i.e. no loops or using any helper function.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45D654-9268-D181-2876-64E292057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532" y="570284"/>
                <a:ext cx="9535087" cy="1442391"/>
              </a:xfrm>
              <a:prstGeom prst="rect">
                <a:avLst/>
              </a:prstGeom>
              <a:blipFill>
                <a:blip r:embed="rId3"/>
                <a:stretch>
                  <a:fillRect l="-575" t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A66188F-C5BD-4FA1-9DE5-F36936F14154}"/>
              </a:ext>
            </a:extLst>
          </p:cNvPr>
          <p:cNvSpPr txBox="1"/>
          <p:nvPr/>
        </p:nvSpPr>
        <p:spPr>
          <a:xfrm>
            <a:off x="387333" y="1654834"/>
            <a:ext cx="102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6815" y="1823040"/>
            <a:ext cx="556865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/>
              <a:t>#include &lt;</a:t>
            </a:r>
            <a:r>
              <a:rPr lang="en-SG" sz="1050" dirty="0" err="1"/>
              <a:t>stdio.h</a:t>
            </a:r>
            <a:r>
              <a:rPr lang="en-SG" sz="1050" dirty="0"/>
              <a:t>&gt;</a:t>
            </a:r>
          </a:p>
          <a:p>
            <a:r>
              <a:rPr lang="en-SG" sz="1050" dirty="0"/>
              <a:t>#include &lt;</a:t>
            </a:r>
            <a:r>
              <a:rPr lang="en-SG" sz="1050" dirty="0" err="1"/>
              <a:t>math.h</a:t>
            </a:r>
            <a:r>
              <a:rPr lang="en-SG" sz="1050" dirty="0"/>
              <a:t>&gt;  // For the ceil function</a:t>
            </a:r>
          </a:p>
          <a:p>
            <a:endParaRPr lang="en-SG" sz="600" dirty="0"/>
          </a:p>
          <a:p>
            <a:r>
              <a:rPr lang="en-SG" sz="1900" b="1" dirty="0">
                <a:solidFill>
                  <a:srgbClr val="0000FF"/>
                </a:solidFill>
              </a:rPr>
              <a:t>// Part B: Recursive approach</a:t>
            </a:r>
          </a:p>
          <a:p>
            <a:r>
              <a:rPr lang="en-SG" sz="1900" b="1" dirty="0" err="1">
                <a:solidFill>
                  <a:srgbClr val="0000FF"/>
                </a:solidFill>
              </a:rPr>
              <a:t>int</a:t>
            </a:r>
            <a:r>
              <a:rPr lang="en-SG" sz="1900" b="1" dirty="0">
                <a:solidFill>
                  <a:srgbClr val="0000FF"/>
                </a:solidFill>
              </a:rPr>
              <a:t> </a:t>
            </a:r>
            <a:r>
              <a:rPr lang="en-SG" sz="1900" b="1" dirty="0" err="1">
                <a:solidFill>
                  <a:srgbClr val="0000FF"/>
                </a:solidFill>
              </a:rPr>
              <a:t>zombie_recursive</a:t>
            </a:r>
            <a:r>
              <a:rPr lang="en-SG" sz="1900" b="1" dirty="0">
                <a:solidFill>
                  <a:srgbClr val="0000FF"/>
                </a:solidFill>
              </a:rPr>
              <a:t>(double r0, </a:t>
            </a:r>
            <a:r>
              <a:rPr lang="en-SG" sz="1900" b="1" dirty="0" err="1">
                <a:solidFill>
                  <a:srgbClr val="0000FF"/>
                </a:solidFill>
              </a:rPr>
              <a:t>int</a:t>
            </a:r>
            <a:r>
              <a:rPr lang="en-SG" sz="1900" b="1" dirty="0">
                <a:solidFill>
                  <a:srgbClr val="0000FF"/>
                </a:solidFill>
              </a:rPr>
              <a:t> </a:t>
            </a:r>
            <a:r>
              <a:rPr lang="en-SG" sz="1900" b="1" dirty="0">
                <a:solidFill>
                  <a:srgbClr val="FF0000"/>
                </a:solidFill>
              </a:rPr>
              <a:t>day</a:t>
            </a:r>
            <a:r>
              <a:rPr lang="en-SG" sz="1900" b="1" dirty="0">
                <a:solidFill>
                  <a:srgbClr val="0000FF"/>
                </a:solidFill>
              </a:rPr>
              <a:t>) 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{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    int previous;</a:t>
            </a:r>
          </a:p>
          <a:p>
            <a:r>
              <a:rPr lang="en-SG" sz="600" b="1" dirty="0">
                <a:solidFill>
                  <a:srgbClr val="0000FF"/>
                </a:solidFill>
              </a:rPr>
              <a:t> 	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    if (day == 0) 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       return 1;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   else 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      {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         previous = </a:t>
            </a:r>
            <a:r>
              <a:rPr lang="en-SG" sz="1900" b="1" dirty="0" err="1">
                <a:solidFill>
                  <a:srgbClr val="0000FF"/>
                </a:solidFill>
              </a:rPr>
              <a:t>zombie_recursive</a:t>
            </a:r>
            <a:r>
              <a:rPr lang="en-SG" sz="1900" b="1" dirty="0">
                <a:solidFill>
                  <a:srgbClr val="0000FF"/>
                </a:solidFill>
              </a:rPr>
              <a:t>(r0, </a:t>
            </a:r>
            <a:r>
              <a:rPr lang="en-SG" sz="1900" b="1" dirty="0">
                <a:solidFill>
                  <a:srgbClr val="FF0000"/>
                </a:solidFill>
              </a:rPr>
              <a:t>day-1</a:t>
            </a:r>
            <a:r>
              <a:rPr lang="en-SG" sz="1900" b="1" dirty="0">
                <a:solidFill>
                  <a:srgbClr val="0000FF"/>
                </a:solidFill>
              </a:rPr>
              <a:t>);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         return previous + (int)ceil(previous*r0);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      }</a:t>
            </a:r>
          </a:p>
          <a:p>
            <a:r>
              <a:rPr lang="en-SG" sz="1900" b="1" dirty="0">
                <a:solidFill>
                  <a:srgbClr val="0000FF"/>
                </a:solidFill>
              </a:rPr>
              <a:t>}</a:t>
            </a:r>
          </a:p>
          <a:p>
            <a:endParaRPr lang="en-SG" sz="1050" dirty="0"/>
          </a:p>
          <a:p>
            <a:r>
              <a:rPr lang="en-SG" sz="1050" dirty="0"/>
              <a:t>main()</a:t>
            </a:r>
          </a:p>
          <a:p>
            <a:r>
              <a:rPr lang="en-SG" sz="1050" dirty="0"/>
              <a:t>{</a:t>
            </a:r>
          </a:p>
          <a:p>
            <a:r>
              <a:rPr lang="en-SG" sz="1050" dirty="0"/>
              <a:t>     </a:t>
            </a:r>
            <a:r>
              <a:rPr lang="en-SG" sz="1050" dirty="0" err="1"/>
              <a:t>printf</a:t>
            </a:r>
            <a:r>
              <a:rPr lang="en-SG" sz="1050" dirty="0"/>
              <a:t> ("\</a:t>
            </a:r>
            <a:r>
              <a:rPr lang="en-SG" sz="1050" dirty="0" err="1"/>
              <a:t>n%d</a:t>
            </a:r>
            <a:r>
              <a:rPr lang="en-SG" sz="1050" dirty="0"/>
              <a:t>", </a:t>
            </a:r>
            <a:r>
              <a:rPr lang="en-SG" sz="1050" dirty="0" err="1"/>
              <a:t>zombie_recursive</a:t>
            </a:r>
            <a:r>
              <a:rPr lang="en-SG" sz="1050" dirty="0"/>
              <a:t>(0.5,3));</a:t>
            </a:r>
          </a:p>
          <a:p>
            <a:r>
              <a:rPr lang="en-SG" sz="1050" dirty="0"/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1210" y="2371412"/>
            <a:ext cx="4863404" cy="3667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6826027" y="2845357"/>
            <a:ext cx="4067909" cy="2530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7440653" y="3339400"/>
            <a:ext cx="3292510" cy="1493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/>
          <p:cNvSpPr/>
          <p:nvPr/>
        </p:nvSpPr>
        <p:spPr>
          <a:xfrm>
            <a:off x="8346679" y="3732961"/>
            <a:ext cx="2125227" cy="567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050632" y="1979525"/>
            <a:ext cx="181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(0.5, 3)</a:t>
            </a:r>
            <a:endParaRPr lang="en-SG" b="1" dirty="0">
              <a:solidFill>
                <a:srgbClr val="0000F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2887" y="2413278"/>
            <a:ext cx="181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previous = (0.5, 2)</a:t>
            </a:r>
            <a:endParaRPr lang="en-SG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27704" y="2887226"/>
            <a:ext cx="181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previous = (0.5, 1)</a:t>
            </a:r>
            <a:endParaRPr lang="en-SG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52376" y="3331028"/>
            <a:ext cx="181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previous = (0.5, 0)</a:t>
            </a:r>
            <a:endParaRPr lang="en-SG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8305" y="3784879"/>
            <a:ext cx="1470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 1</a:t>
            </a:r>
            <a:endParaRPr lang="en-SG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33953" y="4397827"/>
            <a:ext cx="380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 (previous + previous x 0.5)</a:t>
            </a:r>
            <a:endParaRPr lang="en-SG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51704" y="4682532"/>
            <a:ext cx="3516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en-SG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7991638" y="4678400"/>
            <a:ext cx="520839" cy="317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29898" y="5337350"/>
            <a:ext cx="3516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endParaRPr lang="en-SG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7289928" y="5293024"/>
            <a:ext cx="520839" cy="317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27220" y="6072554"/>
            <a:ext cx="3516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</a:t>
            </a:r>
            <a:endParaRPr lang="en-SG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6648509" y="5887551"/>
            <a:ext cx="520839" cy="317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93016" y="4922016"/>
            <a:ext cx="380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 (previous + previous x 0.5)</a:t>
            </a:r>
            <a:endParaRPr lang="en-SG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99681" y="5555063"/>
            <a:ext cx="380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return (previous + previous x 0.5)</a:t>
            </a:r>
            <a:endParaRPr lang="en-SG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85941" y="4201886"/>
            <a:ext cx="3516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SG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8552671" y="4154211"/>
            <a:ext cx="520839" cy="317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8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0" grpId="0" animBg="1"/>
      <p:bldP spid="11" grpId="0" animBg="1"/>
      <p:bldP spid="12" grpId="0" animBg="1"/>
      <p:bldP spid="8" grpId="0"/>
      <p:bldP spid="13" grpId="0"/>
      <p:bldP spid="14" grpId="0"/>
      <p:bldP spid="15" grpId="0"/>
      <p:bldP spid="16" grpId="0"/>
      <p:bldP spid="17" grpId="0"/>
      <p:bldP spid="25" grpId="0" animBg="1"/>
      <p:bldP spid="27" grpId="0" animBg="1"/>
      <p:bldP spid="29" grpId="0" animBg="1"/>
      <p:bldP spid="31" grpId="0"/>
      <p:bldP spid="32" grpId="0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6E51-70D7-1B1B-3A86-947210F9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DB68-3ACB-BB68-C8EF-884DD997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5" y="436373"/>
            <a:ext cx="5182590" cy="49600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 7 Knights and Knaves</a:t>
            </a:r>
            <a:endParaRPr lang="en-S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55083-EC4C-F839-6FC3-3B05442D7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826"/>
            <a:ext cx="10515600" cy="15215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an island, the islanders are of two types: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knights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knaves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Knights always tell the truth, while knaves always lie.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islanders in each of the parts below.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69552-99AB-A2A4-2C48-A2AD0293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4758" y="6485733"/>
            <a:ext cx="2743200" cy="365125"/>
          </a:xfrm>
        </p:spPr>
        <p:txBody>
          <a:bodyPr/>
          <a:lstStyle/>
          <a:p>
            <a:fld id="{E68DCFFD-5DF0-4D29-8BB5-234142B32273}" type="slidenum">
              <a:rPr lang="en-SG" smtClean="0"/>
              <a:t>31</a:t>
            </a:fld>
            <a:endParaRPr lang="en-SG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636066-10B7-0FBA-3643-FE7767CA0512}"/>
              </a:ext>
            </a:extLst>
          </p:cNvPr>
          <p:cNvSpPr txBox="1">
            <a:spLocks/>
          </p:cNvSpPr>
          <p:nvPr/>
        </p:nvSpPr>
        <p:spPr>
          <a:xfrm>
            <a:off x="838200" y="2786960"/>
            <a:ext cx="10515600" cy="15215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lphaLcParenR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met two islanders A and B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says, “B is a knave.”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 says, “Neither of us are knaves”.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A and B?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29D47-DBD3-A5F3-42DF-0C858A24902C}"/>
              </a:ext>
            </a:extLst>
          </p:cNvPr>
          <p:cNvSpPr txBox="1"/>
          <p:nvPr/>
        </p:nvSpPr>
        <p:spPr>
          <a:xfrm>
            <a:off x="838200" y="4776223"/>
            <a:ext cx="1043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91A223E-39E1-D972-2721-5B37C7FDBFD4}"/>
              </a:ext>
            </a:extLst>
          </p:cNvPr>
          <p:cNvSpPr txBox="1">
            <a:spLocks/>
          </p:cNvSpPr>
          <p:nvPr/>
        </p:nvSpPr>
        <p:spPr>
          <a:xfrm>
            <a:off x="1263502" y="5187732"/>
            <a:ext cx="1702982" cy="15215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 knight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B: knave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3A6A5F-0826-4764-BECB-BA99156A0F82}"/>
              </a:ext>
            </a:extLst>
          </p:cNvPr>
          <p:cNvSpPr txBox="1">
            <a:spLocks/>
          </p:cNvSpPr>
          <p:nvPr/>
        </p:nvSpPr>
        <p:spPr>
          <a:xfrm>
            <a:off x="6487306" y="2028575"/>
            <a:ext cx="4935713" cy="2821664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If A is Knight, A can be trusted. 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So B is knave. 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So B cannot be trusted. So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“Neither of us are knaves” is wrong.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So either both are knight (No), or A is Knight (Yes) or B is knave (Yes).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So A is Knight and B is knave.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274416-206C-42D2-B246-A7A9AB3D1856}"/>
              </a:ext>
            </a:extLst>
          </p:cNvPr>
          <p:cNvSpPr/>
          <p:nvPr/>
        </p:nvSpPr>
        <p:spPr>
          <a:xfrm>
            <a:off x="4867216" y="4990609"/>
            <a:ext cx="3660095" cy="1754326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A is Knave, A cannot be trusted. 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B is Knight. 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B can be trusted. So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“Neither of us are knaves” is right.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A is not Knave - contradiction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known facts about medieval knights ...">
            <a:extLst>
              <a:ext uri="{FF2B5EF4-FFF2-40B4-BE49-F238E27FC236}">
                <a16:creationId xmlns:a16="http://schemas.microsoft.com/office/drawing/2014/main" id="{A1B966AD-1B1A-4820-94A7-B6D53E228F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9" r="14399"/>
          <a:stretch/>
        </p:blipFill>
        <p:spPr bwMode="auto">
          <a:xfrm>
            <a:off x="5676405" y="97082"/>
            <a:ext cx="144879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Knaves and Buffoons – Vic Socotra">
            <a:extLst>
              <a:ext uri="{FF2B5EF4-FFF2-40B4-BE49-F238E27FC236}">
                <a16:creationId xmlns:a16="http://schemas.microsoft.com/office/drawing/2014/main" id="{F219ABB5-E582-429D-9F6D-4206AA1852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37"/>
          <a:stretch/>
        </p:blipFill>
        <p:spPr bwMode="auto">
          <a:xfrm>
            <a:off x="7398327" y="0"/>
            <a:ext cx="859204" cy="135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14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63A2F-1936-4553-9EA2-E630BE60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32</a:t>
            </a:fld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2668F-398A-43E6-B295-9C3293119665}"/>
              </a:ext>
            </a:extLst>
          </p:cNvPr>
          <p:cNvSpPr txBox="1"/>
          <p:nvPr/>
        </p:nvSpPr>
        <p:spPr>
          <a:xfrm>
            <a:off x="671946" y="987994"/>
            <a:ext cx="2700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Alternate Approach: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63C80B7-D4C3-FAA9-8652-4D75E093C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28980"/>
              </p:ext>
            </p:extLst>
          </p:nvPr>
        </p:nvGraphicFramePr>
        <p:xfrm>
          <a:off x="1197621" y="1585514"/>
          <a:ext cx="10098860" cy="4418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772">
                  <a:extLst>
                    <a:ext uri="{9D8B030D-6E8A-4147-A177-3AD203B41FA5}">
                      <a16:colId xmlns:a16="http://schemas.microsoft.com/office/drawing/2014/main" val="1401712266"/>
                    </a:ext>
                  </a:extLst>
                </a:gridCol>
                <a:gridCol w="2019772">
                  <a:extLst>
                    <a:ext uri="{9D8B030D-6E8A-4147-A177-3AD203B41FA5}">
                      <a16:colId xmlns:a16="http://schemas.microsoft.com/office/drawing/2014/main" val="357181639"/>
                    </a:ext>
                  </a:extLst>
                </a:gridCol>
                <a:gridCol w="2019772">
                  <a:extLst>
                    <a:ext uri="{9D8B030D-6E8A-4147-A177-3AD203B41FA5}">
                      <a16:colId xmlns:a16="http://schemas.microsoft.com/office/drawing/2014/main" val="148425535"/>
                    </a:ext>
                  </a:extLst>
                </a:gridCol>
                <a:gridCol w="2019772">
                  <a:extLst>
                    <a:ext uri="{9D8B030D-6E8A-4147-A177-3AD203B41FA5}">
                      <a16:colId xmlns:a16="http://schemas.microsoft.com/office/drawing/2014/main" val="3646379728"/>
                    </a:ext>
                  </a:extLst>
                </a:gridCol>
                <a:gridCol w="2019772">
                  <a:extLst>
                    <a:ext uri="{9D8B030D-6E8A-4147-A177-3AD203B41FA5}">
                      <a16:colId xmlns:a16="http://schemas.microsoft.com/office/drawing/2014/main" val="3247766209"/>
                    </a:ext>
                  </a:extLst>
                </a:gridCol>
              </a:tblGrid>
              <a:tr h="761176">
                <a:tc>
                  <a:txBody>
                    <a:bodyPr/>
                    <a:lstStyle/>
                    <a:p>
                      <a:r>
                        <a:rPr lang="en-US" altLang="zh-CN" dirty="0"/>
                        <a:t>1) A’s identity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2) B’s identity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3) What A says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4) What B says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5) Contradictory?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709060"/>
                  </a:ext>
                </a:extLst>
              </a:tr>
              <a:tr h="774971">
                <a:tc>
                  <a:txBody>
                    <a:bodyPr/>
                    <a:lstStyle/>
                    <a:p>
                      <a:r>
                        <a:rPr lang="en-US" altLang="zh-CN" dirty="0"/>
                        <a:t>Knight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Knight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True</a:t>
                      </a:r>
                    </a:p>
                    <a:p>
                      <a:r>
                        <a:rPr lang="en-US" altLang="zh-CN" dirty="0"/>
                        <a:t>B is a knave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True </a:t>
                      </a:r>
                    </a:p>
                    <a:p>
                      <a:r>
                        <a:rPr lang="en-US" altLang="zh-CN" dirty="0"/>
                        <a:t>A and B are both knights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2) &amp; 3) / 3) &amp; 4) contradictory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538425"/>
                  </a:ext>
                </a:extLst>
              </a:tr>
              <a:tr h="704007">
                <a:tc>
                  <a:txBody>
                    <a:bodyPr/>
                    <a:lstStyle/>
                    <a:p>
                      <a:r>
                        <a:rPr lang="en-US" altLang="zh-CN" dirty="0"/>
                        <a:t>Knight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Knave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True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 is a knave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False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 and B are not both knights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506040"/>
                  </a:ext>
                </a:extLst>
              </a:tr>
              <a:tr h="640466">
                <a:tc>
                  <a:txBody>
                    <a:bodyPr/>
                    <a:lstStyle/>
                    <a:p>
                      <a:r>
                        <a:rPr lang="en-US" altLang="zh-CN" dirty="0"/>
                        <a:t>Knave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Knight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False </a:t>
                      </a:r>
                    </a:p>
                    <a:p>
                      <a:r>
                        <a:rPr lang="en-US" altLang="zh-CN" dirty="0"/>
                        <a:t>B is a knight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True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 and B are both knights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1) &amp; 4) contradictory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725272"/>
                  </a:ext>
                </a:extLst>
              </a:tr>
              <a:tr h="776836">
                <a:tc>
                  <a:txBody>
                    <a:bodyPr/>
                    <a:lstStyle/>
                    <a:p>
                      <a:r>
                        <a:rPr lang="en-US" altLang="zh-CN" dirty="0"/>
                        <a:t>Knave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Knave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False </a:t>
                      </a:r>
                    </a:p>
                    <a:p>
                      <a:r>
                        <a:rPr lang="en-US" altLang="zh-CN" dirty="0"/>
                        <a:t>B is a knight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False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 and B are not both knights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2) &amp; 3) contradictory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341186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93DA280-0C8B-112E-14A6-3CCFB9283427}"/>
              </a:ext>
            </a:extLst>
          </p:cNvPr>
          <p:cNvSpPr txBox="1"/>
          <p:nvPr/>
        </p:nvSpPr>
        <p:spPr>
          <a:xfrm>
            <a:off x="1197621" y="6168044"/>
            <a:ext cx="371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A: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knight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B: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knave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B3075-F274-4139-B899-C7B525890469}"/>
              </a:ext>
            </a:extLst>
          </p:cNvPr>
          <p:cNvSpPr/>
          <p:nvPr/>
        </p:nvSpPr>
        <p:spPr>
          <a:xfrm>
            <a:off x="4776435" y="6143176"/>
            <a:ext cx="2770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Provided by Liu </a:t>
            </a:r>
            <a:r>
              <a:rPr lang="en-US" sz="2400" dirty="0" err="1">
                <a:solidFill>
                  <a:srgbClr val="0000FF"/>
                </a:solidFill>
              </a:rPr>
              <a:t>Yuqi</a:t>
            </a:r>
            <a:r>
              <a:rPr lang="en-US" sz="2400" dirty="0">
                <a:solidFill>
                  <a:srgbClr val="0000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563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C2D8F-DEA1-5ED5-1405-E3D542BE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068" y="511320"/>
            <a:ext cx="10515600" cy="2852737"/>
          </a:xfrm>
        </p:spPr>
        <p:txBody>
          <a:bodyPr/>
          <a:lstStyle/>
          <a:p>
            <a:r>
              <a:rPr lang="en-SG" dirty="0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AA089-342C-4E80-F963-67C84953D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3068" y="3422073"/>
            <a:ext cx="10515600" cy="1500187"/>
          </a:xfrm>
        </p:spPr>
        <p:txBody>
          <a:bodyPr/>
          <a:lstStyle/>
          <a:p>
            <a:r>
              <a:rPr lang="zh-CN" altLang="en-US" dirty="0"/>
              <a:t>如有疑问，请在聊天框发出题号和问题 </a:t>
            </a:r>
            <a:r>
              <a:rPr lang="en-US" altLang="zh-CN" dirty="0">
                <a:sym typeface="Wingdings" panose="05000000000000000000" pitchFamily="2" charset="2"/>
              </a:rPr>
              <a:t>;)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8562-FA8A-A264-0A5D-44C55C20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09585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F647CC-FEAD-4A36-BAB4-37114287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DCFFD-5DF0-4D29-8BB5-234142B32273}" type="slidenum">
              <a:rPr lang="en-SG" smtClean="0"/>
              <a:t>34</a:t>
            </a:fld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E6844-2AAA-498C-8B2E-7F9B86FCEB6D}"/>
              </a:ext>
            </a:extLst>
          </p:cNvPr>
          <p:cNvSpPr txBox="1"/>
          <p:nvPr/>
        </p:nvSpPr>
        <p:spPr>
          <a:xfrm>
            <a:off x="5096536" y="2341081"/>
            <a:ext cx="27194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-  End 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17759-9638-4578-9918-7732D7142972}"/>
              </a:ext>
            </a:extLst>
          </p:cNvPr>
          <p:cNvSpPr txBox="1"/>
          <p:nvPr/>
        </p:nvSpPr>
        <p:spPr>
          <a:xfrm>
            <a:off x="1876343" y="3324752"/>
            <a:ext cx="8326582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Acknowledgement: </a:t>
            </a:r>
            <a:r>
              <a:rPr lang="en-US" sz="4400" dirty="0"/>
              <a:t>The first draft of these solutions was provided by Liu Yuqi.</a:t>
            </a:r>
          </a:p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231918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7779</TotalTime>
  <Words>3384</Words>
  <Application>Microsoft Office PowerPoint</Application>
  <PresentationFormat>Widescreen</PresentationFormat>
  <Paragraphs>584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Calibri (Headings)</vt:lpstr>
      <vt:lpstr>Courier</vt:lpstr>
      <vt:lpstr>SimSun</vt:lpstr>
      <vt:lpstr>Aptos</vt:lpstr>
      <vt:lpstr>Aptos Display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我们7：05开始 </vt:lpstr>
      <vt:lpstr>   CS1010 Placement Test AY2019-20 (17 July 2019) Liu Yuqi      E-mail: e1513087@u.nus.edu +86 15823136901      The first draft of the solutions for AY2019-20 was provided by Liu Yuqi.               </vt:lpstr>
      <vt:lpstr>CS1010S Placement Test考什么？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Qn 1 Zombie Island Apocalypse 僵尸岛启示录   (Part B)</vt:lpstr>
      <vt:lpstr>Qn 1 Zombie Island Apocalypse (Part B)</vt:lpstr>
      <vt:lpstr>Qn 7 Knights and Knaves</vt:lpstr>
      <vt:lpstr>PowerPoint Presentation</vt:lpstr>
      <vt:lpstr>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S&amp;T2024    Advanced C Programming Language   CS1010 Placement Test AY2023-24    Lecturer A/Prof Tay Seng Chuan   E-mail: pvotaysc@nus.edu.sg    Office of the Provost National University of Singapore  The first draft of the solutions for AY2023-24 was provided by Li Lehao.</dc:title>
  <dc:creator>Li Lehao</dc:creator>
  <cp:lastModifiedBy>Liu Yuqi</cp:lastModifiedBy>
  <cp:revision>161</cp:revision>
  <dcterms:created xsi:type="dcterms:W3CDTF">2025-05-28T07:24:09Z</dcterms:created>
  <dcterms:modified xsi:type="dcterms:W3CDTF">2026-06-24T12:38:52Z</dcterms:modified>
</cp:coreProperties>
</file>