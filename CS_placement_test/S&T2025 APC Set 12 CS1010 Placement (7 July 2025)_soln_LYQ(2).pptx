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98" r:id="rId2"/>
    <p:sldId id="256" r:id="rId3"/>
    <p:sldId id="353" r:id="rId4"/>
    <p:sldId id="376" r:id="rId5"/>
    <p:sldId id="372" r:id="rId6"/>
    <p:sldId id="377" r:id="rId7"/>
    <p:sldId id="397" r:id="rId8"/>
    <p:sldId id="356" r:id="rId9"/>
    <p:sldId id="378" r:id="rId10"/>
    <p:sldId id="373" r:id="rId11"/>
    <p:sldId id="379" r:id="rId12"/>
    <p:sldId id="357" r:id="rId13"/>
    <p:sldId id="380" r:id="rId14"/>
    <p:sldId id="374" r:id="rId15"/>
    <p:sldId id="381" r:id="rId16"/>
    <p:sldId id="358" r:id="rId17"/>
    <p:sldId id="382" r:id="rId18"/>
    <p:sldId id="359" r:id="rId19"/>
    <p:sldId id="383" r:id="rId20"/>
    <p:sldId id="360" r:id="rId21"/>
    <p:sldId id="361" r:id="rId22"/>
    <p:sldId id="384" r:id="rId23"/>
    <p:sldId id="375" r:id="rId24"/>
    <p:sldId id="385" r:id="rId25"/>
    <p:sldId id="362" r:id="rId26"/>
    <p:sldId id="386" r:id="rId27"/>
    <p:sldId id="363" r:id="rId28"/>
    <p:sldId id="387" r:id="rId29"/>
    <p:sldId id="364" r:id="rId30"/>
    <p:sldId id="388" r:id="rId31"/>
    <p:sldId id="365" r:id="rId32"/>
    <p:sldId id="389" r:id="rId33"/>
    <p:sldId id="366" r:id="rId34"/>
    <p:sldId id="367" r:id="rId35"/>
    <p:sldId id="368" r:id="rId36"/>
    <p:sldId id="369" r:id="rId37"/>
    <p:sldId id="390" r:id="rId38"/>
    <p:sldId id="370" r:id="rId39"/>
    <p:sldId id="392" r:id="rId40"/>
    <p:sldId id="371" r:id="rId41"/>
    <p:sldId id="354" r:id="rId42"/>
    <p:sldId id="393" r:id="rId43"/>
    <p:sldId id="394" r:id="rId44"/>
    <p:sldId id="396" r:id="rId45"/>
    <p:sldId id="395" r:id="rId46"/>
    <p:sldId id="35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99"/>
    <a:srgbClr val="FFFF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6" autoAdjust="0"/>
    <p:restoredTop sz="93114" autoAdjust="0"/>
  </p:normalViewPr>
  <p:slideViewPr>
    <p:cSldViewPr snapToGrid="0">
      <p:cViewPr varScale="1">
        <p:scale>
          <a:sx n="69" d="100"/>
          <a:sy n="69" d="100"/>
        </p:scale>
        <p:origin x="798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2F3D4-9E23-4C30-80E6-9A400E18B3F2}" type="datetimeFigureOut">
              <a:rPr lang="en-SG" smtClean="0"/>
              <a:t>25/6/2026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738AD-10F2-401E-9926-64321680FC14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948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738AD-10F2-401E-9926-64321680FC14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87791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E4C8-2F1A-5799-ACAF-9E26E8A60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2C569-4797-36AF-286B-888EE70E5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50F0-2E85-2407-C679-85C9E8EF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59535-43D3-47F0-BEA7-932F040F5F69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3D91D-766E-8539-5114-028CDDBA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4A07-FEAE-D9BF-F7A7-A13FDE08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182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69A9-1B6A-A9EE-03CB-536A29E3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8737-212F-E3CF-41E4-02A2CB02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EA32D-1EEC-65A7-47C5-8AAC56AB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3BD14-CAB9-42AF-B5CD-B1A436E89F4C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047A4-1F06-D465-3AD6-D7FE1AAD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73AF-4124-BA1C-C455-2943D988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5916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8F2E-66AB-63BA-FAAB-09CAD964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BB7A-3B16-2662-1776-43A1A57F5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5E73F-2ADF-77D8-4050-3DC0311C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7D29-1E52-4BDE-AB3C-D4A1AD99AD64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A5BA-308D-683E-4170-FDA60738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DA17B-0567-6387-D95E-F08E07F2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819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9FB9-A4FE-8BA0-1C7D-EDD8E0B4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79107-D8D2-6D4F-D460-31E268BB2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5046E-71DC-4418-A485-CF3CFA259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B007B-353F-5548-EB18-4E2E2453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55C63-92FD-4CF0-A9EA-EC27047332C8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0891C-B42B-D68D-5367-07BDB5BA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948B9-0D28-9AC4-517F-3ED1EFA8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15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D621-D308-5E8F-E5D7-FAD1F367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A00E2-456E-7624-9864-B71551F2E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A5EF5-6829-C4FE-F8A0-E0F0DA67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E0EC9-7308-2AD8-D0A7-BDE0DC882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CA0F-5CE7-B5DE-D1DE-639FDD7C5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3A7D9-BEA7-22BE-2B8D-3A6D307B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451E-3EC5-48AF-AAE7-6735DB97BE44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2F176-719F-0542-E85E-3A417C67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F3878-D57B-BAFB-FE27-6B5EED6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921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24E8-AF85-13C9-EC34-C001E931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CC1DE-6898-7DED-5E9D-F1110D3C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E3D-53F3-46BE-8D0E-50F069647B80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B9723-0163-C900-484B-6B1444B3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7C105-BB1F-1C07-6BA5-F63EC532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2814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FC581-DAFB-BB2C-994A-9CD24DE0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09D4-4FEF-4648-8ADA-DD0A65AB754C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A504-DD5B-6116-7F4C-A6A90C08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E2489-18C6-5463-039D-827540E7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758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2807-9060-9B2F-7EAF-BBC423217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EDA1E-ED31-9CD3-0F30-CCF4CBFD2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7CACD-7E6F-5918-9304-714720C15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431C2-A113-2341-4130-AB1B8549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4A37-211E-44F1-867D-D3D965631639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9CCF7-4154-2FD8-4D15-849953FF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BFFC6-DDE8-DDF6-D63E-D1AE191B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229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8BF8-223E-E25F-45CA-91258BA4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78FD2-BB5F-FDCC-2771-953426C03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0BB0C-F554-D3CD-D493-E1D9C9D99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ACABA-4E76-2BE2-CFF6-3F66326B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C8B3-F9AB-4657-ADF2-AF39197BA314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3915-E9AA-867B-E64D-45F834C0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92375-2229-28A1-9D55-389C7DFC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7065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086D-5552-04F2-62F9-DAD098CE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1A34A-E500-1AE3-C1FE-6EB44FF7E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549CA-36A0-D9B5-8697-46E33BCE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61BE-8C24-4A91-8E50-5129314FD004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A60-6BBA-1A63-1120-B8CE4DBF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E6DA-6334-A175-F8EF-8DDD0EA2F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608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3B3354-548C-E188-64E2-B77660502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D36B7-0307-EDFE-EA91-C5D3CA02E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3247-F0B5-92F6-8080-2E27B80E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AC28-C0B0-4643-B659-C45030682D83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3E277-83DA-B23F-CC9F-91F7ECE7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7C01F-BB2E-96FF-8642-E95B3DF5D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194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DBFBA-79CF-09B0-3B82-3643356F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9CEB9-CFDC-A7F1-5252-FC6A880EB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73B7B-0866-9125-D735-B2E45ADB1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B11D8-CBD6-44EA-B322-830D7D9B841C}" type="datetime1">
              <a:rPr lang="en-SG" smtClean="0"/>
              <a:t>25/6/2026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52239-C693-9F4C-9B5A-CDC9733D9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39D8A-AAE8-2468-4C8C-E18A450FB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529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e1513087@u.nus.edu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DE61-B0EE-A67D-9E0A-74B827D00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我们</a:t>
            </a:r>
            <a:r>
              <a:rPr lang="en-US" altLang="zh-CN" dirty="0"/>
              <a:t>7</a:t>
            </a:r>
            <a:r>
              <a:rPr lang="zh-CN" altLang="en-US" dirty="0"/>
              <a:t>：</a:t>
            </a:r>
            <a:r>
              <a:rPr lang="en-US" altLang="zh-CN" dirty="0"/>
              <a:t>05</a:t>
            </a:r>
            <a:r>
              <a:rPr lang="zh-CN" altLang="en-US" dirty="0"/>
              <a:t>开始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4EC7C-01D4-6FB8-97C2-595A0FAC68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1AC25-1A8E-3904-81CD-B0429399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1979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55CF6539-1CC6-06BE-21B5-7E6B4D85F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23" y="5475708"/>
            <a:ext cx="11053154" cy="1470025"/>
          </a:xfrm>
        </p:spPr>
        <p:txBody>
          <a:bodyPr anchor="ctr">
            <a:noAutofit/>
          </a:bodyPr>
          <a:lstStyle/>
          <a:p>
            <a:pPr eaLnBrk="1" hangingPunct="1"/>
            <a:br>
              <a:rPr lang="en-US" altLang="en-US" sz="2800" b="1" dirty="0">
                <a:latin typeface="Calibri (Headings)"/>
              </a:rPr>
            </a:br>
            <a:br>
              <a:rPr lang="en-US" altLang="en-US" sz="2800" b="1" dirty="0">
                <a:latin typeface="Calibri (Headings)"/>
              </a:rPr>
            </a:br>
            <a:br>
              <a:rPr lang="en-US" altLang="en-US" sz="2800" b="1" dirty="0">
                <a:latin typeface="Calibri (Headings)"/>
              </a:rPr>
            </a:br>
            <a:r>
              <a:rPr lang="en-US" altLang="en-US" sz="2800" b="1" dirty="0">
                <a:latin typeface="Calibri (Headings)"/>
              </a:rPr>
              <a:t>CS1010 Placement Test </a:t>
            </a:r>
            <a:r>
              <a:rPr lang="en-US" altLang="en-US" sz="2800" b="1" dirty="0">
                <a:solidFill>
                  <a:srgbClr val="0000FF"/>
                </a:solidFill>
                <a:latin typeface="Calibri (Headings)"/>
              </a:rPr>
              <a:t>AY2025-26 (7 July 2025)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b="1" dirty="0">
                <a:latin typeface="Calibri (Headings)"/>
              </a:rPr>
              <a:t> </a:t>
            </a:r>
            <a:r>
              <a:rPr lang="en-US" altLang="en-US" sz="2800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b="1" dirty="0">
                <a:latin typeface="Calibri (Headings)"/>
              </a:rPr>
              <a:t>L</a:t>
            </a:r>
            <a:r>
              <a:rPr lang="en-US" altLang="zh-CN" sz="2800" b="1" dirty="0">
                <a:latin typeface="Calibri (Headings)"/>
              </a:rPr>
              <a:t>iu Yuqi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b="1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E-mail: </a:t>
            </a:r>
            <a:r>
              <a:rPr lang="en-US" altLang="en-US" sz="2800" dirty="0">
                <a:latin typeface="Calibri (Headings)"/>
                <a:hlinkClick r:id="rId2"/>
              </a:rPr>
              <a:t>e1513087@u.nus.edu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  </a:t>
            </a: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The first draft of the solutions for </a:t>
            </a:r>
            <a:r>
              <a:rPr lang="en-US" altLang="en-US" sz="2800" b="1" dirty="0">
                <a:solidFill>
                  <a:srgbClr val="0000FF"/>
                </a:solidFill>
                <a:latin typeface="Calibri (Headings)"/>
              </a:rPr>
              <a:t>AY2025-26</a:t>
            </a:r>
            <a:r>
              <a:rPr lang="en-US" altLang="en-US" sz="2800" dirty="0">
                <a:latin typeface="Calibri (Headings)"/>
              </a:rPr>
              <a:t> was provided by Liu Y</a:t>
            </a:r>
            <a:r>
              <a:rPr lang="en-US" altLang="zh-CN" sz="2800" dirty="0">
                <a:latin typeface="Calibri (Headings)"/>
              </a:rPr>
              <a:t>u</a:t>
            </a:r>
            <a:r>
              <a:rPr lang="en-US" altLang="en-US" sz="2800" dirty="0">
                <a:latin typeface="Calibri (Headings)"/>
              </a:rPr>
              <a:t>qi.</a:t>
            </a: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endParaRPr lang="en-US" altLang="en-US" sz="2800" dirty="0">
              <a:latin typeface="Calibri (Headings)"/>
            </a:endParaRPr>
          </a:p>
        </p:txBody>
      </p:sp>
      <p:sp>
        <p:nvSpPr>
          <p:cNvPr id="3075" name="Slide Number Placeholder 2">
            <a:extLst>
              <a:ext uri="{FF2B5EF4-FFF2-40B4-BE49-F238E27FC236}">
                <a16:creationId xmlns:a16="http://schemas.microsoft.com/office/drawing/2014/main" id="{D3A9C5AD-F919-DC40-59C1-058310F2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038E49-A893-4ECD-94FB-1C934C131AE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FB7CA-90AE-4451-877D-E969B944EE2D}"/>
              </a:ext>
            </a:extLst>
          </p:cNvPr>
          <p:cNvSpPr/>
          <p:nvPr/>
        </p:nvSpPr>
        <p:spPr>
          <a:xfrm>
            <a:off x="2930013" y="248941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800" b="1" dirty="0">
                <a:latin typeface="Calibri (Headings)"/>
              </a:rPr>
              <a:t>CS1010 Advanced Placement Credit </a:t>
            </a:r>
          </a:p>
          <a:p>
            <a:pPr algn="ctr">
              <a:spcBef>
                <a:spcPct val="0"/>
              </a:spcBef>
            </a:pPr>
            <a:r>
              <a:rPr lang="en-US" altLang="en-US" sz="2800" b="1" dirty="0">
                <a:latin typeface="Calibri (Headings)"/>
              </a:rPr>
              <a:t>Examination Preparation for </a:t>
            </a:r>
          </a:p>
          <a:p>
            <a:pPr algn="ctr">
              <a:spcBef>
                <a:spcPct val="0"/>
              </a:spcBef>
            </a:pPr>
            <a:r>
              <a:rPr lang="en-US" altLang="en-US" sz="2800" b="1" dirty="0">
                <a:latin typeface="Calibri (Headings)"/>
              </a:rPr>
              <a:t>S&amp;T2025 Scholars (</a:t>
            </a:r>
            <a:r>
              <a:rPr lang="en-US" altLang="en-US" sz="2800" b="1" dirty="0">
                <a:solidFill>
                  <a:srgbClr val="FF0000"/>
                </a:solidFill>
                <a:latin typeface="Calibri (Headings)"/>
              </a:rPr>
              <a:t>Set 12</a:t>
            </a:r>
            <a:r>
              <a:rPr lang="en-US" altLang="en-US" sz="2800" b="1" dirty="0">
                <a:latin typeface="Calibri (Headings)"/>
              </a:rPr>
              <a:t>)</a:t>
            </a:r>
            <a:endParaRPr lang="en-US" altLang="zh-CN" sz="2800" b="1" dirty="0">
              <a:latin typeface="Calibri (Headings)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</a:t>
            </a:fld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55DE32-C968-461B-B7C7-127DBC7BBE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0" b="56266"/>
          <a:stretch/>
        </p:blipFill>
        <p:spPr>
          <a:xfrm>
            <a:off x="1524931" y="678426"/>
            <a:ext cx="9246000" cy="46734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C61664-E13B-43AA-B55D-DBE045A07550}"/>
              </a:ext>
            </a:extLst>
          </p:cNvPr>
          <p:cNvSpPr txBox="1"/>
          <p:nvPr/>
        </p:nvSpPr>
        <p:spPr>
          <a:xfrm>
            <a:off x="2408171" y="5602712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87F0451A-3346-45E3-855C-B37B89B8E141}"/>
              </a:ext>
            </a:extLst>
          </p:cNvPr>
          <p:cNvSpPr txBox="1"/>
          <p:nvPr/>
        </p:nvSpPr>
        <p:spPr>
          <a:xfrm>
            <a:off x="3672831" y="5420495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D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62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BD5EEF-AE41-90A8-7609-54627030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C40371-3577-2FF7-8D70-DAEF10C2B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274" y="1693740"/>
            <a:ext cx="6573167" cy="21815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019B3AE-18ED-C83F-88BC-659CCC39D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83" y="1360307"/>
            <a:ext cx="2181529" cy="21815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03FC35B-8933-1826-1E96-3BBDF8B94A5E}"/>
              </a:ext>
            </a:extLst>
          </p:cNvPr>
          <p:cNvSpPr/>
          <p:nvPr/>
        </p:nvSpPr>
        <p:spPr>
          <a:xfrm>
            <a:off x="6595902" y="1811834"/>
            <a:ext cx="370315" cy="16495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D400CA-A802-BAC7-242A-1C8749A3AA16}"/>
              </a:ext>
            </a:extLst>
          </p:cNvPr>
          <p:cNvSpPr/>
          <p:nvPr/>
        </p:nvSpPr>
        <p:spPr>
          <a:xfrm>
            <a:off x="7384797" y="2678423"/>
            <a:ext cx="422459" cy="7829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4CBBC1-4404-73B4-9069-CB8F594F74E6}"/>
              </a:ext>
            </a:extLst>
          </p:cNvPr>
          <p:cNvSpPr/>
          <p:nvPr/>
        </p:nvSpPr>
        <p:spPr>
          <a:xfrm>
            <a:off x="7807256" y="3087184"/>
            <a:ext cx="394430" cy="3705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1FDA68-BBF5-6C8A-B595-C64F1A3A5D02}"/>
              </a:ext>
            </a:extLst>
          </p:cNvPr>
          <p:cNvSpPr/>
          <p:nvPr/>
        </p:nvSpPr>
        <p:spPr>
          <a:xfrm>
            <a:off x="6985335" y="2254094"/>
            <a:ext cx="423006" cy="12273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7110A07-9CD4-0C42-75CC-E5805905C7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137" t="40379"/>
          <a:stretch>
            <a:fillRect/>
          </a:stretch>
        </p:blipFill>
        <p:spPr>
          <a:xfrm>
            <a:off x="9406642" y="1118137"/>
            <a:ext cx="2534533" cy="248281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01EDBB4-1721-A0C0-2CE5-7A97E8EA9E6A}"/>
              </a:ext>
            </a:extLst>
          </p:cNvPr>
          <p:cNvSpPr/>
          <p:nvPr/>
        </p:nvSpPr>
        <p:spPr>
          <a:xfrm>
            <a:off x="9457179" y="1533320"/>
            <a:ext cx="372470" cy="20520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5EEFB0-9AB0-A8CC-EBF1-E6A0192FB9AD}"/>
              </a:ext>
            </a:extLst>
          </p:cNvPr>
          <p:cNvSpPr/>
          <p:nvPr/>
        </p:nvSpPr>
        <p:spPr>
          <a:xfrm>
            <a:off x="9848767" y="1949293"/>
            <a:ext cx="394791" cy="16456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92F895-7DA3-EB76-1E0A-6E70BBC69D37}"/>
              </a:ext>
            </a:extLst>
          </p:cNvPr>
          <p:cNvSpPr/>
          <p:nvPr/>
        </p:nvSpPr>
        <p:spPr>
          <a:xfrm>
            <a:off x="10251391" y="2331414"/>
            <a:ext cx="434291" cy="12452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65BC97F-E331-ED82-60E4-7F136CC187FC}"/>
              </a:ext>
            </a:extLst>
          </p:cNvPr>
          <p:cNvSpPr/>
          <p:nvPr/>
        </p:nvSpPr>
        <p:spPr>
          <a:xfrm>
            <a:off x="10685682" y="2786183"/>
            <a:ext cx="394790" cy="8087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5C0271-89FF-1A2B-11C1-9F21E272C185}"/>
              </a:ext>
            </a:extLst>
          </p:cNvPr>
          <p:cNvSpPr/>
          <p:nvPr/>
        </p:nvSpPr>
        <p:spPr>
          <a:xfrm>
            <a:off x="11090464" y="3155608"/>
            <a:ext cx="432131" cy="4205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8B6168-BD51-D0C7-55AF-24A68FC7983D}"/>
              </a:ext>
            </a:extLst>
          </p:cNvPr>
          <p:cNvSpPr txBox="1"/>
          <p:nvPr/>
        </p:nvSpPr>
        <p:spPr>
          <a:xfrm>
            <a:off x="6739338" y="3646611"/>
            <a:ext cx="173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 5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85ECA6A-E808-DA79-3818-78DB0D97FF9B}"/>
              </a:ext>
            </a:extLst>
          </p:cNvPr>
          <p:cNvSpPr txBox="1"/>
          <p:nvPr/>
        </p:nvSpPr>
        <p:spPr>
          <a:xfrm>
            <a:off x="9788288" y="3748815"/>
            <a:ext cx="173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 6</a:t>
            </a:r>
            <a:endParaRPr lang="zh-CN" altLang="en-US" dirty="0"/>
          </a:p>
        </p:txBody>
      </p:sp>
      <p:sp>
        <p:nvSpPr>
          <p:cNvPr id="28" name="箭头: 左弧形 27">
            <a:extLst>
              <a:ext uri="{FF2B5EF4-FFF2-40B4-BE49-F238E27FC236}">
                <a16:creationId xmlns:a16="http://schemas.microsoft.com/office/drawing/2014/main" id="{C5689546-34AA-C6D3-27B7-6C59FA33E0DD}"/>
              </a:ext>
            </a:extLst>
          </p:cNvPr>
          <p:cNvSpPr/>
          <p:nvPr/>
        </p:nvSpPr>
        <p:spPr>
          <a:xfrm rot="16200000">
            <a:off x="4155242" y="3449627"/>
            <a:ext cx="513980" cy="14816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A1AD261-86AD-D51C-2DD7-050CCD32A6E7}"/>
              </a:ext>
            </a:extLst>
          </p:cNvPr>
          <p:cNvSpPr txBox="1"/>
          <p:nvPr/>
        </p:nvSpPr>
        <p:spPr>
          <a:xfrm>
            <a:off x="8615949" y="4644148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+5</a:t>
            </a:r>
            <a:endParaRPr lang="zh-CN" altLang="en-US" sz="2800" dirty="0"/>
          </a:p>
        </p:txBody>
      </p:sp>
      <p:sp>
        <p:nvSpPr>
          <p:cNvPr id="30" name="箭头: 左弧形 29">
            <a:extLst>
              <a:ext uri="{FF2B5EF4-FFF2-40B4-BE49-F238E27FC236}">
                <a16:creationId xmlns:a16="http://schemas.microsoft.com/office/drawing/2014/main" id="{15DDE2BE-62F1-CEA9-D8C0-73EDCF174A34}"/>
              </a:ext>
            </a:extLst>
          </p:cNvPr>
          <p:cNvSpPr/>
          <p:nvPr/>
        </p:nvSpPr>
        <p:spPr>
          <a:xfrm rot="16200000">
            <a:off x="2512953" y="3391415"/>
            <a:ext cx="513980" cy="14816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AE15BE7-E58E-04C6-30DC-5D4D1CFD8AA3}"/>
              </a:ext>
            </a:extLst>
          </p:cNvPr>
          <p:cNvSpPr txBox="1"/>
          <p:nvPr/>
        </p:nvSpPr>
        <p:spPr>
          <a:xfrm>
            <a:off x="2524670" y="4653387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+2</a:t>
            </a:r>
            <a:endParaRPr lang="zh-CN" altLang="en-US" sz="2800" dirty="0"/>
          </a:p>
        </p:txBody>
      </p:sp>
      <p:sp>
        <p:nvSpPr>
          <p:cNvPr id="32" name="箭头: 左弧形 31">
            <a:extLst>
              <a:ext uri="{FF2B5EF4-FFF2-40B4-BE49-F238E27FC236}">
                <a16:creationId xmlns:a16="http://schemas.microsoft.com/office/drawing/2014/main" id="{2FEFA68F-74E8-227B-4E15-05B384DED77E}"/>
              </a:ext>
            </a:extLst>
          </p:cNvPr>
          <p:cNvSpPr/>
          <p:nvPr/>
        </p:nvSpPr>
        <p:spPr>
          <a:xfrm rot="16200000">
            <a:off x="6060756" y="3493013"/>
            <a:ext cx="513980" cy="14816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CF1C083-780F-0017-4DC6-DE26CEF460C5}"/>
              </a:ext>
            </a:extLst>
          </p:cNvPr>
          <p:cNvSpPr txBox="1"/>
          <p:nvPr/>
        </p:nvSpPr>
        <p:spPr>
          <a:xfrm>
            <a:off x="4119132" y="4589077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+3</a:t>
            </a:r>
            <a:endParaRPr lang="zh-CN" altLang="en-US" sz="2800" dirty="0"/>
          </a:p>
        </p:txBody>
      </p:sp>
      <p:sp>
        <p:nvSpPr>
          <p:cNvPr id="34" name="箭头: 左弧形 33">
            <a:extLst>
              <a:ext uri="{FF2B5EF4-FFF2-40B4-BE49-F238E27FC236}">
                <a16:creationId xmlns:a16="http://schemas.microsoft.com/office/drawing/2014/main" id="{D77FE300-0872-57C0-7C2E-F3B793157A73}"/>
              </a:ext>
            </a:extLst>
          </p:cNvPr>
          <p:cNvSpPr/>
          <p:nvPr/>
        </p:nvSpPr>
        <p:spPr>
          <a:xfrm rot="16200000">
            <a:off x="839543" y="3449627"/>
            <a:ext cx="513980" cy="14816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A2E0490-AA2F-890B-F92C-454031091C3A}"/>
              </a:ext>
            </a:extLst>
          </p:cNvPr>
          <p:cNvSpPr txBox="1"/>
          <p:nvPr/>
        </p:nvSpPr>
        <p:spPr>
          <a:xfrm>
            <a:off x="5902631" y="4587261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+4</a:t>
            </a:r>
            <a:endParaRPr lang="zh-CN" altLang="en-US" sz="28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8923C18-51B6-9F7C-7F24-663337B3518B}"/>
              </a:ext>
            </a:extLst>
          </p:cNvPr>
          <p:cNvSpPr txBox="1"/>
          <p:nvPr/>
        </p:nvSpPr>
        <p:spPr>
          <a:xfrm>
            <a:off x="672692" y="4589611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+1</a:t>
            </a:r>
            <a:endParaRPr lang="zh-CN" altLang="en-US" sz="2800" dirty="0"/>
          </a:p>
        </p:txBody>
      </p:sp>
      <p:sp>
        <p:nvSpPr>
          <p:cNvPr id="38" name="箭头: 左弧形 37">
            <a:extLst>
              <a:ext uri="{FF2B5EF4-FFF2-40B4-BE49-F238E27FC236}">
                <a16:creationId xmlns:a16="http://schemas.microsoft.com/office/drawing/2014/main" id="{3BE138BC-A2B6-3A18-9C0B-57AF6DB5D0DD}"/>
              </a:ext>
            </a:extLst>
          </p:cNvPr>
          <p:cNvSpPr/>
          <p:nvPr/>
        </p:nvSpPr>
        <p:spPr>
          <a:xfrm rot="16200000">
            <a:off x="8703082" y="3463044"/>
            <a:ext cx="513980" cy="1739153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B34BC99-53E3-43CF-E247-1E56C09756C0}"/>
              </a:ext>
            </a:extLst>
          </p:cNvPr>
          <p:cNvSpPr txBox="1"/>
          <p:nvPr/>
        </p:nvSpPr>
        <p:spPr>
          <a:xfrm>
            <a:off x="4877038" y="5198240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6</a:t>
            </a:r>
            <a:endParaRPr lang="zh-CN" altLang="en-US" sz="28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CF3732B-F005-F5E9-EC44-DFDEFE880B1F}"/>
              </a:ext>
            </a:extLst>
          </p:cNvPr>
          <p:cNvSpPr txBox="1"/>
          <p:nvPr/>
        </p:nvSpPr>
        <p:spPr>
          <a:xfrm>
            <a:off x="6991605" y="5167368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10</a:t>
            </a:r>
            <a:endParaRPr lang="zh-CN" altLang="en-US" sz="28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CE9872E-0B44-41A3-4CCB-4061F32961A8}"/>
              </a:ext>
            </a:extLst>
          </p:cNvPr>
          <p:cNvSpPr txBox="1"/>
          <p:nvPr/>
        </p:nvSpPr>
        <p:spPr>
          <a:xfrm>
            <a:off x="10089725" y="5099640"/>
            <a:ext cx="69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15</a:t>
            </a:r>
            <a:endParaRPr lang="zh-CN" altLang="en-US" sz="2800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FE5F691-2AF0-BF76-0791-507B5E9B04F9}"/>
              </a:ext>
            </a:extLst>
          </p:cNvPr>
          <p:cNvSpPr/>
          <p:nvPr/>
        </p:nvSpPr>
        <p:spPr>
          <a:xfrm>
            <a:off x="9948703" y="4914997"/>
            <a:ext cx="926353" cy="8301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7" grpId="0"/>
      <p:bldP spid="38" grpId="0" animBg="1"/>
      <p:bldP spid="40" grpId="0"/>
      <p:bldP spid="41" grpId="0"/>
      <p:bldP spid="42" grpId="0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5</a:t>
            </a:fld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5ABD-7D28-4CC6-879C-4CD655C58EC8}"/>
              </a:ext>
            </a:extLst>
          </p:cNvPr>
          <p:cNvSpPr txBox="1"/>
          <p:nvPr/>
        </p:nvSpPr>
        <p:spPr>
          <a:xfrm>
            <a:off x="2349390" y="4727955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EFA5D5-0FEC-46D5-A0D9-3A53FF1565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8" r="33763" b="40000"/>
          <a:stretch/>
        </p:blipFill>
        <p:spPr>
          <a:xfrm>
            <a:off x="441606" y="1366683"/>
            <a:ext cx="10199032" cy="321200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47CAEF1-861A-F4AD-E6C9-BB52A87E10DE}"/>
              </a:ext>
            </a:extLst>
          </p:cNvPr>
          <p:cNvSpPr txBox="1"/>
          <p:nvPr/>
        </p:nvSpPr>
        <p:spPr>
          <a:xfrm>
            <a:off x="3675530" y="4546774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C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35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7FAE9D-DDF9-0362-2FB7-1CB3FFD2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6</a:t>
            </a:fld>
            <a:endParaRPr lang="en-SG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CB7DE3-60C7-A219-37ED-FC20D8F14F53}"/>
              </a:ext>
            </a:extLst>
          </p:cNvPr>
          <p:cNvSpPr txBox="1"/>
          <p:nvPr/>
        </p:nvSpPr>
        <p:spPr>
          <a:xfrm>
            <a:off x="914534" y="680640"/>
            <a:ext cx="5713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“evaluated to 0” </a:t>
            </a:r>
            <a:r>
              <a:rPr lang="en-US" altLang="zh-CN" sz="2400" dirty="0">
                <a:sym typeface="Wingdings" panose="05000000000000000000" pitchFamily="2" charset="2"/>
              </a:rPr>
              <a:t> the expression is false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31BE44-611C-A64A-8C3D-731D2E8FB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39" y="1262550"/>
            <a:ext cx="3296110" cy="6858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81148E5-1127-8547-3BF5-A2D1B7EBBD17}"/>
              </a:ext>
            </a:extLst>
          </p:cNvPr>
          <p:cNvSpPr txBox="1"/>
          <p:nvPr/>
        </p:nvSpPr>
        <p:spPr>
          <a:xfrm>
            <a:off x="4464559" y="1433674"/>
            <a:ext cx="3296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5 * 3 + 2 = 17 </a:t>
            </a:r>
            <a:r>
              <a:rPr lang="en-US" altLang="zh-CN" sz="2400" dirty="0">
                <a:sym typeface="Wingdings" panose="05000000000000000000" pitchFamily="2" charset="2"/>
              </a:rPr>
              <a:t> true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96E80F-55F2-7E43-BCD8-1F4DA7D2E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70" y="1946952"/>
            <a:ext cx="3381847" cy="6858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233C611-A4D1-A45D-608F-4851784FF232}"/>
              </a:ext>
            </a:extLst>
          </p:cNvPr>
          <p:cNvSpPr txBox="1"/>
          <p:nvPr/>
        </p:nvSpPr>
        <p:spPr>
          <a:xfrm>
            <a:off x="4464559" y="2171183"/>
            <a:ext cx="6478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Both 5 and 2 are integers </a:t>
            </a:r>
            <a:r>
              <a:rPr lang="en-US" altLang="zh-CN" sz="2400" dirty="0">
                <a:sym typeface="Wingdings" panose="05000000000000000000" pitchFamily="2" charset="2"/>
              </a:rPr>
              <a:t> 5 / 2 = 2  true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E7C181-D0A1-0190-29D5-10F759535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58" y="2929059"/>
            <a:ext cx="2810267" cy="600159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69B8BDC8-B14E-DAFA-FEF8-6D06A26A2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559" y="2690234"/>
            <a:ext cx="834451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dirty="0">
                <a:latin typeface="Arial" panose="020B0604020202020204" pitchFamily="34" charset="0"/>
              </a:rPr>
              <a:t>1 is an </a:t>
            </a:r>
            <a:r>
              <a:rPr lang="zh-CN" altLang="zh-CN" b="1" dirty="0">
                <a:latin typeface="Arial" panose="020B0604020202020204" pitchFamily="34" charset="0"/>
              </a:rPr>
              <a:t>int</a:t>
            </a:r>
            <a:r>
              <a:rPr lang="zh-CN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dirty="0">
                <a:latin typeface="Arial" panose="020B0604020202020204" pitchFamily="34" charset="0"/>
              </a:rPr>
              <a:t>1.0 is a </a:t>
            </a:r>
            <a:r>
              <a:rPr lang="zh-CN" altLang="zh-CN" b="1" dirty="0">
                <a:latin typeface="Arial" panose="020B0604020202020204" pitchFamily="34" charset="0"/>
              </a:rPr>
              <a:t>double</a:t>
            </a:r>
            <a:endParaRPr lang="zh-CN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dirty="0">
                <a:latin typeface="Arial" panose="020B0604020202020204" pitchFamily="34" charset="0"/>
              </a:rPr>
              <a:t>Before comparison, </a:t>
            </a:r>
            <a:r>
              <a:rPr lang="zh-CN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 will convert both operands to the same type</a:t>
            </a:r>
            <a:r>
              <a:rPr lang="zh-CN" altLang="zh-CN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u="sng" dirty="0">
                <a:latin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zh-CN" altLang="zh-CN" u="sng" dirty="0">
                <a:latin typeface="Arial" panose="020B0604020202020204" pitchFamily="34" charset="0"/>
              </a:rPr>
              <a:t>the integer 1 is promoted to double, becoming 1.0.</a:t>
            </a:r>
            <a:endParaRPr lang="en-US" altLang="zh-CN" u="sng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dirty="0">
                <a:latin typeface="Arial" panose="020B0604020202020204" pitchFamily="34" charset="0"/>
                <a:sym typeface="Wingdings" panose="05000000000000000000" pitchFamily="2" charset="2"/>
              </a:rPr>
              <a:t> the comparison between 1.0 &amp; 1.0</a:t>
            </a:r>
            <a:endParaRPr lang="zh-CN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They are exactly equal in value and type at this stage.</a:t>
            </a: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  <a:sym typeface="Wingdings" panose="05000000000000000000" pitchFamily="2" charset="2"/>
              </a:rPr>
              <a:t> false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0C0C241-CC07-6763-BCBA-33620C435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58" y="4719682"/>
            <a:ext cx="2610214" cy="48584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A83D77B-ACF1-1BEE-0D1E-20090237FBD0}"/>
              </a:ext>
            </a:extLst>
          </p:cNvPr>
          <p:cNvSpPr txBox="1"/>
          <p:nvPr/>
        </p:nvSpPr>
        <p:spPr>
          <a:xfrm>
            <a:off x="4464559" y="4916494"/>
            <a:ext cx="5437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1: integer</a:t>
            </a:r>
          </a:p>
          <a:p>
            <a:r>
              <a:rPr lang="en-US" altLang="zh-CN" sz="2000" dirty="0"/>
              <a:t>‘1’: character</a:t>
            </a:r>
          </a:p>
          <a:p>
            <a:r>
              <a:rPr lang="en-US" altLang="zh-CN" sz="2000" dirty="0"/>
              <a:t>Different types of variables. </a:t>
            </a:r>
            <a:r>
              <a:rPr lang="en-US" altLang="zh-CN" sz="2000" dirty="0">
                <a:sym typeface="Wingdings" panose="05000000000000000000" pitchFamily="2" charset="2"/>
              </a:rPr>
              <a:t> true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5365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 build="allAtOnce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B533-51C0-36FD-40E4-174290413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336" y="208703"/>
            <a:ext cx="8776855" cy="71553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什么时候转换，什么时候不转换？</a:t>
            </a:r>
            <a:endParaRPr lang="en-S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94EB1-F087-05E1-3A27-6980E8B77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09" y="966934"/>
            <a:ext cx="4918365" cy="5389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✅ 会触发 int → float/double 隐式转换的 6 种场景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1. 算术运算 Arithmetic + - * /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一边 int，一边 float/double → int 上浮为浮点</a:t>
            </a:r>
          </a:p>
          <a:p>
            <a:pPr marL="0" indent="0">
              <a:buNone/>
            </a:pPr>
            <a:r>
              <a:rPr lang="en-US" altLang="zh-CN" sz="1400" dirty="0">
                <a:latin typeface="+mj-lt"/>
              </a:rPr>
              <a:t>	</a:t>
            </a:r>
            <a:r>
              <a:rPr lang="zh-CN" altLang="zh-CN" sz="1400" dirty="0">
                <a:latin typeface="+mj-lt"/>
              </a:rPr>
              <a:t>例：5 + 2.0、10 / 3.0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2. 比较运算 Comparison &gt; &lt; == !=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两边类型不同，int 转为浮点再对比</a:t>
            </a:r>
          </a:p>
          <a:p>
            <a:pPr marL="0" indent="0">
              <a:buNone/>
            </a:pPr>
            <a:r>
              <a:rPr lang="en-US" altLang="zh-CN" sz="1400" dirty="0">
                <a:latin typeface="+mj-lt"/>
              </a:rPr>
              <a:t>	</a:t>
            </a:r>
            <a:r>
              <a:rPr lang="zh-CN" altLang="zh-CN" sz="1400" dirty="0">
                <a:latin typeface="+mj-lt"/>
              </a:rPr>
              <a:t>例：1 == 1.0、5 != 2.5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3. 赋值运算 Assignment =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左边变量是 float/double，右边是 int → int 转浮点</a:t>
            </a:r>
            <a:r>
              <a:rPr lang="zh-CN" altLang="en-US" sz="1400" dirty="0">
                <a:latin typeface="+mj-lt"/>
              </a:rPr>
              <a:t>（</a:t>
            </a:r>
            <a:r>
              <a:rPr lang="zh-CN" altLang="en-US" sz="1400" u="sng" dirty="0">
                <a:latin typeface="+mj-lt"/>
              </a:rPr>
              <a:t>“小转大”</a:t>
            </a:r>
            <a:r>
              <a:rPr lang="zh-CN" altLang="en-US" sz="1400" dirty="0">
                <a:latin typeface="+mj-lt"/>
              </a:rPr>
              <a:t>）</a:t>
            </a:r>
            <a:endParaRPr lang="zh-CN" altLang="zh-CN" sz="1400" dirty="0">
              <a:latin typeface="+mj-lt"/>
            </a:endParaRPr>
          </a:p>
          <a:p>
            <a:pPr marL="0" indent="0">
              <a:buNone/>
            </a:pPr>
            <a:r>
              <a:rPr lang="en-US" altLang="zh-CN" sz="1400" dirty="0">
                <a:latin typeface="+mj-lt"/>
              </a:rPr>
              <a:t>	</a:t>
            </a:r>
            <a:r>
              <a:rPr lang="zh-CN" altLang="zh-CN" sz="1400" dirty="0">
                <a:latin typeface="+mj-lt"/>
              </a:rPr>
              <a:t>例：float f = 8;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4. 函数传参 Function argument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形参 float/double，实参传入整数 int</a:t>
            </a:r>
          </a:p>
          <a:p>
            <a:pPr marL="0" indent="0">
              <a:buNone/>
            </a:pPr>
            <a:r>
              <a:rPr lang="en-US" altLang="zh-CN" sz="1400" dirty="0">
                <a:latin typeface="+mj-lt"/>
              </a:rPr>
              <a:t>	</a:t>
            </a:r>
            <a:r>
              <a:rPr lang="zh-CN" altLang="zh-CN" sz="1400" dirty="0">
                <a:latin typeface="+mj-lt"/>
              </a:rPr>
              <a:t>例：void show(float x); show(6);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5. 函数返回值 Return value</a:t>
            </a:r>
          </a:p>
          <a:p>
            <a:pPr marL="0" indent="0">
              <a:buNone/>
            </a:pPr>
            <a:r>
              <a:rPr lang="zh-CN" altLang="zh-CN" sz="1400" dirty="0">
                <a:latin typeface="+mj-lt"/>
              </a:rPr>
              <a:t>函数返回类型 float/double，return 写整数</a:t>
            </a:r>
          </a:p>
          <a:p>
            <a:pPr marL="0" indent="0">
              <a:buNone/>
            </a:pPr>
            <a:r>
              <a:rPr lang="en-US" altLang="zh-CN" sz="1400" dirty="0">
                <a:latin typeface="+mj-lt"/>
              </a:rPr>
              <a:t>	</a:t>
            </a:r>
            <a:r>
              <a:rPr lang="zh-CN" altLang="zh-CN" sz="1400" dirty="0">
                <a:latin typeface="+mj-lt"/>
              </a:rPr>
              <a:t>例：double func(){ return 3; }</a:t>
            </a:r>
            <a:endParaRPr lang="en-US" altLang="zh-CN" sz="1400" dirty="0">
              <a:latin typeface="+mj-lt"/>
            </a:endParaRPr>
          </a:p>
          <a:p>
            <a:pPr marL="0" indent="0">
              <a:buNone/>
            </a:pPr>
            <a:endParaRPr lang="zh-CN" altLang="zh-CN" sz="14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68C8E-512F-B549-8732-CA96250D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7</a:t>
            </a:fld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56C22-0E38-BDAE-74DF-2ACF3FA96EDB}"/>
              </a:ext>
            </a:extLst>
          </p:cNvPr>
          <p:cNvSpPr txBox="1"/>
          <p:nvPr/>
        </p:nvSpPr>
        <p:spPr>
          <a:xfrm>
            <a:off x="6165274" y="1446685"/>
            <a:ext cx="54171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❌ 不会触发 </a:t>
            </a:r>
            <a:r>
              <a:rPr lang="en-US" altLang="zh-CN" sz="1400" dirty="0"/>
              <a:t>int </a:t>
            </a:r>
            <a:r>
              <a:rPr lang="zh-CN" altLang="en-US" sz="1400" dirty="0"/>
              <a:t>转浮点（无隐式转换）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1. </a:t>
            </a:r>
            <a:r>
              <a:rPr lang="zh-CN" altLang="en-US" sz="1400" dirty="0"/>
              <a:t>两边</a:t>
            </a:r>
            <a:r>
              <a:rPr lang="zh-CN" altLang="en-US" sz="1400" dirty="0">
                <a:solidFill>
                  <a:srgbClr val="FF0000"/>
                </a:solidFill>
              </a:rPr>
              <a:t>全是整数 </a:t>
            </a:r>
            <a:r>
              <a:rPr lang="en-US" altLang="zh-CN" sz="1400" dirty="0">
                <a:solidFill>
                  <a:srgbClr val="FF0000"/>
                </a:solidFill>
              </a:rPr>
              <a:t>int /int</a:t>
            </a:r>
            <a:r>
              <a:rPr lang="zh-CN" altLang="en-US" sz="1400" dirty="0">
                <a:solidFill>
                  <a:srgbClr val="FF0000"/>
                </a:solidFill>
              </a:rPr>
              <a:t>或</a:t>
            </a:r>
            <a:r>
              <a:rPr lang="en-US" altLang="zh-CN" sz="1400" dirty="0">
                <a:solidFill>
                  <a:srgbClr val="FF0000"/>
                </a:solidFill>
              </a:rPr>
              <a:t>float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全部操作数都是整型，只做整数除法，不转浮点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	</a:t>
            </a:r>
            <a:r>
              <a:rPr lang="zh-CN" altLang="en-US" sz="1400" dirty="0"/>
              <a:t>例：</a:t>
            </a:r>
            <a:r>
              <a:rPr lang="en-US" altLang="zh-CN" sz="1400" dirty="0"/>
              <a:t>5 / 2 → </a:t>
            </a:r>
            <a:r>
              <a:rPr lang="zh-CN" altLang="en-US" sz="1400" dirty="0"/>
              <a:t>结果 </a:t>
            </a:r>
            <a:r>
              <a:rPr lang="en-US" altLang="zh-CN" sz="1400" dirty="0"/>
              <a:t>2</a:t>
            </a:r>
            <a:r>
              <a:rPr lang="zh-CN" altLang="en-US" sz="1400" dirty="0"/>
              <a:t>，不是 </a:t>
            </a:r>
            <a:r>
              <a:rPr lang="en-US" altLang="zh-CN" sz="1400" dirty="0"/>
              <a:t>2.5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2. </a:t>
            </a:r>
            <a:r>
              <a:rPr lang="zh-CN" altLang="en-US" sz="1400" dirty="0"/>
              <a:t>赋值：左 </a:t>
            </a:r>
            <a:r>
              <a:rPr lang="en-US" altLang="zh-CN" sz="1400" dirty="0"/>
              <a:t>int</a:t>
            </a:r>
            <a:r>
              <a:rPr lang="zh-CN" altLang="en-US" sz="1400" dirty="0"/>
              <a:t>，右 </a:t>
            </a:r>
            <a:r>
              <a:rPr lang="en-US" altLang="zh-CN" sz="1400" dirty="0"/>
              <a:t>float/double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浮点转 </a:t>
            </a:r>
            <a:r>
              <a:rPr lang="en-US" altLang="zh-CN" sz="1400" dirty="0"/>
              <a:t>int</a:t>
            </a:r>
            <a:r>
              <a:rPr lang="zh-CN" altLang="en-US" sz="1400" dirty="0"/>
              <a:t>（截断小数，向下转换，不属于 </a:t>
            </a:r>
            <a:r>
              <a:rPr lang="en-US" altLang="zh-CN" sz="1400" dirty="0"/>
              <a:t>int </a:t>
            </a:r>
            <a:r>
              <a:rPr lang="zh-CN" altLang="en-US" sz="1400" dirty="0"/>
              <a:t>上浮）（</a:t>
            </a:r>
            <a:r>
              <a:rPr lang="zh-CN" altLang="en-US" sz="1400" u="sng" dirty="0"/>
              <a:t>“大转小”</a:t>
            </a:r>
            <a:r>
              <a:rPr lang="zh-CN" altLang="en-US" sz="1400" dirty="0"/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	</a:t>
            </a:r>
            <a:r>
              <a:rPr lang="zh-CN" altLang="en-US" sz="1400" dirty="0"/>
              <a:t>例：</a:t>
            </a:r>
            <a:r>
              <a:rPr lang="en-US" altLang="zh-CN" sz="1400" dirty="0"/>
              <a:t>int a = 2.9; → a=2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3. </a:t>
            </a:r>
            <a:r>
              <a:rPr lang="zh-CN" altLang="en-US" sz="1400" dirty="0"/>
              <a:t>模运算 </a:t>
            </a:r>
            <a:r>
              <a:rPr lang="en-US" altLang="zh-CN" sz="1400" dirty="0"/>
              <a:t>Modulo %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% </a:t>
            </a:r>
            <a:r>
              <a:rPr lang="zh-CN" altLang="en-US" sz="1400" dirty="0"/>
              <a:t>只能用于两个整数，不能出现 </a:t>
            </a:r>
            <a:r>
              <a:rPr lang="en-US" altLang="zh-CN" sz="1400" dirty="0"/>
              <a:t>float/double</a:t>
            </a:r>
            <a:r>
              <a:rPr lang="zh-CN" altLang="en-US" sz="1400" dirty="0"/>
              <a:t>，编译报错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	</a:t>
            </a:r>
            <a:r>
              <a:rPr lang="zh-CN" altLang="en-US" sz="1400" dirty="0"/>
              <a:t>例：</a:t>
            </a:r>
            <a:r>
              <a:rPr lang="en-US" altLang="zh-CN" sz="1400" dirty="0"/>
              <a:t>5 % 2 </a:t>
            </a:r>
            <a:r>
              <a:rPr lang="zh-CN" altLang="en-US" sz="1400" dirty="0"/>
              <a:t>合法；</a:t>
            </a:r>
            <a:r>
              <a:rPr lang="en-US" altLang="zh-CN" sz="1400" dirty="0"/>
              <a:t>5 % 2.0 </a:t>
            </a:r>
            <a:r>
              <a:rPr lang="zh-CN" altLang="en-US" sz="1400" dirty="0">
                <a:solidFill>
                  <a:srgbClr val="FF0000"/>
                </a:solidFill>
              </a:rPr>
              <a:t>报错</a:t>
            </a:r>
            <a:r>
              <a:rPr lang="zh-CN" altLang="en-US" sz="1400" dirty="0"/>
              <a:t>，不存在转换</a:t>
            </a:r>
          </a:p>
          <a:p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377329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8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0A87D-9D48-435C-9909-F49F1EBE2B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8" r="10618" b="55745"/>
          <a:stretch/>
        </p:blipFill>
        <p:spPr>
          <a:xfrm>
            <a:off x="1448292" y="117987"/>
            <a:ext cx="9725062" cy="5761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5F73A3-A0F7-48B3-927B-D889C9413013}"/>
              </a:ext>
            </a:extLst>
          </p:cNvPr>
          <p:cNvSpPr txBox="1"/>
          <p:nvPr/>
        </p:nvSpPr>
        <p:spPr>
          <a:xfrm>
            <a:off x="2323342" y="5816093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A88B85-D993-32D6-E540-A61A030CDC2B}"/>
              </a:ext>
            </a:extLst>
          </p:cNvPr>
          <p:cNvSpPr txBox="1"/>
          <p:nvPr/>
        </p:nvSpPr>
        <p:spPr>
          <a:xfrm>
            <a:off x="3671930" y="5631665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C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6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6A7714-6B5E-9CBA-C81B-C51735C32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5232" y="6277692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9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AF89A2-0D99-0A91-2293-8DB76CFF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35" y="418637"/>
            <a:ext cx="3943900" cy="331516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F3726F-14FC-F8FE-0848-8DD23B176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08522"/>
              </p:ext>
            </p:extLst>
          </p:nvPr>
        </p:nvGraphicFramePr>
        <p:xfrm>
          <a:off x="4389578" y="740447"/>
          <a:ext cx="7428348" cy="1116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058">
                  <a:extLst>
                    <a:ext uri="{9D8B030D-6E8A-4147-A177-3AD203B41FA5}">
                      <a16:colId xmlns:a16="http://schemas.microsoft.com/office/drawing/2014/main" val="1414410624"/>
                    </a:ext>
                  </a:extLst>
                </a:gridCol>
                <a:gridCol w="1152058">
                  <a:extLst>
                    <a:ext uri="{9D8B030D-6E8A-4147-A177-3AD203B41FA5}">
                      <a16:colId xmlns:a16="http://schemas.microsoft.com/office/drawing/2014/main" val="3292775978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3444493262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1851042969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2422048604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1225003375"/>
                    </a:ext>
                  </a:extLst>
                </a:gridCol>
              </a:tblGrid>
              <a:tr h="558031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a[4]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688376"/>
                  </a:ext>
                </a:extLst>
              </a:tr>
              <a:tr h="558031"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90576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318474C-215D-C254-621E-E6ABDF48A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78953"/>
              </p:ext>
            </p:extLst>
          </p:nvPr>
        </p:nvGraphicFramePr>
        <p:xfrm>
          <a:off x="4399410" y="2354502"/>
          <a:ext cx="7428348" cy="1116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058">
                  <a:extLst>
                    <a:ext uri="{9D8B030D-6E8A-4147-A177-3AD203B41FA5}">
                      <a16:colId xmlns:a16="http://schemas.microsoft.com/office/drawing/2014/main" val="1414410624"/>
                    </a:ext>
                  </a:extLst>
                </a:gridCol>
                <a:gridCol w="1152058">
                  <a:extLst>
                    <a:ext uri="{9D8B030D-6E8A-4147-A177-3AD203B41FA5}">
                      <a16:colId xmlns:a16="http://schemas.microsoft.com/office/drawing/2014/main" val="3292775978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3444493262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1851042969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2422048604"/>
                    </a:ext>
                  </a:extLst>
                </a:gridCol>
                <a:gridCol w="1238058">
                  <a:extLst>
                    <a:ext uri="{9D8B030D-6E8A-4147-A177-3AD203B41FA5}">
                      <a16:colId xmlns:a16="http://schemas.microsoft.com/office/drawing/2014/main" val="1225003375"/>
                    </a:ext>
                  </a:extLst>
                </a:gridCol>
              </a:tblGrid>
              <a:tr h="558031"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b[4]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688376"/>
                  </a:ext>
                </a:extLst>
              </a:tr>
              <a:tr h="558031"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90576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6837D96-4DCB-C015-81BE-EA26D0096DF5}"/>
              </a:ext>
            </a:extLst>
          </p:cNvPr>
          <p:cNvSpPr txBox="1"/>
          <p:nvPr/>
        </p:nvSpPr>
        <p:spPr>
          <a:xfrm>
            <a:off x="1925780" y="3968557"/>
            <a:ext cx="3943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i</a:t>
            </a:r>
            <a:r>
              <a:rPr lang="en-US" altLang="zh-CN" sz="2000" dirty="0"/>
              <a:t> = 0: b[0] = a[ (0 + 2) % 5] = a[2] = 2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5EE0DA-3767-E0CB-500A-049A21E3A486}"/>
              </a:ext>
            </a:extLst>
          </p:cNvPr>
          <p:cNvSpPr txBox="1"/>
          <p:nvPr/>
        </p:nvSpPr>
        <p:spPr>
          <a:xfrm>
            <a:off x="5770418" y="2964873"/>
            <a:ext cx="23552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18BE4F-1F6F-83E9-4A7C-0C44A9CA3BB9}"/>
              </a:ext>
            </a:extLst>
          </p:cNvPr>
          <p:cNvSpPr txBox="1"/>
          <p:nvPr/>
        </p:nvSpPr>
        <p:spPr>
          <a:xfrm>
            <a:off x="1925781" y="4521067"/>
            <a:ext cx="3943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i</a:t>
            </a:r>
            <a:r>
              <a:rPr lang="en-US" altLang="zh-CN" sz="2000" dirty="0"/>
              <a:t> = 1: b[1] = a[ (1 + 2) % 5] = a[3] = 1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A0A579-3621-31DC-2F23-6D513EF6A937}"/>
              </a:ext>
            </a:extLst>
          </p:cNvPr>
          <p:cNvSpPr txBox="1"/>
          <p:nvPr/>
        </p:nvSpPr>
        <p:spPr>
          <a:xfrm>
            <a:off x="6913418" y="2912533"/>
            <a:ext cx="23552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32BCD8-F8BE-4738-5B99-09D7E2F0C8CB}"/>
              </a:ext>
            </a:extLst>
          </p:cNvPr>
          <p:cNvSpPr txBox="1"/>
          <p:nvPr/>
        </p:nvSpPr>
        <p:spPr>
          <a:xfrm>
            <a:off x="1925780" y="5073577"/>
            <a:ext cx="41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i</a:t>
            </a:r>
            <a:r>
              <a:rPr lang="en-US" altLang="zh-CN" sz="2000" dirty="0"/>
              <a:t> = 2: b[2] = a[ (2 + 2) % 5] = a[4] = 0</a:t>
            </a:r>
            <a:endParaRPr lang="zh-CN" altLang="en-US" sz="2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0ACDCF-C243-56DA-67D2-57E9C29F78F7}"/>
              </a:ext>
            </a:extLst>
          </p:cNvPr>
          <p:cNvSpPr txBox="1"/>
          <p:nvPr/>
        </p:nvSpPr>
        <p:spPr>
          <a:xfrm>
            <a:off x="8104908" y="2912533"/>
            <a:ext cx="23552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883842-97ED-1C76-93C2-341491A07A60}"/>
              </a:ext>
            </a:extLst>
          </p:cNvPr>
          <p:cNvSpPr txBox="1"/>
          <p:nvPr/>
        </p:nvSpPr>
        <p:spPr>
          <a:xfrm>
            <a:off x="1925781" y="5626087"/>
            <a:ext cx="4080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i</a:t>
            </a:r>
            <a:r>
              <a:rPr lang="en-US" altLang="zh-CN" sz="2000" dirty="0"/>
              <a:t> = 3: b[3] = a[ (3 + 2) % 5] = a[0] = 4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2C18D5-CB16-72D5-A726-BB7D85F59876}"/>
              </a:ext>
            </a:extLst>
          </p:cNvPr>
          <p:cNvSpPr txBox="1"/>
          <p:nvPr/>
        </p:nvSpPr>
        <p:spPr>
          <a:xfrm>
            <a:off x="9423402" y="2933148"/>
            <a:ext cx="23552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122400D-FEF5-0EA2-9A73-AA56F4C89E15}"/>
              </a:ext>
            </a:extLst>
          </p:cNvPr>
          <p:cNvSpPr txBox="1"/>
          <p:nvPr/>
        </p:nvSpPr>
        <p:spPr>
          <a:xfrm>
            <a:off x="1925781" y="6178597"/>
            <a:ext cx="3943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i</a:t>
            </a:r>
            <a:r>
              <a:rPr lang="en-US" altLang="zh-CN" sz="2000" dirty="0"/>
              <a:t> = 4: b[4] = a[ (4 + 2) % 5] = a[1] = 3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4AE303-955C-4560-70CF-F592ACFE1971}"/>
              </a:ext>
            </a:extLst>
          </p:cNvPr>
          <p:cNvSpPr txBox="1"/>
          <p:nvPr/>
        </p:nvSpPr>
        <p:spPr>
          <a:xfrm>
            <a:off x="10624132" y="2934023"/>
            <a:ext cx="23552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AC6655-577A-862D-4A46-2B81484B80A9}"/>
              </a:ext>
            </a:extLst>
          </p:cNvPr>
          <p:cNvSpPr txBox="1"/>
          <p:nvPr/>
        </p:nvSpPr>
        <p:spPr>
          <a:xfrm>
            <a:off x="7068501" y="4122595"/>
            <a:ext cx="5846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Output:</a:t>
            </a:r>
            <a:endParaRPr lang="zh-CN" altLang="en-US" sz="24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673FC3-2CAE-05D3-A7EE-B3CB168AE12D}"/>
              </a:ext>
            </a:extLst>
          </p:cNvPr>
          <p:cNvSpPr txBox="1"/>
          <p:nvPr/>
        </p:nvSpPr>
        <p:spPr>
          <a:xfrm>
            <a:off x="7543577" y="4548483"/>
            <a:ext cx="3114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[2, 1, 0, 4, 3] 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41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10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0A87D-9D48-435C-9909-F49F1EBE2B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90" r="8812" b="11632"/>
          <a:stretch/>
        </p:blipFill>
        <p:spPr>
          <a:xfrm>
            <a:off x="1714180" y="438031"/>
            <a:ext cx="7262672" cy="4840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3F1D9A-6EC6-4C58-97AB-5E5C6F02CEAE}"/>
              </a:ext>
            </a:extLst>
          </p:cNvPr>
          <p:cNvSpPr txBox="1"/>
          <p:nvPr/>
        </p:nvSpPr>
        <p:spPr>
          <a:xfrm>
            <a:off x="2472605" y="5528447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11640F1-C55E-AB5E-B6CE-7BC8E706E5F5}"/>
              </a:ext>
            </a:extLst>
          </p:cNvPr>
          <p:cNvSpPr/>
          <p:nvPr/>
        </p:nvSpPr>
        <p:spPr>
          <a:xfrm>
            <a:off x="5271654" y="3771565"/>
            <a:ext cx="1276630" cy="284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D78462-961F-E9EA-5921-B88C153BCD6E}"/>
              </a:ext>
            </a:extLst>
          </p:cNvPr>
          <p:cNvSpPr txBox="1"/>
          <p:nvPr/>
        </p:nvSpPr>
        <p:spPr>
          <a:xfrm>
            <a:off x="3742534" y="5331351"/>
            <a:ext cx="3572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Pencil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23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652D47-13D4-96A9-ED2C-44917720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11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79FAFC-4FDD-2B18-542C-50BE450A8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9" y="260376"/>
            <a:ext cx="5149560" cy="4255036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28EBFE7-DECC-89AB-9E96-C9738B144F48}"/>
              </a:ext>
            </a:extLst>
          </p:cNvPr>
          <p:cNvCxnSpPr>
            <a:cxnSpLocks/>
          </p:cNvCxnSpPr>
          <p:nvPr/>
        </p:nvCxnSpPr>
        <p:spPr>
          <a:xfrm>
            <a:off x="5839692" y="2967724"/>
            <a:ext cx="596438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47F000E-CE2A-6E9F-F20F-8902048136F9}"/>
              </a:ext>
            </a:extLst>
          </p:cNvPr>
          <p:cNvSpPr txBox="1"/>
          <p:nvPr/>
        </p:nvSpPr>
        <p:spPr>
          <a:xfrm>
            <a:off x="7194275" y="302889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50</a:t>
            </a:r>
            <a:endParaRPr lang="zh-CN" altLang="en-US" sz="2000" dirty="0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A62DF71-ECC8-BE79-DFB5-A3AF401FECF3}"/>
              </a:ext>
            </a:extLst>
          </p:cNvPr>
          <p:cNvCxnSpPr/>
          <p:nvPr/>
        </p:nvCxnSpPr>
        <p:spPr>
          <a:xfrm flipV="1">
            <a:off x="8430491" y="2101814"/>
            <a:ext cx="2923309" cy="865910"/>
          </a:xfrm>
          <a:prstGeom prst="bentConnector3">
            <a:avLst>
              <a:gd name="adj1" fmla="val -237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12AFE4B-CE86-3075-4749-416915B7494E}"/>
              </a:ext>
            </a:extLst>
          </p:cNvPr>
          <p:cNvSpPr txBox="1"/>
          <p:nvPr/>
        </p:nvSpPr>
        <p:spPr>
          <a:xfrm>
            <a:off x="8157767" y="302889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60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D5A14A-84F8-2673-A05C-3D04A5E976D1}"/>
              </a:ext>
            </a:extLst>
          </p:cNvPr>
          <p:cNvSpPr txBox="1"/>
          <p:nvPr/>
        </p:nvSpPr>
        <p:spPr>
          <a:xfrm>
            <a:off x="6342220" y="302889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40</a:t>
            </a:r>
            <a:endParaRPr lang="zh-CN" altLang="en-US" sz="2000" dirty="0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98E0CF70-721D-7DA5-4A3E-17C68F9D613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494319" y="2139916"/>
            <a:ext cx="865909" cy="789708"/>
          </a:xfrm>
          <a:prstGeom prst="bentConnector3">
            <a:avLst>
              <a:gd name="adj1" fmla="val 98000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116E174-2D23-D839-9BBC-A828A8F29846}"/>
              </a:ext>
            </a:extLst>
          </p:cNvPr>
          <p:cNvCxnSpPr/>
          <p:nvPr/>
        </p:nvCxnSpPr>
        <p:spPr>
          <a:xfrm>
            <a:off x="7335983" y="2101814"/>
            <a:ext cx="0" cy="86591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85CD0BC5-EF95-DE81-230D-B463918A1931}"/>
              </a:ext>
            </a:extLst>
          </p:cNvPr>
          <p:cNvCxnSpPr/>
          <p:nvPr/>
        </p:nvCxnSpPr>
        <p:spPr>
          <a:xfrm rot="10800000">
            <a:off x="5399210" y="1898050"/>
            <a:ext cx="1056710" cy="1039091"/>
          </a:xfrm>
          <a:prstGeom prst="bentConnector3">
            <a:avLst>
              <a:gd name="adj1" fmla="val -1133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5D7F28BD-835E-98E3-B668-F2346D1DB81A}"/>
              </a:ext>
            </a:extLst>
          </p:cNvPr>
          <p:cNvCxnSpPr>
            <a:cxnSpLocks/>
          </p:cNvCxnSpPr>
          <p:nvPr/>
        </p:nvCxnSpPr>
        <p:spPr>
          <a:xfrm flipV="1">
            <a:off x="9240982" y="2387894"/>
            <a:ext cx="2466108" cy="579830"/>
          </a:xfrm>
          <a:prstGeom prst="bentConnector3">
            <a:avLst>
              <a:gd name="adj1" fmla="val 112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075EC714-E4A7-F1D1-7845-23BAE900E8FF}"/>
              </a:ext>
            </a:extLst>
          </p:cNvPr>
          <p:cNvSpPr txBox="1"/>
          <p:nvPr/>
        </p:nvSpPr>
        <p:spPr>
          <a:xfrm>
            <a:off x="9097917" y="3053749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70</a:t>
            </a:r>
            <a:endParaRPr lang="zh-CN" altLang="en-US" sz="2000" dirty="0"/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128DF60-9C49-1691-15DD-C1EF94549B5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36427" y="2139915"/>
            <a:ext cx="865909" cy="789708"/>
          </a:xfrm>
          <a:prstGeom prst="bentConnector3">
            <a:avLst>
              <a:gd name="adj1" fmla="val 98000"/>
            </a:avLst>
          </a:prstGeom>
          <a:ln w="381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CA49BFD-5E8E-EA9F-57BD-4ECC0038AB68}"/>
              </a:ext>
            </a:extLst>
          </p:cNvPr>
          <p:cNvCxnSpPr/>
          <p:nvPr/>
        </p:nvCxnSpPr>
        <p:spPr>
          <a:xfrm>
            <a:off x="8278091" y="2101813"/>
            <a:ext cx="0" cy="86591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F40DC90-2744-861B-57DD-F3B7C8F8650A}"/>
              </a:ext>
            </a:extLst>
          </p:cNvPr>
          <p:cNvSpPr txBox="1"/>
          <p:nvPr/>
        </p:nvSpPr>
        <p:spPr>
          <a:xfrm>
            <a:off x="5322711" y="1288473"/>
            <a:ext cx="1083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Paper </a:t>
            </a:r>
            <a:endParaRPr lang="zh-CN" altLang="en-US" sz="28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2A95788-849F-B104-7EBC-E85764D22BA9}"/>
              </a:ext>
            </a:extLst>
          </p:cNvPr>
          <p:cNvSpPr txBox="1"/>
          <p:nvPr/>
        </p:nvSpPr>
        <p:spPr>
          <a:xfrm>
            <a:off x="6572703" y="1578593"/>
            <a:ext cx="124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Clip </a:t>
            </a:r>
            <a:endParaRPr lang="zh-CN" altLang="en-US" sz="28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CDA93B3-8F43-77B9-F5B4-634DBDFD6605}"/>
              </a:ext>
            </a:extLst>
          </p:cNvPr>
          <p:cNvSpPr txBox="1"/>
          <p:nvPr/>
        </p:nvSpPr>
        <p:spPr>
          <a:xfrm>
            <a:off x="7440082" y="1548011"/>
            <a:ext cx="1199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Eraser</a:t>
            </a:r>
            <a:endParaRPr lang="zh-CN" altLang="en-US" sz="28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AFBEEA-14A0-B4D3-E116-F83A46ACC0EC}"/>
              </a:ext>
            </a:extLst>
          </p:cNvPr>
          <p:cNvSpPr txBox="1"/>
          <p:nvPr/>
        </p:nvSpPr>
        <p:spPr>
          <a:xfrm>
            <a:off x="9097916" y="1492570"/>
            <a:ext cx="1364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Ruler</a:t>
            </a:r>
            <a:endParaRPr lang="zh-CN" altLang="en-US" sz="28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B9C31E4-B2C6-4E16-369B-D9C1136115BB}"/>
              </a:ext>
            </a:extLst>
          </p:cNvPr>
          <p:cNvSpPr txBox="1"/>
          <p:nvPr/>
        </p:nvSpPr>
        <p:spPr>
          <a:xfrm>
            <a:off x="9892144" y="2358479"/>
            <a:ext cx="151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Pencil </a:t>
            </a:r>
            <a:endParaRPr lang="zh-CN" altLang="en-US" sz="2800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A48BCE9-9EF4-37F6-2E6A-5E71A594B51E}"/>
              </a:ext>
            </a:extLst>
          </p:cNvPr>
          <p:cNvCxnSpPr>
            <a:cxnSpLocks/>
          </p:cNvCxnSpPr>
          <p:nvPr/>
        </p:nvCxnSpPr>
        <p:spPr>
          <a:xfrm flipH="1" flipV="1">
            <a:off x="10328564" y="2826327"/>
            <a:ext cx="55418" cy="1482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E68E1421-2D71-222A-F419-20254A91E7A7}"/>
              </a:ext>
            </a:extLst>
          </p:cNvPr>
          <p:cNvSpPr txBox="1"/>
          <p:nvPr/>
        </p:nvSpPr>
        <p:spPr>
          <a:xfrm>
            <a:off x="8444346" y="4326647"/>
            <a:ext cx="2743199" cy="19389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The range from 60 to infinity has included the new range from 70 to infinity. So “Pencil” will not be printed on the screen.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380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38" grpId="0"/>
      <p:bldP spid="41" grpId="0"/>
      <p:bldP spid="42" grpId="0"/>
      <p:bldP spid="43" grpId="0"/>
      <p:bldP spid="44" grpId="0"/>
      <p:bldP spid="45" grpId="0"/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12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2904F-8CA1-4276-97D3-B0492CB928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54468"/>
          <a:stretch/>
        </p:blipFill>
        <p:spPr>
          <a:xfrm>
            <a:off x="1526422" y="452446"/>
            <a:ext cx="8797449" cy="4694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289B9E-9BFF-4B2E-AA20-E1ECF5E75A9B}"/>
              </a:ext>
            </a:extLst>
          </p:cNvPr>
          <p:cNvSpPr txBox="1"/>
          <p:nvPr/>
        </p:nvSpPr>
        <p:spPr>
          <a:xfrm>
            <a:off x="2517267" y="5345191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081D73-8C35-8411-F7C1-356C862366D6}"/>
              </a:ext>
            </a:extLst>
          </p:cNvPr>
          <p:cNvSpPr txBox="1"/>
          <p:nvPr/>
        </p:nvSpPr>
        <p:spPr>
          <a:xfrm>
            <a:off x="3831024" y="5105209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D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13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F53720-BED8-93C8-4EC4-6CFC0853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3890" y="6307189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13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DDC9B3-39CB-DAB9-9ABE-15600436C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78" y="635747"/>
            <a:ext cx="5172046" cy="30109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93F08AC-293D-8D77-502D-BF2DA7EDE5CB}"/>
              </a:ext>
            </a:extLst>
          </p:cNvPr>
          <p:cNvSpPr txBox="1"/>
          <p:nvPr/>
        </p:nvSpPr>
        <p:spPr>
          <a:xfrm>
            <a:off x="6884145" y="442675"/>
            <a:ext cx="383770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Make an example:</a:t>
            </a:r>
          </a:p>
          <a:p>
            <a:r>
              <a:rPr lang="en-US" altLang="zh-CN" sz="2400" dirty="0" err="1"/>
              <a:t>do_thing</a:t>
            </a:r>
            <a:r>
              <a:rPr lang="en-US" altLang="zh-CN" sz="2400" dirty="0"/>
              <a:t> (int x = 2, int y = 3)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altLang="zh-CN" sz="2400" dirty="0">
                <a:sym typeface="Wingdings" panose="05000000000000000000" pitchFamily="2" charset="2"/>
              </a:rPr>
              <a:t>m = 2;  </a:t>
            </a:r>
            <a:r>
              <a:rPr lang="en-US" altLang="zh-CN" sz="2400" dirty="0" err="1"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ym typeface="Wingdings" panose="05000000000000000000" pitchFamily="2" charset="2"/>
              </a:rPr>
              <a:t> = 1;</a:t>
            </a:r>
          </a:p>
          <a:p>
            <a:pPr marL="457200" indent="-457200">
              <a:buAutoNum type="arabicParenR"/>
            </a:pPr>
            <a:r>
              <a:rPr lang="en-US" altLang="zh-CN" sz="2400" dirty="0">
                <a:sym typeface="Wingdings" panose="05000000000000000000" pitchFamily="2" charset="2"/>
              </a:rPr>
              <a:t>2 % 3 != 0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       </a:t>
            </a:r>
            <a:r>
              <a:rPr lang="en-US" altLang="zh-CN" sz="2400" dirty="0" err="1"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ym typeface="Wingdings" panose="05000000000000000000" pitchFamily="2" charset="2"/>
              </a:rPr>
              <a:t> = 2;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       m = 4;</a:t>
            </a:r>
          </a:p>
          <a:p>
            <a:pPr marL="457200" indent="-457200">
              <a:buAutoNum type="arabicParenR" startAt="2"/>
            </a:pPr>
            <a:r>
              <a:rPr lang="en-US" altLang="zh-CN" sz="2400" dirty="0">
                <a:sym typeface="Wingdings" panose="05000000000000000000" pitchFamily="2" charset="2"/>
              </a:rPr>
              <a:t>4 % 3 != 0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       </a:t>
            </a:r>
            <a:r>
              <a:rPr lang="en-US" altLang="zh-CN" sz="2400" dirty="0" err="1"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ym typeface="Wingdings" panose="05000000000000000000" pitchFamily="2" charset="2"/>
              </a:rPr>
              <a:t> = 3;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       m = 6;</a:t>
            </a:r>
          </a:p>
          <a:p>
            <a:pPr marL="457200" indent="-457200">
              <a:buAutoNum type="arabicParenR" startAt="3"/>
            </a:pPr>
            <a:r>
              <a:rPr lang="en-US" altLang="zh-CN" sz="2400" dirty="0">
                <a:sym typeface="Wingdings" panose="05000000000000000000" pitchFamily="2" charset="2"/>
              </a:rPr>
              <a:t>6 % 3 == 0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         return 6;</a:t>
            </a:r>
          </a:p>
          <a:p>
            <a:endParaRPr lang="en-US" altLang="zh-CN" sz="2400" dirty="0">
              <a:sym typeface="Wingdings" panose="05000000000000000000" pitchFamily="2" charset="2"/>
            </a:endParaRPr>
          </a:p>
          <a:p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6C8627-9AE8-89B2-EE00-D175FF787DAA}"/>
              </a:ext>
            </a:extLst>
          </p:cNvPr>
          <p:cNvSpPr txBox="1"/>
          <p:nvPr/>
        </p:nvSpPr>
        <p:spPr>
          <a:xfrm>
            <a:off x="1958853" y="4383483"/>
            <a:ext cx="6199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ym typeface="Wingdings" panose="05000000000000000000" pitchFamily="2" charset="2"/>
              </a:rPr>
              <a:t> Cannot select A, B, nor C</a:t>
            </a:r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CDD3BD-1F72-48B5-E03C-68C630A903DF}"/>
              </a:ext>
            </a:extLst>
          </p:cNvPr>
          <p:cNvSpPr txBox="1"/>
          <p:nvPr/>
        </p:nvSpPr>
        <p:spPr>
          <a:xfrm>
            <a:off x="933617" y="5174003"/>
            <a:ext cx="502227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This algorithm keeps m a multiple of x, and try to find an m that is also a multiple of y, and then return that m.</a:t>
            </a:r>
            <a:endParaRPr lang="zh-CN" altLang="en-US" sz="24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2B0F856-5FDA-B443-CCBB-1296C68ADA72}"/>
              </a:ext>
            </a:extLst>
          </p:cNvPr>
          <p:cNvSpPr/>
          <p:nvPr/>
        </p:nvSpPr>
        <p:spPr>
          <a:xfrm>
            <a:off x="6122145" y="5631203"/>
            <a:ext cx="1101436" cy="3394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5A55FD-9962-A952-ED72-A59143F26E7D}"/>
              </a:ext>
            </a:extLst>
          </p:cNvPr>
          <p:cNvSpPr txBox="1"/>
          <p:nvPr/>
        </p:nvSpPr>
        <p:spPr>
          <a:xfrm>
            <a:off x="7493745" y="5358668"/>
            <a:ext cx="367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Find the least common multiple of x and y.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1908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14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2904F-8CA1-4276-97D3-B0492CB928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50" r="12022" b="20000"/>
          <a:stretch/>
        </p:blipFill>
        <p:spPr>
          <a:xfrm>
            <a:off x="1355930" y="511278"/>
            <a:ext cx="8690618" cy="4616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CC882-9727-4DE1-8AC1-8DC30E37194D}"/>
              </a:ext>
            </a:extLst>
          </p:cNvPr>
          <p:cNvSpPr txBox="1"/>
          <p:nvPr/>
        </p:nvSpPr>
        <p:spPr>
          <a:xfrm>
            <a:off x="2198766" y="5317264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E15D69-41FE-A843-F339-F636F3340D6F}"/>
              </a:ext>
            </a:extLst>
          </p:cNvPr>
          <p:cNvSpPr txBox="1"/>
          <p:nvPr/>
        </p:nvSpPr>
        <p:spPr>
          <a:xfrm>
            <a:off x="3499362" y="5070573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D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72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FAA31-2BBF-39EC-A508-F30CC4F9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15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B3C61D-3C0F-1B16-326E-C99403663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80" y="357947"/>
            <a:ext cx="6216503" cy="34802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61F0ADA-F9B6-C9C2-B4CC-155875039273}"/>
              </a:ext>
            </a:extLst>
          </p:cNvPr>
          <p:cNvSpPr txBox="1"/>
          <p:nvPr/>
        </p:nvSpPr>
        <p:spPr>
          <a:xfrm>
            <a:off x="7377546" y="415636"/>
            <a:ext cx="38377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Make an example:</a:t>
            </a:r>
          </a:p>
          <a:p>
            <a:r>
              <a:rPr lang="en-US" altLang="zh-CN" sz="2400" dirty="0"/>
              <a:t>Unknown (int x = 2, int y = 3)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457200" indent="-457200">
              <a:buAutoNum type="arabicParenR"/>
            </a:pPr>
            <a:r>
              <a:rPr lang="en-US" altLang="zh-CN" sz="2400" dirty="0">
                <a:sym typeface="Wingdings" panose="05000000000000000000" pitchFamily="2" charset="2"/>
              </a:rPr>
              <a:t>2 &gt; 0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        unknown (1, 2); </a:t>
            </a:r>
          </a:p>
          <a:p>
            <a:pPr marL="457200" indent="-457200">
              <a:buAutoNum type="arabicParenR" startAt="2"/>
            </a:pPr>
            <a:r>
              <a:rPr lang="en-US" altLang="zh-CN" sz="2400" dirty="0">
                <a:sym typeface="Wingdings" panose="05000000000000000000" pitchFamily="2" charset="2"/>
              </a:rPr>
              <a:t>1 &gt; 0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        unknown (0, 1); </a:t>
            </a:r>
          </a:p>
          <a:p>
            <a:pPr marL="457200" indent="-457200">
              <a:buAutoNum type="arabicParenR" startAt="3"/>
            </a:pPr>
            <a:r>
              <a:rPr lang="en-US" altLang="zh-CN" sz="2400" dirty="0">
                <a:sym typeface="Wingdings" panose="05000000000000000000" pitchFamily="2" charset="2"/>
              </a:rPr>
              <a:t>0==0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  return 1;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6768A4-C6B1-4EB2-2555-1D880578F3DF}"/>
              </a:ext>
            </a:extLst>
          </p:cNvPr>
          <p:cNvSpPr txBox="1"/>
          <p:nvPr/>
        </p:nvSpPr>
        <p:spPr>
          <a:xfrm>
            <a:off x="2105891" y="4391891"/>
            <a:ext cx="3823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Try to plus 1 or minus 1 on x and y at the same time to turn x to 0. </a:t>
            </a:r>
            <a:r>
              <a:rPr lang="en-US" altLang="zh-CN" sz="2400" dirty="0">
                <a:sym typeface="Wingdings" panose="05000000000000000000" pitchFamily="2" charset="2"/>
              </a:rPr>
              <a:t>return the new y, which is original y minus original x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0451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16</a:t>
            </a:fld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5ABD-7D28-4CC6-879C-4CD655C58EC8}"/>
              </a:ext>
            </a:extLst>
          </p:cNvPr>
          <p:cNvSpPr txBox="1"/>
          <p:nvPr/>
        </p:nvSpPr>
        <p:spPr>
          <a:xfrm>
            <a:off x="7391034" y="2578352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7DD95-CD77-420C-B157-17E7842A7E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7" t="7801" r="8411" b="32199"/>
          <a:stretch/>
        </p:blipFill>
        <p:spPr>
          <a:xfrm>
            <a:off x="1118536" y="252708"/>
            <a:ext cx="6090935" cy="66052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2E3B571-F7F4-D68A-9F75-1B658A8D96DC}"/>
              </a:ext>
            </a:extLst>
          </p:cNvPr>
          <p:cNvSpPr txBox="1"/>
          <p:nvPr/>
        </p:nvSpPr>
        <p:spPr>
          <a:xfrm>
            <a:off x="8539340" y="2380329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B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59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181D9C-1AB5-2C97-9CD5-958F017E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17</a:t>
            </a:fld>
            <a:endParaRPr lang="en-SG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95799B7-1D1D-B36A-4117-5D3AFF9D4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003750"/>
              </p:ext>
            </p:extLst>
          </p:nvPr>
        </p:nvGraphicFramePr>
        <p:xfrm>
          <a:off x="294821" y="649947"/>
          <a:ext cx="5844310" cy="3388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862">
                  <a:extLst>
                    <a:ext uri="{9D8B030D-6E8A-4147-A177-3AD203B41FA5}">
                      <a16:colId xmlns:a16="http://schemas.microsoft.com/office/drawing/2014/main" val="2275081652"/>
                    </a:ext>
                  </a:extLst>
                </a:gridCol>
                <a:gridCol w="1168862">
                  <a:extLst>
                    <a:ext uri="{9D8B030D-6E8A-4147-A177-3AD203B41FA5}">
                      <a16:colId xmlns:a16="http://schemas.microsoft.com/office/drawing/2014/main" val="3015418186"/>
                    </a:ext>
                  </a:extLst>
                </a:gridCol>
                <a:gridCol w="1168862">
                  <a:extLst>
                    <a:ext uri="{9D8B030D-6E8A-4147-A177-3AD203B41FA5}">
                      <a16:colId xmlns:a16="http://schemas.microsoft.com/office/drawing/2014/main" val="2086001014"/>
                    </a:ext>
                  </a:extLst>
                </a:gridCol>
                <a:gridCol w="1168862">
                  <a:extLst>
                    <a:ext uri="{9D8B030D-6E8A-4147-A177-3AD203B41FA5}">
                      <a16:colId xmlns:a16="http://schemas.microsoft.com/office/drawing/2014/main" val="2758815309"/>
                    </a:ext>
                  </a:extLst>
                </a:gridCol>
                <a:gridCol w="1168862">
                  <a:extLst>
                    <a:ext uri="{9D8B030D-6E8A-4147-A177-3AD203B41FA5}">
                      <a16:colId xmlns:a16="http://schemas.microsoft.com/office/drawing/2014/main" val="3759750613"/>
                    </a:ext>
                  </a:extLst>
                </a:gridCol>
              </a:tblGrid>
              <a:tr h="677641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[3]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668559"/>
                  </a:ext>
                </a:extLst>
              </a:tr>
              <a:tr h="677641">
                <a:tc>
                  <a:txBody>
                    <a:bodyPr/>
                    <a:lstStyle/>
                    <a:p>
                      <a:r>
                        <a:rPr lang="en-US" altLang="zh-CN" dirty="0"/>
                        <a:t>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35485"/>
                  </a:ext>
                </a:extLst>
              </a:tr>
              <a:tr h="677641">
                <a:tc>
                  <a:txBody>
                    <a:bodyPr/>
                    <a:lstStyle/>
                    <a:p>
                      <a:r>
                        <a:rPr lang="en-US" altLang="zh-CN" dirty="0"/>
                        <a:t>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905573"/>
                  </a:ext>
                </a:extLst>
              </a:tr>
              <a:tr h="677641">
                <a:tc>
                  <a:txBody>
                    <a:bodyPr/>
                    <a:lstStyle/>
                    <a:p>
                      <a:r>
                        <a:rPr lang="en-US" altLang="zh-CN" dirty="0"/>
                        <a:t>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593227"/>
                  </a:ext>
                </a:extLst>
              </a:tr>
              <a:tr h="677641">
                <a:tc>
                  <a:txBody>
                    <a:bodyPr/>
                    <a:lstStyle/>
                    <a:p>
                      <a:r>
                        <a:rPr lang="en-US" altLang="zh-CN" dirty="0"/>
                        <a:t>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540075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BCA36A3-E4DA-5A5A-8888-4CFE0557B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869" y="649947"/>
            <a:ext cx="3543795" cy="14194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693390-6034-0318-629D-B416EF37A549}"/>
              </a:ext>
            </a:extLst>
          </p:cNvPr>
          <p:cNvSpPr txBox="1"/>
          <p:nvPr/>
        </p:nvSpPr>
        <p:spPr>
          <a:xfrm>
            <a:off x="7178221" y="2287235"/>
            <a:ext cx="3782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 = 0, 1, 2, 3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59FB3C-FFB1-87C3-E29B-FBFC452E3F5E}"/>
              </a:ext>
            </a:extLst>
          </p:cNvPr>
          <p:cNvSpPr txBox="1"/>
          <p:nvPr/>
        </p:nvSpPr>
        <p:spPr>
          <a:xfrm>
            <a:off x="1497857" y="13596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5A74AF-9EC4-F4A3-712B-4320B16DCA2A}"/>
              </a:ext>
            </a:extLst>
          </p:cNvPr>
          <p:cNvSpPr txBox="1"/>
          <p:nvPr/>
        </p:nvSpPr>
        <p:spPr>
          <a:xfrm>
            <a:off x="2700893" y="13596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422462-F4EB-0A00-C9B6-DBC1F9FA4E4B}"/>
              </a:ext>
            </a:extLst>
          </p:cNvPr>
          <p:cNvSpPr txBox="1"/>
          <p:nvPr/>
        </p:nvSpPr>
        <p:spPr>
          <a:xfrm>
            <a:off x="1511712" y="20693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48E0A4-CA24-799B-EE0F-00066E9DCFB3}"/>
              </a:ext>
            </a:extLst>
          </p:cNvPr>
          <p:cNvSpPr txBox="1"/>
          <p:nvPr/>
        </p:nvSpPr>
        <p:spPr>
          <a:xfrm>
            <a:off x="3893868" y="13596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C92F61-6490-9AC9-F129-4ED5F33B9399}"/>
              </a:ext>
            </a:extLst>
          </p:cNvPr>
          <p:cNvSpPr txBox="1"/>
          <p:nvPr/>
        </p:nvSpPr>
        <p:spPr>
          <a:xfrm>
            <a:off x="1497856" y="27790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E50AB8-B51A-5F94-084D-42F781EC8871}"/>
              </a:ext>
            </a:extLst>
          </p:cNvPr>
          <p:cNvSpPr txBox="1"/>
          <p:nvPr/>
        </p:nvSpPr>
        <p:spPr>
          <a:xfrm>
            <a:off x="5066062" y="13596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AFFF6F-8D1F-60F3-DDAE-DA1B8BAB35A2}"/>
              </a:ext>
            </a:extLst>
          </p:cNvPr>
          <p:cNvSpPr txBox="1"/>
          <p:nvPr/>
        </p:nvSpPr>
        <p:spPr>
          <a:xfrm>
            <a:off x="1539420" y="3408605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8DE4219-E23C-0266-2347-756212862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201" y="2779058"/>
            <a:ext cx="5844311" cy="149563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D1BA993-3E91-4762-DC04-1FD257A3BBA0}"/>
              </a:ext>
            </a:extLst>
          </p:cNvPr>
          <p:cNvSpPr/>
          <p:nvPr/>
        </p:nvSpPr>
        <p:spPr>
          <a:xfrm>
            <a:off x="8868474" y="4509208"/>
            <a:ext cx="1052945" cy="526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535800-E152-AF46-CC60-3DC805570EA5}"/>
              </a:ext>
            </a:extLst>
          </p:cNvPr>
          <p:cNvSpPr/>
          <p:nvPr/>
        </p:nvSpPr>
        <p:spPr>
          <a:xfrm>
            <a:off x="7829384" y="4502281"/>
            <a:ext cx="1052945" cy="526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42C154-F775-77A8-5DA4-E8DB078484E3}"/>
              </a:ext>
            </a:extLst>
          </p:cNvPr>
          <p:cNvSpPr/>
          <p:nvPr/>
        </p:nvSpPr>
        <p:spPr>
          <a:xfrm>
            <a:off x="7829384" y="3982735"/>
            <a:ext cx="1052945" cy="526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E97B24-811B-EBBC-3B0C-0E213CF78EEB}"/>
              </a:ext>
            </a:extLst>
          </p:cNvPr>
          <p:cNvSpPr txBox="1"/>
          <p:nvPr/>
        </p:nvSpPr>
        <p:spPr>
          <a:xfrm>
            <a:off x="9027802" y="461504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m, n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E6494A-7AAB-F6E5-4BDA-285EE4CD20C9}"/>
              </a:ext>
            </a:extLst>
          </p:cNvPr>
          <p:cNvSpPr txBox="1"/>
          <p:nvPr/>
        </p:nvSpPr>
        <p:spPr>
          <a:xfrm>
            <a:off x="7902120" y="4615048"/>
            <a:ext cx="1052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m, n - 1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2463F6E-BA17-5B42-7C89-3D4257501E05}"/>
              </a:ext>
            </a:extLst>
          </p:cNvPr>
          <p:cNvSpPr txBox="1"/>
          <p:nvPr/>
        </p:nvSpPr>
        <p:spPr>
          <a:xfrm>
            <a:off x="7806870" y="4067792"/>
            <a:ext cx="1194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 -1, n - 1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5F041DD-8A9C-CA15-4A11-33A5965CD50F}"/>
              </a:ext>
            </a:extLst>
          </p:cNvPr>
          <p:cNvCxnSpPr>
            <a:cxnSpLocks/>
          </p:cNvCxnSpPr>
          <p:nvPr/>
        </p:nvCxnSpPr>
        <p:spPr>
          <a:xfrm>
            <a:off x="8840766" y="4245971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7AD367E-9969-6184-A81D-F2633D0E87E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8736857" y="4793227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A5C4DBC-4E6C-C023-C7EC-0593554A34E4}"/>
              </a:ext>
            </a:extLst>
          </p:cNvPr>
          <p:cNvCxnSpPr>
            <a:cxnSpLocks/>
          </p:cNvCxnSpPr>
          <p:nvPr/>
        </p:nvCxnSpPr>
        <p:spPr>
          <a:xfrm>
            <a:off x="2135166" y="1650616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7B9E8B8-F8F9-6251-EC65-201585FF5567}"/>
              </a:ext>
            </a:extLst>
          </p:cNvPr>
          <p:cNvCxnSpPr>
            <a:cxnSpLocks/>
          </p:cNvCxnSpPr>
          <p:nvPr/>
        </p:nvCxnSpPr>
        <p:spPr>
          <a:xfrm>
            <a:off x="2031257" y="2197872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9EAFDAD-5270-D166-E30F-E8ED0312138F}"/>
              </a:ext>
            </a:extLst>
          </p:cNvPr>
          <p:cNvSpPr txBox="1"/>
          <p:nvPr/>
        </p:nvSpPr>
        <p:spPr>
          <a:xfrm>
            <a:off x="2700893" y="20693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88978B6-39A7-7A49-9C54-0EEEA8753F87}"/>
              </a:ext>
            </a:extLst>
          </p:cNvPr>
          <p:cNvCxnSpPr>
            <a:cxnSpLocks/>
          </p:cNvCxnSpPr>
          <p:nvPr/>
        </p:nvCxnSpPr>
        <p:spPr>
          <a:xfrm>
            <a:off x="3382404" y="1650616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35998F3-F495-3116-47B7-D4A324EF444E}"/>
              </a:ext>
            </a:extLst>
          </p:cNvPr>
          <p:cNvCxnSpPr>
            <a:cxnSpLocks/>
          </p:cNvCxnSpPr>
          <p:nvPr/>
        </p:nvCxnSpPr>
        <p:spPr>
          <a:xfrm>
            <a:off x="3455140" y="2191385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71D9C93-4960-7E48-0626-A0BE3F07C662}"/>
              </a:ext>
            </a:extLst>
          </p:cNvPr>
          <p:cNvSpPr txBox="1"/>
          <p:nvPr/>
        </p:nvSpPr>
        <p:spPr>
          <a:xfrm>
            <a:off x="3818823" y="20693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930F687-3E21-0E45-CDA3-933E2D595DC5}"/>
              </a:ext>
            </a:extLst>
          </p:cNvPr>
          <p:cNvCxnSpPr>
            <a:cxnSpLocks/>
          </p:cNvCxnSpPr>
          <p:nvPr/>
        </p:nvCxnSpPr>
        <p:spPr>
          <a:xfrm>
            <a:off x="4497530" y="1650616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5E634F1-D16D-4018-D3A2-E587C80C1275}"/>
              </a:ext>
            </a:extLst>
          </p:cNvPr>
          <p:cNvSpPr txBox="1"/>
          <p:nvPr/>
        </p:nvSpPr>
        <p:spPr>
          <a:xfrm>
            <a:off x="4933949" y="20693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01740DC-EEB8-00EC-EFFE-A34B9D3F3184}"/>
              </a:ext>
            </a:extLst>
          </p:cNvPr>
          <p:cNvCxnSpPr>
            <a:cxnSpLocks/>
          </p:cNvCxnSpPr>
          <p:nvPr/>
        </p:nvCxnSpPr>
        <p:spPr>
          <a:xfrm>
            <a:off x="4570267" y="2250780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A4AA8B5-01BA-CA99-E686-18AD7817C892}"/>
              </a:ext>
            </a:extLst>
          </p:cNvPr>
          <p:cNvCxnSpPr>
            <a:cxnSpLocks/>
          </p:cNvCxnSpPr>
          <p:nvPr/>
        </p:nvCxnSpPr>
        <p:spPr>
          <a:xfrm>
            <a:off x="2228105" y="2389775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0D5A4FF-A9EA-A913-2224-C60F1D18F0DB}"/>
              </a:ext>
            </a:extLst>
          </p:cNvPr>
          <p:cNvCxnSpPr>
            <a:cxnSpLocks/>
          </p:cNvCxnSpPr>
          <p:nvPr/>
        </p:nvCxnSpPr>
        <p:spPr>
          <a:xfrm>
            <a:off x="2228104" y="2976524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D4E52CF-4EB7-8B7B-06C2-C476A14919CE}"/>
              </a:ext>
            </a:extLst>
          </p:cNvPr>
          <p:cNvSpPr txBox="1"/>
          <p:nvPr/>
        </p:nvSpPr>
        <p:spPr>
          <a:xfrm>
            <a:off x="2713585" y="277905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09D8704-A5A4-B87B-3FB6-3CC7BE99B60F}"/>
              </a:ext>
            </a:extLst>
          </p:cNvPr>
          <p:cNvCxnSpPr>
            <a:cxnSpLocks/>
          </p:cNvCxnSpPr>
          <p:nvPr/>
        </p:nvCxnSpPr>
        <p:spPr>
          <a:xfrm>
            <a:off x="3392292" y="2373539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6CF0920-9222-72B0-C0C9-5C0F23F2320F}"/>
              </a:ext>
            </a:extLst>
          </p:cNvPr>
          <p:cNvCxnSpPr>
            <a:cxnSpLocks/>
          </p:cNvCxnSpPr>
          <p:nvPr/>
        </p:nvCxnSpPr>
        <p:spPr>
          <a:xfrm>
            <a:off x="3527877" y="2957237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6182569-2F16-583F-DD7E-79ABFA0D4378}"/>
              </a:ext>
            </a:extLst>
          </p:cNvPr>
          <p:cNvSpPr txBox="1"/>
          <p:nvPr/>
        </p:nvSpPr>
        <p:spPr>
          <a:xfrm>
            <a:off x="3888835" y="2771891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C1954F9-CD64-E005-7486-527372275F2E}"/>
              </a:ext>
            </a:extLst>
          </p:cNvPr>
          <p:cNvCxnSpPr>
            <a:cxnSpLocks/>
          </p:cNvCxnSpPr>
          <p:nvPr/>
        </p:nvCxnSpPr>
        <p:spPr>
          <a:xfrm>
            <a:off x="4598133" y="2405804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68FE270-86E5-E38A-5CE7-E1E50E4DB27A}"/>
              </a:ext>
            </a:extLst>
          </p:cNvPr>
          <p:cNvCxnSpPr>
            <a:cxnSpLocks/>
          </p:cNvCxnSpPr>
          <p:nvPr/>
        </p:nvCxnSpPr>
        <p:spPr>
          <a:xfrm>
            <a:off x="4715739" y="2950070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18C77EC0-F0A5-98D2-C7BE-F9C51BF97C07}"/>
              </a:ext>
            </a:extLst>
          </p:cNvPr>
          <p:cNvSpPr txBox="1"/>
          <p:nvPr/>
        </p:nvSpPr>
        <p:spPr>
          <a:xfrm>
            <a:off x="5023003" y="2765404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0129CC9-0B15-2FDB-832A-B277366D7D41}"/>
              </a:ext>
            </a:extLst>
          </p:cNvPr>
          <p:cNvCxnSpPr>
            <a:cxnSpLocks/>
          </p:cNvCxnSpPr>
          <p:nvPr/>
        </p:nvCxnSpPr>
        <p:spPr>
          <a:xfrm>
            <a:off x="2245413" y="3078042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4653A415-FB70-1431-FB72-E8C34ED6F1BE}"/>
              </a:ext>
            </a:extLst>
          </p:cNvPr>
          <p:cNvCxnSpPr>
            <a:cxnSpLocks/>
          </p:cNvCxnSpPr>
          <p:nvPr/>
        </p:nvCxnSpPr>
        <p:spPr>
          <a:xfrm>
            <a:off x="2329128" y="3574195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C605C9B6-97E6-235E-FDD1-2C8BBF11EE87}"/>
              </a:ext>
            </a:extLst>
          </p:cNvPr>
          <p:cNvSpPr txBox="1"/>
          <p:nvPr/>
        </p:nvSpPr>
        <p:spPr>
          <a:xfrm>
            <a:off x="2713585" y="3442090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B78DD48-164D-4B81-79D6-58FF9DD37781}"/>
              </a:ext>
            </a:extLst>
          </p:cNvPr>
          <p:cNvCxnSpPr>
            <a:cxnSpLocks/>
          </p:cNvCxnSpPr>
          <p:nvPr/>
        </p:nvCxnSpPr>
        <p:spPr>
          <a:xfrm>
            <a:off x="3416114" y="3023348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CD9C250-3555-FC31-1314-EB89B8448EA1}"/>
              </a:ext>
            </a:extLst>
          </p:cNvPr>
          <p:cNvCxnSpPr>
            <a:cxnSpLocks/>
          </p:cNvCxnSpPr>
          <p:nvPr/>
        </p:nvCxnSpPr>
        <p:spPr>
          <a:xfrm>
            <a:off x="3544692" y="3548382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AA16AC71-4357-690A-85F2-60C340FCA4F0}"/>
              </a:ext>
            </a:extLst>
          </p:cNvPr>
          <p:cNvSpPr txBox="1"/>
          <p:nvPr/>
        </p:nvSpPr>
        <p:spPr>
          <a:xfrm>
            <a:off x="3861188" y="3445508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CA9C9C5-B734-D61F-A2A7-DB7667359922}"/>
              </a:ext>
            </a:extLst>
          </p:cNvPr>
          <p:cNvCxnSpPr>
            <a:cxnSpLocks/>
          </p:cNvCxnSpPr>
          <p:nvPr/>
        </p:nvCxnSpPr>
        <p:spPr>
          <a:xfrm>
            <a:off x="4570267" y="3134736"/>
            <a:ext cx="436419" cy="418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47897AB4-7D49-6E39-ACE7-19CC8E74AD18}"/>
              </a:ext>
            </a:extLst>
          </p:cNvPr>
          <p:cNvCxnSpPr>
            <a:cxnSpLocks/>
          </p:cNvCxnSpPr>
          <p:nvPr/>
        </p:nvCxnSpPr>
        <p:spPr>
          <a:xfrm>
            <a:off x="4715738" y="3623512"/>
            <a:ext cx="290945" cy="6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45A48464-9D00-1D97-228A-EB9D18E2960E}"/>
              </a:ext>
            </a:extLst>
          </p:cNvPr>
          <p:cNvSpPr txBox="1"/>
          <p:nvPr/>
        </p:nvSpPr>
        <p:spPr>
          <a:xfrm>
            <a:off x="5041644" y="3433294"/>
            <a:ext cx="26323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C189C7DD-37BC-A076-A672-902706951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72" y="4269219"/>
            <a:ext cx="4334480" cy="1590897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ADC71961-6DFD-7B2D-310E-EA83080EB24E}"/>
              </a:ext>
            </a:extLst>
          </p:cNvPr>
          <p:cNvSpPr txBox="1"/>
          <p:nvPr/>
        </p:nvSpPr>
        <p:spPr>
          <a:xfrm>
            <a:off x="5197186" y="5601183"/>
            <a:ext cx="4710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The output: </a:t>
            </a:r>
          </a:p>
          <a:p>
            <a:r>
              <a:rPr lang="en-US" altLang="zh-CN" sz="2400" b="1" dirty="0"/>
              <a:t>[1 2 4 8]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4231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20" grpId="0" animBg="1"/>
      <p:bldP spid="21" grpId="0" animBg="1"/>
      <p:bldP spid="22" grpId="0"/>
      <p:bldP spid="23" grpId="0"/>
      <p:bldP spid="24" grpId="0"/>
      <p:bldP spid="36" grpId="0" animBg="1"/>
      <p:bldP spid="39" grpId="0" animBg="1"/>
      <p:bldP spid="41" grpId="0" animBg="1"/>
      <p:bldP spid="45" grpId="0" animBg="1"/>
      <p:bldP spid="48" grpId="0" animBg="1"/>
      <p:bldP spid="53" grpId="0" animBg="1"/>
      <p:bldP spid="56" grpId="0" animBg="1"/>
      <p:bldP spid="59" grpId="0" animBg="1"/>
      <p:bldP spid="62" grpId="0" animBg="1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18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79F77-D67C-47AC-B460-29C19A1376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4" b="55887"/>
          <a:stretch/>
        </p:blipFill>
        <p:spPr>
          <a:xfrm>
            <a:off x="976890" y="442452"/>
            <a:ext cx="9655205" cy="5035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8CEC7B-4D49-4A70-9CA3-B0D154E5E9A1}"/>
              </a:ext>
            </a:extLst>
          </p:cNvPr>
          <p:cNvSpPr txBox="1"/>
          <p:nvPr/>
        </p:nvSpPr>
        <p:spPr>
          <a:xfrm>
            <a:off x="2081615" y="5637334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608FA1-464D-B21E-C726-887025860FA8}"/>
              </a:ext>
            </a:extLst>
          </p:cNvPr>
          <p:cNvSpPr txBox="1"/>
          <p:nvPr/>
        </p:nvSpPr>
        <p:spPr>
          <a:xfrm>
            <a:off x="3420704" y="5434365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C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50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3A9DF3-3CDB-0075-90B6-0035EBAD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19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D10D48-43BE-185D-A1F3-23A32D51B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99" y="1572460"/>
            <a:ext cx="8258299" cy="21195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2D05ED-82EF-296B-3248-B72AB23DF1A2}"/>
              </a:ext>
            </a:extLst>
          </p:cNvPr>
          <p:cNvSpPr txBox="1"/>
          <p:nvPr/>
        </p:nvSpPr>
        <p:spPr>
          <a:xfrm>
            <a:off x="5096014" y="3008977"/>
            <a:ext cx="1925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[ 0.0, 1.0 ]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6FE7966-C803-7075-AABA-497F9F8AE72F}"/>
              </a:ext>
            </a:extLst>
          </p:cNvPr>
          <p:cNvCxnSpPr/>
          <p:nvPr/>
        </p:nvCxnSpPr>
        <p:spPr>
          <a:xfrm>
            <a:off x="4237032" y="3008977"/>
            <a:ext cx="347749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07C1F21-3436-73F7-2586-CA238A216BA0}"/>
              </a:ext>
            </a:extLst>
          </p:cNvPr>
          <p:cNvCxnSpPr/>
          <p:nvPr/>
        </p:nvCxnSpPr>
        <p:spPr>
          <a:xfrm>
            <a:off x="7873851" y="3008977"/>
            <a:ext cx="14824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A7A2CF2-60F5-B3A6-4CE6-8BCEAD1C514A}"/>
              </a:ext>
            </a:extLst>
          </p:cNvPr>
          <p:cNvSpPr txBox="1"/>
          <p:nvPr/>
        </p:nvSpPr>
        <p:spPr>
          <a:xfrm>
            <a:off x="9356287" y="2808922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[ 3.0, 12.0 ]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3D0EC3D9-EF5A-6D9A-721C-B56D013DD2CA}"/>
              </a:ext>
            </a:extLst>
          </p:cNvPr>
          <p:cNvSpPr/>
          <p:nvPr/>
        </p:nvSpPr>
        <p:spPr>
          <a:xfrm rot="1014393">
            <a:off x="9262231" y="3253175"/>
            <a:ext cx="374073" cy="13721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9E5A16-B963-D7B6-C0BB-EB4FAD0EC039}"/>
              </a:ext>
            </a:extLst>
          </p:cNvPr>
          <p:cNvSpPr txBox="1"/>
          <p:nvPr/>
        </p:nvSpPr>
        <p:spPr>
          <a:xfrm>
            <a:off x="7021796" y="4705182"/>
            <a:ext cx="2833255" cy="9541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Mean: </a:t>
            </a:r>
          </a:p>
          <a:p>
            <a:r>
              <a:rPr lang="en-US" altLang="zh-CN" sz="2800" dirty="0"/>
              <a:t>7.5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477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20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44A79-72A0-4F80-BBF1-D5EA53C081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1" t="7234" r="43279" b="44539"/>
          <a:stretch/>
        </p:blipFill>
        <p:spPr>
          <a:xfrm>
            <a:off x="1621139" y="302714"/>
            <a:ext cx="4076498" cy="6429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784B7-AC8C-49F0-BC0A-4662A8C60C5D}"/>
              </a:ext>
            </a:extLst>
          </p:cNvPr>
          <p:cNvSpPr txBox="1"/>
          <p:nvPr/>
        </p:nvSpPr>
        <p:spPr>
          <a:xfrm>
            <a:off x="6135774" y="3131143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545D3B-6B0C-BB7E-572A-ED8C48ACAD27}"/>
              </a:ext>
            </a:extLst>
          </p:cNvPr>
          <p:cNvSpPr txBox="1"/>
          <p:nvPr/>
        </p:nvSpPr>
        <p:spPr>
          <a:xfrm>
            <a:off x="3448207" y="1821099"/>
            <a:ext cx="26659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0F5E08-7CBC-91DB-E01C-18CD1A20C129}"/>
              </a:ext>
            </a:extLst>
          </p:cNvPr>
          <p:cNvSpPr txBox="1"/>
          <p:nvPr/>
        </p:nvSpPr>
        <p:spPr>
          <a:xfrm>
            <a:off x="3105206" y="2118181"/>
            <a:ext cx="34300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E38B2A-CCCD-9664-5069-55C3D8A8E191}"/>
              </a:ext>
            </a:extLst>
          </p:cNvPr>
          <p:cNvSpPr txBox="1"/>
          <p:nvPr/>
        </p:nvSpPr>
        <p:spPr>
          <a:xfrm>
            <a:off x="3436235" y="1821099"/>
            <a:ext cx="26659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77C2954-FE2F-4924-BE71-9F9C58AFAFDD}"/>
              </a:ext>
            </a:extLst>
          </p:cNvPr>
          <p:cNvCxnSpPr/>
          <p:nvPr/>
        </p:nvCxnSpPr>
        <p:spPr>
          <a:xfrm flipH="1" flipV="1">
            <a:off x="3056715" y="2118181"/>
            <a:ext cx="219991" cy="18703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995AC14-CA27-FA1D-D995-413A7BC76E00}"/>
              </a:ext>
            </a:extLst>
          </p:cNvPr>
          <p:cNvSpPr txBox="1"/>
          <p:nvPr/>
        </p:nvSpPr>
        <p:spPr>
          <a:xfrm>
            <a:off x="3460179" y="1821099"/>
            <a:ext cx="26659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E2B834-600B-F66F-B146-487374329F29}"/>
              </a:ext>
            </a:extLst>
          </p:cNvPr>
          <p:cNvSpPr txBox="1"/>
          <p:nvPr/>
        </p:nvSpPr>
        <p:spPr>
          <a:xfrm>
            <a:off x="6584932" y="3900000"/>
            <a:ext cx="42797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The output: 3</a:t>
            </a:r>
            <a:endParaRPr lang="zh-CN" altLang="en-US" sz="4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3888C9-3A30-CEC9-ADD6-6EF50F992C1F}"/>
              </a:ext>
            </a:extLst>
          </p:cNvPr>
          <p:cNvSpPr txBox="1"/>
          <p:nvPr/>
        </p:nvSpPr>
        <p:spPr>
          <a:xfrm>
            <a:off x="7441964" y="2907740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E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33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12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21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6F005-CA05-4043-B2FA-AC672FB7AE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2" t="7234" r="9816" b="60142"/>
          <a:stretch/>
        </p:blipFill>
        <p:spPr>
          <a:xfrm>
            <a:off x="1627511" y="275303"/>
            <a:ext cx="8824180" cy="5138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5EBB2A-D0FE-444B-8926-7163F6807DE1}"/>
              </a:ext>
            </a:extLst>
          </p:cNvPr>
          <p:cNvSpPr txBox="1"/>
          <p:nvPr/>
        </p:nvSpPr>
        <p:spPr>
          <a:xfrm>
            <a:off x="1933904" y="5615630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67053-6ECF-2C75-A558-9133EAC532BF}"/>
              </a:ext>
            </a:extLst>
          </p:cNvPr>
          <p:cNvSpPr txBox="1"/>
          <p:nvPr/>
        </p:nvSpPr>
        <p:spPr>
          <a:xfrm>
            <a:off x="3215434" y="5366921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B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21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1DAA21-6072-70CE-40BA-3F81F45E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22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ECB667-FF61-79D0-3DEC-BC379686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31" y="1353743"/>
            <a:ext cx="4862285" cy="18219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688171F-0AA7-36CA-1827-DB981DA97476}"/>
              </a:ext>
            </a:extLst>
          </p:cNvPr>
          <p:cNvSpPr txBox="1"/>
          <p:nvPr/>
        </p:nvSpPr>
        <p:spPr>
          <a:xfrm>
            <a:off x="6793421" y="1556179"/>
            <a:ext cx="41563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Make an example:</a:t>
            </a:r>
          </a:p>
          <a:p>
            <a:r>
              <a:rPr lang="en-US" altLang="zh-CN" sz="2400" dirty="0"/>
              <a:t>m = 3, n = 5;</a:t>
            </a:r>
          </a:p>
          <a:p>
            <a:pPr marL="457200" indent="-457200">
              <a:buAutoNum type="arabicParenR"/>
            </a:pPr>
            <a:r>
              <a:rPr lang="en-US" altLang="zh-CN" sz="2400" dirty="0" err="1"/>
              <a:t>i</a:t>
            </a:r>
            <a:r>
              <a:rPr lang="en-US" altLang="zh-CN" sz="2400" dirty="0"/>
              <a:t> = 3;</a:t>
            </a:r>
          </a:p>
          <a:p>
            <a:r>
              <a:rPr lang="en-US" altLang="zh-CN" sz="2400" dirty="0"/>
              <a:t>        total = 1;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++;</a:t>
            </a:r>
          </a:p>
          <a:p>
            <a:pPr marL="457200" indent="-457200">
              <a:buAutoNum type="arabicParenR" startAt="2"/>
            </a:pPr>
            <a:r>
              <a:rPr lang="en-US" altLang="zh-CN" sz="2400" dirty="0" err="1"/>
              <a:t>i</a:t>
            </a:r>
            <a:r>
              <a:rPr lang="en-US" altLang="zh-CN" sz="2400" dirty="0"/>
              <a:t> = 4;</a:t>
            </a:r>
          </a:p>
          <a:p>
            <a:r>
              <a:rPr lang="en-US" altLang="zh-CN" sz="2400" dirty="0"/>
              <a:t>        total = 2;</a:t>
            </a:r>
          </a:p>
          <a:p>
            <a:r>
              <a:rPr lang="en-US" altLang="zh-CN" sz="2400" dirty="0"/>
              <a:t>        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++;</a:t>
            </a:r>
          </a:p>
          <a:p>
            <a:pPr marL="457200" indent="-457200">
              <a:buAutoNum type="arabicParenR" startAt="3"/>
            </a:pPr>
            <a:r>
              <a:rPr lang="en-US" altLang="zh-CN" sz="2400" dirty="0" err="1"/>
              <a:t>i</a:t>
            </a:r>
            <a:r>
              <a:rPr lang="en-US" altLang="zh-CN" sz="2400" dirty="0"/>
              <a:t> = 5 </a:t>
            </a:r>
            <a:r>
              <a:rPr lang="en-US" altLang="zh-CN" sz="2400" dirty="0">
                <a:sym typeface="Wingdings" panose="05000000000000000000" pitchFamily="2" charset="2"/>
              </a:rPr>
              <a:t>leave the loop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total = 2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F9D6A1-1231-5E65-38BA-CED1FBC1EA4B}"/>
              </a:ext>
            </a:extLst>
          </p:cNvPr>
          <p:cNvSpPr txBox="1"/>
          <p:nvPr/>
        </p:nvSpPr>
        <p:spPr>
          <a:xfrm>
            <a:off x="1528469" y="4083516"/>
            <a:ext cx="42602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Plus 1 on total when m &gt; n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 </a:t>
            </a:r>
            <a:r>
              <a:rPr lang="en-US" altLang="zh-CN" sz="2400" dirty="0"/>
              <a:t>To calculate n-m</a:t>
            </a:r>
          </a:p>
          <a:p>
            <a:r>
              <a:rPr lang="en-US" altLang="zh-CN" sz="2400" dirty="0"/>
              <a:t>So the code in the box can be replaced by </a:t>
            </a:r>
            <a:r>
              <a:rPr lang="en-US" altLang="zh-CN" sz="2400" b="1" dirty="0"/>
              <a:t>total += n – m;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3255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23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6F005-CA05-4043-B2FA-AC672FB7AE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0" t="40426" r="9413" b="27801"/>
          <a:stretch/>
        </p:blipFill>
        <p:spPr>
          <a:xfrm>
            <a:off x="1358089" y="0"/>
            <a:ext cx="9298775" cy="541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5EBB2A-D0FE-444B-8926-7163F6807DE1}"/>
              </a:ext>
            </a:extLst>
          </p:cNvPr>
          <p:cNvSpPr txBox="1"/>
          <p:nvPr/>
        </p:nvSpPr>
        <p:spPr>
          <a:xfrm>
            <a:off x="2076804" y="5522485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08817C-DCD6-0265-88BC-0486AF11D67D}"/>
              </a:ext>
            </a:extLst>
          </p:cNvPr>
          <p:cNvSpPr txBox="1"/>
          <p:nvPr/>
        </p:nvSpPr>
        <p:spPr>
          <a:xfrm>
            <a:off x="3385487" y="5292667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B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30C5B-C220-50BC-BDF2-BD6560CC6985}"/>
              </a:ext>
            </a:extLst>
          </p:cNvPr>
          <p:cNvSpPr txBox="1"/>
          <p:nvPr/>
        </p:nvSpPr>
        <p:spPr>
          <a:xfrm>
            <a:off x="7952509" y="3766387"/>
            <a:ext cx="3401291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mystery(x, k, 0)</a:t>
            </a:r>
          </a:p>
          <a:p>
            <a:r>
              <a:rPr lang="en-SG" dirty="0"/>
              <a:t>= 2 * mystery(x, k, 1)</a:t>
            </a:r>
          </a:p>
          <a:p>
            <a:r>
              <a:rPr lang="en-SG" dirty="0"/>
              <a:t>= 2 * 2 * mystery(x, k, 2)</a:t>
            </a:r>
          </a:p>
          <a:p>
            <a:r>
              <a:rPr lang="en-SG" dirty="0"/>
              <a:t>……</a:t>
            </a:r>
          </a:p>
          <a:p>
            <a:r>
              <a:rPr lang="en-SG" dirty="0"/>
              <a:t>= 2 * 2 … * 2 * mystery(x, k, n)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E9E5F88-4700-EF53-8A7E-2FAC406EEA0F}"/>
              </a:ext>
            </a:extLst>
          </p:cNvPr>
          <p:cNvSpPr/>
          <p:nvPr/>
        </p:nvSpPr>
        <p:spPr>
          <a:xfrm rot="5400000">
            <a:off x="8613504" y="4906073"/>
            <a:ext cx="243571" cy="962891"/>
          </a:xfrm>
          <a:prstGeom prst="rightBrace">
            <a:avLst>
              <a:gd name="adj1" fmla="val 8333"/>
              <a:gd name="adj2" fmla="val 4928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B0DA8-98A0-4E66-3579-4B83740EF777}"/>
              </a:ext>
            </a:extLst>
          </p:cNvPr>
          <p:cNvSpPr txBox="1"/>
          <p:nvPr/>
        </p:nvSpPr>
        <p:spPr>
          <a:xfrm>
            <a:off x="8427026" y="5509304"/>
            <a:ext cx="189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n</a:t>
            </a:r>
            <a:r>
              <a:rPr lang="zh-CN" altLang="en-US" dirty="0"/>
              <a:t>个</a:t>
            </a:r>
            <a:r>
              <a:rPr lang="en-US" altLang="zh-CN" dirty="0"/>
              <a:t>2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ED511-F701-30D2-607A-2432837BF2E1}"/>
              </a:ext>
            </a:extLst>
          </p:cNvPr>
          <p:cNvSpPr txBox="1"/>
          <p:nvPr/>
        </p:nvSpPr>
        <p:spPr>
          <a:xfrm>
            <a:off x="9630970" y="5243715"/>
            <a:ext cx="179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K == n</a:t>
            </a:r>
          </a:p>
          <a:p>
            <a:r>
              <a:rPr lang="en-SG" dirty="0">
                <a:sym typeface="Wingdings" panose="05000000000000000000" pitchFamily="2" charset="2"/>
              </a:rPr>
              <a:t> Return x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3BECA-30B1-B513-8FDA-D4A48D7F679C}"/>
              </a:ext>
            </a:extLst>
          </p:cNvPr>
          <p:cNvSpPr txBox="1"/>
          <p:nvPr/>
        </p:nvSpPr>
        <p:spPr>
          <a:xfrm>
            <a:off x="6615544" y="5944237"/>
            <a:ext cx="4239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ym typeface="Wingdings" panose="05000000000000000000" pitchFamily="2" charset="2"/>
              </a:rPr>
              <a:t> Final output: 2^k * x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888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animBg="1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ACB694-B4DA-ED9B-C0B6-40F34C26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24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93B9C3-D8A3-7C10-8567-EBB2B62F8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94" y="843568"/>
            <a:ext cx="5515745" cy="18957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F81CF05-F80A-F414-A9BD-8A01D8C1815D}"/>
              </a:ext>
            </a:extLst>
          </p:cNvPr>
          <p:cNvSpPr txBox="1"/>
          <p:nvPr/>
        </p:nvSpPr>
        <p:spPr>
          <a:xfrm>
            <a:off x="7083442" y="983672"/>
            <a:ext cx="41563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Make an example:</a:t>
            </a:r>
          </a:p>
          <a:p>
            <a:r>
              <a:rPr lang="en-US" altLang="zh-CN" sz="2400" dirty="0"/>
              <a:t>mystery (x = 5, k = 3,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0);</a:t>
            </a:r>
          </a:p>
          <a:p>
            <a:r>
              <a:rPr lang="en-US" altLang="zh-CN" sz="2400" dirty="0"/>
              <a:t>1)   3 &gt; 0;</a:t>
            </a:r>
          </a:p>
          <a:p>
            <a:r>
              <a:rPr lang="en-US" altLang="zh-CN" sz="2400" dirty="0"/>
              <a:t>         2 * mystery (5, 3, 1);</a:t>
            </a:r>
          </a:p>
          <a:p>
            <a:r>
              <a:rPr lang="en-US" altLang="zh-CN" sz="2400" dirty="0"/>
              <a:t>2)   3 &gt; 1;</a:t>
            </a:r>
          </a:p>
          <a:p>
            <a:r>
              <a:rPr lang="en-US" altLang="zh-CN" sz="2400" dirty="0"/>
              <a:t>        2 * 2 * mystery (5, 3, 2);</a:t>
            </a:r>
          </a:p>
          <a:p>
            <a:r>
              <a:rPr lang="en-US" altLang="zh-CN" sz="2400" dirty="0"/>
              <a:t>3)   3 &gt; 2 </a:t>
            </a:r>
          </a:p>
          <a:p>
            <a:r>
              <a:rPr lang="en-US" altLang="zh-CN" sz="2400" dirty="0"/>
              <a:t>         2 * 2 * 2 * mystery (5, 3, 3);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4)   3 == 3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 return 2 * 2 * 2 * 5</a:t>
            </a: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CB713F59-99AC-A2C3-65B2-90CEB480A82A}"/>
              </a:ext>
            </a:extLst>
          </p:cNvPr>
          <p:cNvSpPr/>
          <p:nvPr/>
        </p:nvSpPr>
        <p:spPr>
          <a:xfrm rot="5400000">
            <a:off x="6033654" y="3096491"/>
            <a:ext cx="381000" cy="13438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15AA2F-C509-C4D6-DA20-FFB504E49A79}"/>
              </a:ext>
            </a:extLst>
          </p:cNvPr>
          <p:cNvSpPr txBox="1"/>
          <p:nvPr/>
        </p:nvSpPr>
        <p:spPr>
          <a:xfrm>
            <a:off x="876300" y="3333863"/>
            <a:ext cx="4374572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Find the result of k-</a:t>
            </a:r>
            <a:r>
              <a:rPr lang="en-US" altLang="zh-CN" sz="2400" dirty="0" err="1"/>
              <a:t>i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altLang="zh-CN" sz="2400" dirty="0">
                <a:sym typeface="Wingdings" panose="05000000000000000000" pitchFamily="2" charset="2"/>
              </a:rPr>
              <a:t>2 in power of (k – </a:t>
            </a:r>
            <a:r>
              <a:rPr lang="en-US" altLang="zh-CN" sz="2400" dirty="0" err="1"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ym typeface="Wingdings" panose="05000000000000000000" pitchFamily="2" charset="2"/>
              </a:rPr>
              <a:t>) times x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altLang="zh-CN" sz="2400" dirty="0">
                <a:sym typeface="Wingdings" panose="05000000000000000000" pitchFamily="2" charset="2"/>
              </a:rPr>
              <a:t>mystery (x, y, 0) = 2 in power of k times x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EB72296-AFFC-5849-524F-85C5402CA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402" y="5329174"/>
            <a:ext cx="2988013" cy="8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8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25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C94C8-ADC8-496E-8A31-DD1D5A5A2A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7" t="7802" r="9213" b="13901"/>
          <a:stretch/>
        </p:blipFill>
        <p:spPr>
          <a:xfrm>
            <a:off x="1779222" y="91525"/>
            <a:ext cx="4719901" cy="6697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0F4EF-D7D5-4446-A38F-B945CD354105}"/>
              </a:ext>
            </a:extLst>
          </p:cNvPr>
          <p:cNvSpPr txBox="1"/>
          <p:nvPr/>
        </p:nvSpPr>
        <p:spPr>
          <a:xfrm>
            <a:off x="6932055" y="3298196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85C80-CE27-0418-31F9-27D3EE5ADF1E}"/>
              </a:ext>
            </a:extLst>
          </p:cNvPr>
          <p:cNvSpPr txBox="1"/>
          <p:nvPr/>
        </p:nvSpPr>
        <p:spPr>
          <a:xfrm>
            <a:off x="8151002" y="3085100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D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5481B-ED8B-CB22-D68F-C67ADA663D47}"/>
              </a:ext>
            </a:extLst>
          </p:cNvPr>
          <p:cNvSpPr txBox="1"/>
          <p:nvPr/>
        </p:nvSpPr>
        <p:spPr>
          <a:xfrm>
            <a:off x="7024255" y="4149436"/>
            <a:ext cx="2362200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Initial volume * 0.9^n</a:t>
            </a:r>
          </a:p>
        </p:txBody>
      </p:sp>
    </p:spTree>
    <p:extLst>
      <p:ext uri="{BB962C8B-B14F-4D97-AF65-F5344CB8AC3E}">
        <p14:creationId xmlns:p14="http://schemas.microsoft.com/office/powerpoint/2010/main" val="387378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741D2B-4C7F-3EA7-DD33-96AAD10C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26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09DC4E-F427-6575-626C-78A4DC3B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13" y="531144"/>
            <a:ext cx="5971214" cy="21181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595226B-BDA9-7011-0923-60939B5E4738}"/>
              </a:ext>
            </a:extLst>
          </p:cNvPr>
          <p:cNvSpPr txBox="1"/>
          <p:nvPr/>
        </p:nvSpPr>
        <p:spPr>
          <a:xfrm>
            <a:off x="6592145" y="663638"/>
            <a:ext cx="2705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example: </a:t>
            </a:r>
          </a:p>
          <a:p>
            <a:r>
              <a:rPr lang="en-US" altLang="zh-CN" dirty="0" err="1"/>
              <a:t>get_volume</a:t>
            </a:r>
            <a:r>
              <a:rPr lang="en-US" altLang="zh-CN" dirty="0"/>
              <a:t> (100, 1)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</a:t>
            </a:r>
          </a:p>
          <a:p>
            <a:pPr marL="342900" indent="-342900">
              <a:buAutoNum type="arabicParenR"/>
            </a:pPr>
            <a:r>
              <a:rPr lang="en-US" altLang="zh-CN" dirty="0">
                <a:sym typeface="Wingdings" panose="05000000000000000000" pitchFamily="2" charset="2"/>
              </a:rPr>
              <a:t>vol = 90;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        n = 0;</a:t>
            </a:r>
          </a:p>
          <a:p>
            <a:pPr marL="342900" indent="-342900">
              <a:buAutoNum type="arabicParenR" startAt="2"/>
            </a:pPr>
            <a:r>
              <a:rPr lang="en-US" altLang="zh-CN" dirty="0">
                <a:sym typeface="Wingdings" panose="05000000000000000000" pitchFamily="2" charset="2"/>
              </a:rPr>
              <a:t>vol = 81;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        n = -1;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 return 81;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D47BAD-78C9-916A-37EA-BA49D943B1B4}"/>
              </a:ext>
            </a:extLst>
          </p:cNvPr>
          <p:cNvSpPr txBox="1"/>
          <p:nvPr/>
        </p:nvSpPr>
        <p:spPr>
          <a:xfrm>
            <a:off x="8636472" y="888467"/>
            <a:ext cx="32302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Wrong! 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While loop repeats (n+1) times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Should be 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while (n &gt; 0)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10D79E0-6769-A974-6558-85708D9ED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71" y="2778298"/>
            <a:ext cx="5687219" cy="19910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B8FB6AD-DCA2-C106-5F4F-7E3B15FC192A}"/>
              </a:ext>
            </a:extLst>
          </p:cNvPr>
          <p:cNvSpPr txBox="1"/>
          <p:nvPr/>
        </p:nvSpPr>
        <p:spPr>
          <a:xfrm>
            <a:off x="6536727" y="3485362"/>
            <a:ext cx="34034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Correct.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for loop repeats n times.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0077763-BA55-A77F-0922-D168AA52C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71" y="5141421"/>
            <a:ext cx="5706271" cy="11717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A36339E-5940-96F6-6C31-8519F674A5C4}"/>
              </a:ext>
            </a:extLst>
          </p:cNvPr>
          <p:cNvSpPr txBox="1"/>
          <p:nvPr/>
        </p:nvSpPr>
        <p:spPr>
          <a:xfrm>
            <a:off x="6536727" y="5211580"/>
            <a:ext cx="4428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Correct.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for loop repeats n times 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 100 times 0.9 in power of n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29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2548" y="6366182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27</a:t>
            </a:fld>
            <a:endParaRPr lang="en-S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AB3619-CD3D-4D0A-AE25-7A0DFC4335DE}"/>
              </a:ext>
            </a:extLst>
          </p:cNvPr>
          <p:cNvGrpSpPr/>
          <p:nvPr/>
        </p:nvGrpSpPr>
        <p:grpSpPr>
          <a:xfrm>
            <a:off x="5579160" y="875071"/>
            <a:ext cx="6308040" cy="4354771"/>
            <a:chOff x="4860587" y="466928"/>
            <a:chExt cx="4366652" cy="29017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C85D34-9DA1-466B-9D5B-CAA3F5D289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68" t="8368" r="8612" b="68227"/>
            <a:stretch/>
          </p:blipFill>
          <p:spPr>
            <a:xfrm>
              <a:off x="5123910" y="1581150"/>
              <a:ext cx="4062464" cy="17874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78ACDF8-FC6E-47EF-A99D-42D3817072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53" t="76056" r="7811" b="8917"/>
            <a:stretch/>
          </p:blipFill>
          <p:spPr>
            <a:xfrm>
              <a:off x="4860587" y="466928"/>
              <a:ext cx="4366652" cy="114786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D475DFF-4C59-4C68-B8AF-FB614B4B8FDF}"/>
              </a:ext>
            </a:extLst>
          </p:cNvPr>
          <p:cNvSpPr txBox="1"/>
          <p:nvPr/>
        </p:nvSpPr>
        <p:spPr>
          <a:xfrm>
            <a:off x="6015044" y="5435472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97FF32-2690-6F98-FAB2-342243631F95}"/>
              </a:ext>
            </a:extLst>
          </p:cNvPr>
          <p:cNvSpPr txBox="1"/>
          <p:nvPr/>
        </p:nvSpPr>
        <p:spPr>
          <a:xfrm>
            <a:off x="7206072" y="5233076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C 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778445-E0F5-4731-862B-7605A8503C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3" t="7376" r="7811" b="24113"/>
          <a:stretch/>
        </p:blipFill>
        <p:spPr>
          <a:xfrm>
            <a:off x="279264" y="196645"/>
            <a:ext cx="5558025" cy="66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8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7B03E14-F632-0DE0-9E18-9DF23A56C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44" y="4114800"/>
            <a:ext cx="5174870" cy="274320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483A46-B24D-E139-AD88-4CB93B65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6322" y="6366182"/>
            <a:ext cx="970935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28</a:t>
            </a:fld>
            <a:endParaRPr lang="en-SG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096D88-1633-D8E3-C988-4A9FA71DE6DF}"/>
              </a:ext>
            </a:extLst>
          </p:cNvPr>
          <p:cNvSpPr txBox="1"/>
          <p:nvPr/>
        </p:nvSpPr>
        <p:spPr>
          <a:xfrm>
            <a:off x="6129296" y="756065"/>
            <a:ext cx="55002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Create a new string </a:t>
            </a:r>
            <a:r>
              <a:rPr lang="en-US" altLang="zh-CN" sz="2000" dirty="0" err="1">
                <a:solidFill>
                  <a:srgbClr val="FF0000"/>
                </a:solidFill>
              </a:rPr>
              <a:t>new_s</a:t>
            </a:r>
            <a:r>
              <a:rPr lang="en-US" altLang="zh-CN" sz="2000" dirty="0">
                <a:solidFill>
                  <a:srgbClr val="FF0000"/>
                </a:solidFill>
              </a:rPr>
              <a:t> to store the reversed version of string s.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And then compare </a:t>
            </a:r>
            <a:r>
              <a:rPr lang="en-US" altLang="zh-CN" sz="2000" dirty="0" err="1">
                <a:solidFill>
                  <a:srgbClr val="FF0000"/>
                </a:solidFill>
              </a:rPr>
              <a:t>new_s</a:t>
            </a:r>
            <a:r>
              <a:rPr lang="en-US" altLang="zh-CN" sz="2000" dirty="0">
                <a:solidFill>
                  <a:srgbClr val="FF0000"/>
                </a:solidFill>
              </a:rPr>
              <a:t> and s</a:t>
            </a:r>
          </a:p>
          <a:p>
            <a:r>
              <a:rPr lang="en-US" altLang="zh-CN" sz="2000" b="1" dirty="0">
                <a:solidFill>
                  <a:srgbClr val="FF0000"/>
                </a:solidFill>
              </a:rPr>
              <a:t>But there is no null terminator ‘\0’ in </a:t>
            </a:r>
            <a:r>
              <a:rPr lang="en-US" altLang="zh-CN" sz="2000" b="1" dirty="0" err="1">
                <a:solidFill>
                  <a:srgbClr val="FF0000"/>
                </a:solidFill>
              </a:rPr>
              <a:t>new_s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 wrong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A7C2D7-3638-931B-0950-0CBFA1B19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3" y="2147493"/>
            <a:ext cx="5221673" cy="22992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32F7907-31BF-0A34-9315-3C79EB0FE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43" y="239840"/>
            <a:ext cx="4617258" cy="213625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D56B452-C800-B589-F2E8-8977CC05BE40}"/>
              </a:ext>
            </a:extLst>
          </p:cNvPr>
          <p:cNvSpPr txBox="1"/>
          <p:nvPr/>
        </p:nvSpPr>
        <p:spPr>
          <a:xfrm>
            <a:off x="6129296" y="2836160"/>
            <a:ext cx="41078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Compare  the kth character in the string with its (</a:t>
            </a:r>
            <a:r>
              <a:rPr lang="en-US" altLang="zh-CN" sz="2000" dirty="0" err="1">
                <a:solidFill>
                  <a:srgbClr val="FF0000"/>
                </a:solidFill>
              </a:rPr>
              <a:t>len</a:t>
            </a:r>
            <a:r>
              <a:rPr lang="en-US" altLang="zh-CN" sz="2000" dirty="0">
                <a:solidFill>
                  <a:srgbClr val="FF0000"/>
                </a:solidFill>
              </a:rPr>
              <a:t> – k – 1) 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 character.</a:t>
            </a:r>
          </a:p>
          <a:p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 correct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49EBE1-0109-FA6F-3057-8546EC318050}"/>
              </a:ext>
            </a:extLst>
          </p:cNvPr>
          <p:cNvSpPr txBox="1"/>
          <p:nvPr/>
        </p:nvSpPr>
        <p:spPr>
          <a:xfrm>
            <a:off x="6125049" y="4810174"/>
            <a:ext cx="41078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 same as (ii).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Compare  the kth character in the string with its (</a:t>
            </a:r>
            <a:r>
              <a:rPr lang="en-US" altLang="zh-CN" sz="2000" dirty="0" err="1">
                <a:solidFill>
                  <a:srgbClr val="FF0000"/>
                </a:solidFill>
              </a:rPr>
              <a:t>len</a:t>
            </a:r>
            <a:r>
              <a:rPr lang="en-US" altLang="zh-CN" sz="2000" dirty="0">
                <a:solidFill>
                  <a:srgbClr val="FF0000"/>
                </a:solidFill>
              </a:rPr>
              <a:t> – k – 1) 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 character.</a:t>
            </a:r>
          </a:p>
          <a:p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 correct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78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29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73D8B-B120-45DB-B367-A3EA2F42B9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6" t="32500" r="7837" b="16204"/>
          <a:stretch/>
        </p:blipFill>
        <p:spPr>
          <a:xfrm>
            <a:off x="1356852" y="243008"/>
            <a:ext cx="7031295" cy="6459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D513EB-4DEF-4D57-B76B-862A29C5427D}"/>
              </a:ext>
            </a:extLst>
          </p:cNvPr>
          <p:cNvSpPr txBox="1"/>
          <p:nvPr/>
        </p:nvSpPr>
        <p:spPr>
          <a:xfrm>
            <a:off x="8391496" y="3174591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B31523-CEE5-2950-463C-5CE68A620799}"/>
              </a:ext>
            </a:extLst>
          </p:cNvPr>
          <p:cNvSpPr txBox="1"/>
          <p:nvPr/>
        </p:nvSpPr>
        <p:spPr>
          <a:xfrm>
            <a:off x="9565957" y="2929126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B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42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7AEA384-E502-753E-D032-D75E8BB5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30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C6C9C2-20F9-B593-4539-A85D3CB28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51" y="612963"/>
            <a:ext cx="6096851" cy="30484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3D7B8F-3660-1774-3BC2-B6FE8D56C4F3}"/>
              </a:ext>
            </a:extLst>
          </p:cNvPr>
          <p:cNvSpPr txBox="1"/>
          <p:nvPr/>
        </p:nvSpPr>
        <p:spPr>
          <a:xfrm>
            <a:off x="7791231" y="1066141"/>
            <a:ext cx="33341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 is power of 5, and n should equal to or be greater than low and equal to or be smaller than high.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 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Find all the suitable n and use count to count the number of n.</a:t>
            </a:r>
            <a:endParaRPr lang="en-US" altLang="zh-CN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72EB431-CA42-2C0C-0A6A-DB8BAA4C1BFF}"/>
              </a:ext>
            </a:extLst>
          </p:cNvPr>
          <p:cNvCxnSpPr>
            <a:cxnSpLocks/>
          </p:cNvCxnSpPr>
          <p:nvPr/>
        </p:nvCxnSpPr>
        <p:spPr>
          <a:xfrm>
            <a:off x="3786086" y="1811594"/>
            <a:ext cx="235527" cy="25076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CFAB3A6-858F-A200-EF17-94E48882F4EF}"/>
              </a:ext>
            </a:extLst>
          </p:cNvPr>
          <p:cNvSpPr txBox="1"/>
          <p:nvPr/>
        </p:nvSpPr>
        <p:spPr>
          <a:xfrm>
            <a:off x="3058722" y="4388539"/>
            <a:ext cx="291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if( n &gt;= low )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E59178-1574-9DDD-25C7-9BF0D632D4B7}"/>
              </a:ext>
            </a:extLst>
          </p:cNvPr>
          <p:cNvSpPr txBox="1"/>
          <p:nvPr/>
        </p:nvSpPr>
        <p:spPr>
          <a:xfrm>
            <a:off x="4021612" y="4850204"/>
            <a:ext cx="3380509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If it is a while loop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 n keeps the same value, but count keeps increasing. (infinite loop)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3518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3806" y="6356350"/>
            <a:ext cx="90211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31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C4983-65D7-4F0D-916B-79C3674929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8" t="7917" r="10915" b="27500"/>
          <a:stretch/>
        </p:blipFill>
        <p:spPr>
          <a:xfrm>
            <a:off x="68827" y="71608"/>
            <a:ext cx="5586566" cy="66952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1629F9-8F24-460A-B0E7-6D374908D5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3" t="7778" r="25645" b="76944"/>
          <a:stretch/>
        </p:blipFill>
        <p:spPr>
          <a:xfrm>
            <a:off x="5847733" y="3046464"/>
            <a:ext cx="5223389" cy="19677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D1BAFC-7CA3-4D0C-BC67-4665DE01A7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8" t="73195" r="10915" b="11389"/>
          <a:stretch/>
        </p:blipFill>
        <p:spPr>
          <a:xfrm>
            <a:off x="5522348" y="1210554"/>
            <a:ext cx="6551664" cy="18743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C3D6D7-6A78-4C93-945E-C5E1FBF0300E}"/>
              </a:ext>
            </a:extLst>
          </p:cNvPr>
          <p:cNvSpPr txBox="1"/>
          <p:nvPr/>
        </p:nvSpPr>
        <p:spPr>
          <a:xfrm>
            <a:off x="5818310" y="5345166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38C1CB-F50C-910A-A6CC-0423CA340B0B}"/>
              </a:ext>
            </a:extLst>
          </p:cNvPr>
          <p:cNvSpPr txBox="1"/>
          <p:nvPr/>
        </p:nvSpPr>
        <p:spPr>
          <a:xfrm>
            <a:off x="7106264" y="5126098"/>
            <a:ext cx="172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C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74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2122B4-948D-D522-DF99-5807E688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32</a:t>
            </a:fld>
            <a:endParaRPr lang="en-SG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058CBF-6F54-F497-5263-ED22698D6FF3}"/>
              </a:ext>
            </a:extLst>
          </p:cNvPr>
          <p:cNvSpPr txBox="1"/>
          <p:nvPr/>
        </p:nvSpPr>
        <p:spPr>
          <a:xfrm>
            <a:off x="246035" y="1042890"/>
            <a:ext cx="2923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Part a:</a:t>
            </a:r>
            <a:endParaRPr lang="zh-CN" altLang="en-US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2683A5-2FFE-DA4C-4CA5-63655C90F309}"/>
              </a:ext>
            </a:extLst>
          </p:cNvPr>
          <p:cNvSpPr txBox="1"/>
          <p:nvPr/>
        </p:nvSpPr>
        <p:spPr>
          <a:xfrm>
            <a:off x="176763" y="1638636"/>
            <a:ext cx="4481945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zh-CN" dirty="0"/>
              <a:t>Compare the x-coordinates of p and q</a:t>
            </a:r>
          </a:p>
          <a:p>
            <a:pPr marL="342900" indent="-342900">
              <a:buFontTx/>
              <a:buAutoNum type="arabicParenR"/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they are the same </a:t>
            </a:r>
            <a:r>
              <a:rPr lang="en-US" altLang="zh-CN" dirty="0">
                <a:sym typeface="Wingdings" panose="05000000000000000000" pitchFamily="2" charset="2"/>
              </a:rPr>
              <a:t> compare </a:t>
            </a:r>
            <a:r>
              <a:rPr lang="en-US" altLang="zh-CN" dirty="0"/>
              <a:t>the y-coordinates of p and q</a:t>
            </a:r>
          </a:p>
          <a:p>
            <a:pPr marL="342900" indent="-342900">
              <a:buFontTx/>
              <a:buAutoNum type="arabicParenR"/>
            </a:pPr>
            <a:r>
              <a:rPr lang="en-US" altLang="zh-CN" dirty="0"/>
              <a:t>If not </a:t>
            </a:r>
            <a:r>
              <a:rPr lang="en-US" altLang="zh-CN" dirty="0">
                <a:sym typeface="Wingdings" panose="05000000000000000000" pitchFamily="2" charset="2"/>
              </a:rPr>
              <a:t> return</a:t>
            </a:r>
          </a:p>
          <a:p>
            <a:pPr marL="342900" indent="-342900">
              <a:buFontTx/>
              <a:buAutoNum type="arabicParenR"/>
            </a:pPr>
            <a:r>
              <a:rPr lang="en-US" altLang="zh-CN" dirty="0">
                <a:sym typeface="Wingdings" panose="05000000000000000000" pitchFamily="2" charset="2"/>
              </a:rPr>
              <a:t>return 1 if p is smaller; 0 if q is smaller</a:t>
            </a:r>
            <a:endParaRPr lang="en-US" altLang="zh-CN" dirty="0"/>
          </a:p>
          <a:p>
            <a:pPr marL="342900" indent="-342900">
              <a:buAutoNum type="arabicParenR"/>
            </a:pPr>
            <a:endParaRPr lang="en-US" altLang="zh-CN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E0FD6CBE-DDCB-26C9-6A88-9480A17F6D78}"/>
              </a:ext>
            </a:extLst>
          </p:cNvPr>
          <p:cNvSpPr/>
          <p:nvPr/>
        </p:nvSpPr>
        <p:spPr>
          <a:xfrm>
            <a:off x="4838817" y="2310581"/>
            <a:ext cx="1212273" cy="4849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A4002A-C0E6-F492-D203-93F4883D2640}"/>
              </a:ext>
            </a:extLst>
          </p:cNvPr>
          <p:cNvSpPr txBox="1"/>
          <p:nvPr/>
        </p:nvSpPr>
        <p:spPr>
          <a:xfrm>
            <a:off x="6231199" y="1675872"/>
            <a:ext cx="5375564" cy="7078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if ( </a:t>
            </a:r>
            <a:r>
              <a:rPr lang="en-US" altLang="zh-CN" sz="2000" dirty="0" err="1"/>
              <a:t>p.x</a:t>
            </a:r>
            <a:r>
              <a:rPr lang="en-US" altLang="zh-CN" sz="2000" dirty="0"/>
              <a:t> &lt; </a:t>
            </a:r>
            <a:r>
              <a:rPr lang="en-US" altLang="zh-CN" sz="2000" dirty="0" err="1"/>
              <a:t>q.x</a:t>
            </a:r>
            <a:r>
              <a:rPr lang="en-US" altLang="zh-CN" sz="2000" dirty="0"/>
              <a:t> || (</a:t>
            </a:r>
            <a:r>
              <a:rPr lang="en-US" altLang="zh-CN" sz="2000" dirty="0" err="1"/>
              <a:t>p.x</a:t>
            </a:r>
            <a:r>
              <a:rPr lang="en-US" altLang="zh-CN" sz="2000" dirty="0"/>
              <a:t> == </a:t>
            </a:r>
            <a:r>
              <a:rPr lang="en-US" altLang="zh-CN" sz="2000" dirty="0" err="1"/>
              <a:t>q.x</a:t>
            </a:r>
            <a:r>
              <a:rPr lang="en-US" altLang="zh-CN" sz="2000" dirty="0"/>
              <a:t> &amp;&amp; </a:t>
            </a:r>
            <a:r>
              <a:rPr lang="en-US" altLang="zh-CN" sz="2000" dirty="0" err="1"/>
              <a:t>p.y</a:t>
            </a:r>
            <a:r>
              <a:rPr lang="en-US" altLang="zh-CN" sz="2000" dirty="0"/>
              <a:t> &lt; </a:t>
            </a:r>
            <a:r>
              <a:rPr lang="en-US" altLang="zh-CN" sz="2000" dirty="0" err="1"/>
              <a:t>q.y</a:t>
            </a:r>
            <a:r>
              <a:rPr lang="en-US" altLang="zh-CN" sz="2000" dirty="0"/>
              <a:t>) )  return 1;</a:t>
            </a:r>
          </a:p>
          <a:p>
            <a:r>
              <a:rPr lang="en-US" altLang="zh-CN" sz="2000" dirty="0"/>
              <a:t>else return 0;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7DCDA1-216A-2701-3FC0-1844434D1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12" r="3896"/>
          <a:stretch>
            <a:fillRect/>
          </a:stretch>
        </p:blipFill>
        <p:spPr>
          <a:xfrm>
            <a:off x="5330654" y="2795490"/>
            <a:ext cx="6615545" cy="4156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7C98DCF-7C03-E759-10B8-B389797BA348}"/>
              </a:ext>
            </a:extLst>
          </p:cNvPr>
          <p:cNvSpPr txBox="1"/>
          <p:nvPr/>
        </p:nvSpPr>
        <p:spPr>
          <a:xfrm>
            <a:off x="246034" y="3841508"/>
            <a:ext cx="2923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Part b:</a:t>
            </a:r>
            <a:endParaRPr lang="zh-CN" altLang="en-US" sz="2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815EBD-0C98-5937-9FA5-A3ED1D81A2B4}"/>
              </a:ext>
            </a:extLst>
          </p:cNvPr>
          <p:cNvSpPr txBox="1"/>
          <p:nvPr/>
        </p:nvSpPr>
        <p:spPr>
          <a:xfrm>
            <a:off x="246034" y="4354126"/>
            <a:ext cx="4592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 place all the points in ascending order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zh-CN" dirty="0"/>
              <a:t>If point </a:t>
            </a:r>
            <a:r>
              <a:rPr lang="en-US" altLang="zh-CN" dirty="0" err="1"/>
              <a:t>i</a:t>
            </a:r>
            <a:r>
              <a:rPr lang="en-US" altLang="zh-CN" dirty="0"/>
              <a:t> is bigger than i+1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zh-CN" dirty="0"/>
              <a:t>Swap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zh-CN" dirty="0"/>
              <a:t> if ( </a:t>
            </a:r>
            <a:r>
              <a:rPr lang="en-US" altLang="zh-CN" dirty="0" err="1"/>
              <a:t>less_than</a:t>
            </a:r>
            <a:r>
              <a:rPr lang="en-US" altLang="zh-CN" dirty="0"/>
              <a:t>(points[</a:t>
            </a:r>
            <a:r>
              <a:rPr lang="en-US" altLang="zh-CN" dirty="0" err="1"/>
              <a:t>i</a:t>
            </a:r>
            <a:r>
              <a:rPr lang="en-US" altLang="zh-CN" dirty="0"/>
              <a:t>], points[i+1] == 0))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D923C13-704F-0E6C-F6F2-65774BE79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617" y="5092790"/>
            <a:ext cx="5811982" cy="572409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1E95293A-4E63-B1F1-A585-DB3D16E202DA}"/>
              </a:ext>
            </a:extLst>
          </p:cNvPr>
          <p:cNvSpPr/>
          <p:nvPr/>
        </p:nvSpPr>
        <p:spPr>
          <a:xfrm>
            <a:off x="5074344" y="5092790"/>
            <a:ext cx="1212273" cy="4849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910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10" grpId="0"/>
      <p:bldP spid="11" grpId="0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5510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33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0CB29-31D8-4690-86E1-5F93BBA777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4" t="16581" r="41045" b="12638"/>
          <a:stretch/>
        </p:blipFill>
        <p:spPr>
          <a:xfrm>
            <a:off x="1293552" y="562840"/>
            <a:ext cx="2872393" cy="63480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06849F-7431-4187-AA29-CAEA982D48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4" t="8056" r="9601" b="85102"/>
          <a:stretch/>
        </p:blipFill>
        <p:spPr>
          <a:xfrm>
            <a:off x="976559" y="-23304"/>
            <a:ext cx="5297207" cy="667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43B136-B742-4AFA-BD22-3693ABE525C7}"/>
              </a:ext>
            </a:extLst>
          </p:cNvPr>
          <p:cNvSpPr txBox="1"/>
          <p:nvPr/>
        </p:nvSpPr>
        <p:spPr>
          <a:xfrm>
            <a:off x="4622463" y="877631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69D24-3C4B-4EE0-8CA6-F3A01167BC32}"/>
              </a:ext>
            </a:extLst>
          </p:cNvPr>
          <p:cNvSpPr txBox="1"/>
          <p:nvPr/>
        </p:nvSpPr>
        <p:spPr>
          <a:xfrm>
            <a:off x="4527213" y="2058731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BB510-E4F6-4DDC-A247-31679AD45B5D}"/>
              </a:ext>
            </a:extLst>
          </p:cNvPr>
          <p:cNvSpPr txBox="1"/>
          <p:nvPr/>
        </p:nvSpPr>
        <p:spPr>
          <a:xfrm>
            <a:off x="4498638" y="3925631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5AF557-E847-7E3A-6006-3CB63FDEEBA3}"/>
              </a:ext>
            </a:extLst>
          </p:cNvPr>
          <p:cNvSpPr txBox="1"/>
          <p:nvPr/>
        </p:nvSpPr>
        <p:spPr>
          <a:xfrm>
            <a:off x="6507018" y="108189"/>
            <a:ext cx="520873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strcat</a:t>
            </a:r>
            <a:r>
              <a:rPr lang="en-US" altLang="zh-CN" sz="2400" dirty="0">
                <a:solidFill>
                  <a:srgbClr val="FF0000"/>
                </a:solidFill>
              </a:rPr>
              <a:t> ( char *s1, char *s2 ):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Find the end of s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Copy the contents of s2 (including its terminating '\0') to the end of s1.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The function returns </a:t>
            </a:r>
            <a:r>
              <a:rPr lang="en-US" altLang="zh-CN" sz="2000" dirty="0">
                <a:latin typeface="Arial" panose="020B0604020202020204" pitchFamily="34" charset="0"/>
              </a:rPr>
              <a:t>the new </a:t>
            </a:r>
            <a:r>
              <a:rPr lang="zh-CN" altLang="zh-CN" sz="2000" dirty="0">
                <a:latin typeface="Arial" panose="020B0604020202020204" pitchFamily="34" charset="0"/>
              </a:rPr>
              <a:t>s1.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Arial" panose="020B0604020202020204" pitchFamily="34" charset="0"/>
                <a:sym typeface="Wingdings" panose="05000000000000000000" pitchFamily="2" charset="2"/>
              </a:rPr>
              <a:t> output: </a:t>
            </a:r>
            <a:r>
              <a:rPr lang="en-US" altLang="zh-CN" sz="2000" b="1" dirty="0" err="1">
                <a:latin typeface="Arial" panose="020B0604020202020204" pitchFamily="34" charset="0"/>
                <a:sym typeface="Wingdings" panose="05000000000000000000" pitchFamily="2" charset="2"/>
              </a:rPr>
              <a:t>acebdf</a:t>
            </a:r>
            <a:endParaRPr lang="zh-CN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F189B9-8615-D829-283C-1635028DFD2F}"/>
              </a:ext>
            </a:extLst>
          </p:cNvPr>
          <p:cNvSpPr txBox="1"/>
          <p:nvPr/>
        </p:nvSpPr>
        <p:spPr>
          <a:xfrm>
            <a:off x="6248400" y="2124886"/>
            <a:ext cx="4711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zh-CN" dirty="0"/>
              <a:t>num = 13579;  k = 1: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val</a:t>
            </a:r>
            <a:r>
              <a:rPr lang="en-US" altLang="zh-CN" dirty="0"/>
              <a:t> = </a:t>
            </a:r>
            <a:r>
              <a:rPr lang="en-US" altLang="zh-CN" dirty="0" err="1"/>
              <a:t>val</a:t>
            </a:r>
            <a:r>
              <a:rPr lang="en-US" altLang="zh-CN" dirty="0"/>
              <a:t> + 9 * 2 % 10 * 1 = 8;</a:t>
            </a:r>
          </a:p>
          <a:p>
            <a:pPr marL="342900" indent="-342900">
              <a:buAutoNum type="arabicParenR" startAt="2"/>
            </a:pPr>
            <a:r>
              <a:rPr lang="en-US" altLang="zh-CN" dirty="0"/>
              <a:t>num = 1357; k = 10;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val</a:t>
            </a:r>
            <a:r>
              <a:rPr lang="en-US" altLang="zh-CN" dirty="0"/>
              <a:t> = </a:t>
            </a:r>
            <a:r>
              <a:rPr lang="en-US" altLang="zh-CN" dirty="0" err="1"/>
              <a:t>val</a:t>
            </a:r>
            <a:r>
              <a:rPr lang="en-US" altLang="zh-CN" dirty="0"/>
              <a:t> + 7 * 2 % 10 * 10 = 48;</a:t>
            </a:r>
          </a:p>
          <a:p>
            <a:pPr marL="342900" indent="-342900">
              <a:buAutoNum type="arabicParenR" startAt="3"/>
            </a:pPr>
            <a:r>
              <a:rPr lang="en-US" altLang="zh-CN" dirty="0"/>
              <a:t>num = 135; k = 100;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val</a:t>
            </a:r>
            <a:r>
              <a:rPr lang="en-US" altLang="zh-CN" dirty="0"/>
              <a:t> = </a:t>
            </a:r>
            <a:r>
              <a:rPr lang="en-US" altLang="zh-CN" dirty="0" err="1"/>
              <a:t>val</a:t>
            </a:r>
            <a:r>
              <a:rPr lang="en-US" altLang="zh-CN" dirty="0"/>
              <a:t> + 5 * 2 % 10 * 100 = 48;</a:t>
            </a:r>
          </a:p>
          <a:p>
            <a:pPr marL="342900" indent="-342900">
              <a:buAutoNum type="arabicParenR" startAt="4"/>
            </a:pPr>
            <a:r>
              <a:rPr lang="en-US" altLang="zh-CN" dirty="0"/>
              <a:t>num = 13; k = 1000;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val</a:t>
            </a:r>
            <a:r>
              <a:rPr lang="en-US" altLang="zh-CN" dirty="0"/>
              <a:t> = </a:t>
            </a:r>
            <a:r>
              <a:rPr lang="en-US" altLang="zh-CN" dirty="0" err="1"/>
              <a:t>val</a:t>
            </a:r>
            <a:r>
              <a:rPr lang="en-US" altLang="zh-CN" dirty="0"/>
              <a:t> + 3 * 2 % 10 * 1000 = 6048;</a:t>
            </a:r>
          </a:p>
          <a:p>
            <a:pPr marL="342900" indent="-342900">
              <a:buAutoNum type="arabicParenR" startAt="5"/>
            </a:pPr>
            <a:r>
              <a:rPr lang="en-US" altLang="zh-CN" dirty="0"/>
              <a:t>num = 1; k = 10000;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val</a:t>
            </a:r>
            <a:r>
              <a:rPr lang="en-US" altLang="zh-CN" dirty="0"/>
              <a:t> = </a:t>
            </a:r>
            <a:r>
              <a:rPr lang="en-US" altLang="zh-CN" dirty="0" err="1"/>
              <a:t>val</a:t>
            </a:r>
            <a:r>
              <a:rPr lang="en-US" altLang="zh-CN" dirty="0"/>
              <a:t> + 1 * 2 % 10 * 100 = 26048;</a:t>
            </a:r>
          </a:p>
          <a:p>
            <a:r>
              <a:rPr lang="en-US" altLang="zh-CN" b="1" dirty="0"/>
              <a:t>Output: 26048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51C511-E5FB-0B24-5526-93AEC67F2D39}"/>
              </a:ext>
            </a:extLst>
          </p:cNvPr>
          <p:cNvSpPr/>
          <p:nvPr/>
        </p:nvSpPr>
        <p:spPr>
          <a:xfrm>
            <a:off x="6133009" y="2117725"/>
            <a:ext cx="5124517" cy="32418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6E25C-FE5F-09A5-B7FE-951EF15A81C2}"/>
              </a:ext>
            </a:extLst>
          </p:cNvPr>
          <p:cNvSpPr txBox="1"/>
          <p:nvPr/>
        </p:nvSpPr>
        <p:spPr>
          <a:xfrm>
            <a:off x="5823295" y="2684875"/>
            <a:ext cx="29903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r = 0</a:t>
            </a:r>
          </a:p>
          <a:p>
            <a:r>
              <a:rPr lang="en-US" altLang="zh-CN" dirty="0"/>
              <a:t>        1) c = 0  0 % 2 == 0</a:t>
            </a:r>
          </a:p>
          <a:p>
            <a:r>
              <a:rPr lang="en-US" altLang="zh-CN" dirty="0"/>
              <a:t>              total = 0;</a:t>
            </a:r>
          </a:p>
          <a:p>
            <a:r>
              <a:rPr lang="en-US" altLang="zh-CN" dirty="0"/>
              <a:t>         2) c =1  1 % 2 != 0</a:t>
            </a:r>
          </a:p>
          <a:p>
            <a:r>
              <a:rPr lang="en-US" altLang="zh-CN" dirty="0"/>
              <a:t>               total = 2;</a:t>
            </a:r>
          </a:p>
          <a:p>
            <a:r>
              <a:rPr lang="en-US" altLang="zh-CN" dirty="0"/>
              <a:t>          3) c =2  2 % 2 == 0</a:t>
            </a:r>
          </a:p>
          <a:p>
            <a:r>
              <a:rPr lang="en-US" altLang="zh-CN" dirty="0"/>
              <a:t>               total = 2;</a:t>
            </a:r>
          </a:p>
          <a:p>
            <a:pPr marL="342900" indent="-342900">
              <a:buAutoNum type="arabicPeriod" startAt="2"/>
            </a:pPr>
            <a:r>
              <a:rPr lang="en-US" altLang="zh-CN" dirty="0"/>
              <a:t>r = 1</a:t>
            </a:r>
          </a:p>
          <a:p>
            <a:r>
              <a:rPr lang="en-US" altLang="zh-CN" dirty="0"/>
              <a:t>         1) c = 0  1 % 2 != 0</a:t>
            </a:r>
          </a:p>
          <a:p>
            <a:r>
              <a:rPr lang="en-US" altLang="zh-CN" dirty="0"/>
              <a:t>              total = 6;</a:t>
            </a:r>
          </a:p>
          <a:p>
            <a:r>
              <a:rPr lang="en-US" altLang="zh-CN" dirty="0"/>
              <a:t>         2) c =1  2 % 2 == 0</a:t>
            </a:r>
          </a:p>
          <a:p>
            <a:r>
              <a:rPr lang="en-US" altLang="zh-CN" dirty="0"/>
              <a:t>               total = 6;</a:t>
            </a:r>
          </a:p>
          <a:p>
            <a:r>
              <a:rPr lang="en-US" altLang="zh-CN" dirty="0"/>
              <a:t>          3) c =2  3% 2 != 0</a:t>
            </a:r>
          </a:p>
          <a:p>
            <a:r>
              <a:rPr lang="en-US" altLang="zh-CN" dirty="0"/>
              <a:t>               total = 12;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726D2A-3492-E0E3-1515-D9A8BC344AB8}"/>
              </a:ext>
            </a:extLst>
          </p:cNvPr>
          <p:cNvSpPr/>
          <p:nvPr/>
        </p:nvSpPr>
        <p:spPr>
          <a:xfrm>
            <a:off x="6388100" y="188339"/>
            <a:ext cx="4711700" cy="1870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6338717-812F-6C16-2795-D942E604F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02819"/>
              </p:ext>
            </p:extLst>
          </p:nvPr>
        </p:nvGraphicFramePr>
        <p:xfrm>
          <a:off x="6864348" y="97827"/>
          <a:ext cx="3194052" cy="225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513">
                  <a:extLst>
                    <a:ext uri="{9D8B030D-6E8A-4147-A177-3AD203B41FA5}">
                      <a16:colId xmlns:a16="http://schemas.microsoft.com/office/drawing/2014/main" val="3606310379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558353548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1376380215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3426740364"/>
                    </a:ext>
                  </a:extLst>
                </a:gridCol>
              </a:tblGrid>
              <a:tr h="564408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[2]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08285"/>
                  </a:ext>
                </a:extLst>
              </a:tr>
              <a:tr h="564408">
                <a:tc>
                  <a:txBody>
                    <a:bodyPr/>
                    <a:lstStyle/>
                    <a:p>
                      <a:r>
                        <a:rPr lang="en-US" altLang="zh-CN" dirty="0"/>
                        <a:t>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81944"/>
                  </a:ext>
                </a:extLst>
              </a:tr>
              <a:tr h="564408">
                <a:tc>
                  <a:txBody>
                    <a:bodyPr/>
                    <a:lstStyle/>
                    <a:p>
                      <a:r>
                        <a:rPr lang="en-US" altLang="zh-CN" dirty="0"/>
                        <a:t>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013318"/>
                  </a:ext>
                </a:extLst>
              </a:tr>
              <a:tr h="564408">
                <a:tc>
                  <a:txBody>
                    <a:bodyPr/>
                    <a:lstStyle/>
                    <a:p>
                      <a:r>
                        <a:rPr lang="en-US" altLang="zh-CN" dirty="0"/>
                        <a:t>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82742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C6DDB8C-8283-C7F3-DF7E-3C0885047201}"/>
              </a:ext>
            </a:extLst>
          </p:cNvPr>
          <p:cNvSpPr txBox="1"/>
          <p:nvPr/>
        </p:nvSpPr>
        <p:spPr>
          <a:xfrm>
            <a:off x="8868047" y="3679670"/>
            <a:ext cx="29903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 r = 2</a:t>
            </a:r>
          </a:p>
          <a:p>
            <a:r>
              <a:rPr lang="en-US" altLang="zh-CN" dirty="0"/>
              <a:t>        1) c = 0  2 % 2 == 0</a:t>
            </a:r>
          </a:p>
          <a:p>
            <a:r>
              <a:rPr lang="en-US" altLang="zh-CN" dirty="0"/>
              <a:t>              total = 12;</a:t>
            </a:r>
          </a:p>
          <a:p>
            <a:r>
              <a:rPr lang="en-US" altLang="zh-CN" dirty="0"/>
              <a:t>         2) c =1  3 % 2 != 0</a:t>
            </a:r>
          </a:p>
          <a:p>
            <a:r>
              <a:rPr lang="en-US" altLang="zh-CN" dirty="0"/>
              <a:t>               total = 20;</a:t>
            </a:r>
          </a:p>
          <a:p>
            <a:r>
              <a:rPr lang="en-US" altLang="zh-CN" dirty="0"/>
              <a:t>          3) c =2  4 % 2 == 0</a:t>
            </a:r>
          </a:p>
          <a:p>
            <a:r>
              <a:rPr lang="en-US" altLang="zh-CN" dirty="0"/>
              <a:t>               total = 20;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CFCB3D-B76C-7503-AE10-E8F524D9A7CD}"/>
              </a:ext>
            </a:extLst>
          </p:cNvPr>
          <p:cNvSpPr txBox="1"/>
          <p:nvPr/>
        </p:nvSpPr>
        <p:spPr>
          <a:xfrm>
            <a:off x="4948531" y="1299967"/>
            <a:ext cx="1429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6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DBC9B4-3128-B6AE-82FB-41B57312EF3E}"/>
              </a:ext>
            </a:extLst>
          </p:cNvPr>
          <p:cNvSpPr txBox="1"/>
          <p:nvPr/>
        </p:nvSpPr>
        <p:spPr>
          <a:xfrm>
            <a:off x="4901316" y="2557054"/>
            <a:ext cx="1429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26048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B419F0-C5C8-FF22-139B-929A841F8388}"/>
              </a:ext>
            </a:extLst>
          </p:cNvPr>
          <p:cNvSpPr txBox="1"/>
          <p:nvPr/>
        </p:nvSpPr>
        <p:spPr>
          <a:xfrm>
            <a:off x="4949802" y="4388836"/>
            <a:ext cx="1429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20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15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4" grpId="0"/>
      <p:bldP spid="15" grpId="0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34</a:t>
            </a:fld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223F9-9CA0-4316-B511-36C7DFB466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4" t="8056" r="46879" b="55276"/>
          <a:stretch/>
        </p:blipFill>
        <p:spPr>
          <a:xfrm>
            <a:off x="993058" y="750632"/>
            <a:ext cx="2924175" cy="384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1C329E-ACE3-4050-BBB6-96AA1FE7FF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4" t="47544" r="12306" b="13194"/>
          <a:stretch/>
        </p:blipFill>
        <p:spPr>
          <a:xfrm>
            <a:off x="6048375" y="152400"/>
            <a:ext cx="5486400" cy="4114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362166-A30F-4E02-B12D-973003867B8C}"/>
              </a:ext>
            </a:extLst>
          </p:cNvPr>
          <p:cNvSpPr txBox="1"/>
          <p:nvPr/>
        </p:nvSpPr>
        <p:spPr>
          <a:xfrm>
            <a:off x="566042" y="4913467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E1F8D-E2E8-4572-8F82-549B9D4799A4}"/>
              </a:ext>
            </a:extLst>
          </p:cNvPr>
          <p:cNvSpPr txBox="1"/>
          <p:nvPr/>
        </p:nvSpPr>
        <p:spPr>
          <a:xfrm>
            <a:off x="5955963" y="4095546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F175640-EBE7-41E8-3113-4CE245B61607}"/>
              </a:ext>
            </a:extLst>
          </p:cNvPr>
          <p:cNvCxnSpPr/>
          <p:nvPr/>
        </p:nvCxnSpPr>
        <p:spPr>
          <a:xfrm flipH="1" flipV="1">
            <a:off x="2447785" y="2268571"/>
            <a:ext cx="228600" cy="1302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D88DBDF-597C-EB53-DB80-9DF2839BBDD1}"/>
              </a:ext>
            </a:extLst>
          </p:cNvPr>
          <p:cNvCxnSpPr>
            <a:cxnSpLocks/>
          </p:cNvCxnSpPr>
          <p:nvPr/>
        </p:nvCxnSpPr>
        <p:spPr>
          <a:xfrm flipH="1" flipV="1">
            <a:off x="2945779" y="2268571"/>
            <a:ext cx="478752" cy="1302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29F8D9E-D75F-F558-411A-5FA7D94582EE}"/>
              </a:ext>
            </a:extLst>
          </p:cNvPr>
          <p:cNvSpPr txBox="1"/>
          <p:nvPr/>
        </p:nvSpPr>
        <p:spPr>
          <a:xfrm>
            <a:off x="2178391" y="2019188"/>
            <a:ext cx="446377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11</a:t>
            </a:r>
            <a:endParaRPr lang="zh-CN" altLang="en-US" sz="1600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F4D0806-0507-E9CB-BC15-9D9DDBB2F9A0}"/>
              </a:ext>
            </a:extLst>
          </p:cNvPr>
          <p:cNvCxnSpPr>
            <a:cxnSpLocks/>
          </p:cNvCxnSpPr>
          <p:nvPr/>
        </p:nvCxnSpPr>
        <p:spPr>
          <a:xfrm flipH="1" flipV="1">
            <a:off x="2945779" y="2268571"/>
            <a:ext cx="478752" cy="13023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D0EA223-0619-C1EB-7C39-F0F16DEDD7D1}"/>
              </a:ext>
            </a:extLst>
          </p:cNvPr>
          <p:cNvCxnSpPr>
            <a:cxnSpLocks/>
          </p:cNvCxnSpPr>
          <p:nvPr/>
        </p:nvCxnSpPr>
        <p:spPr>
          <a:xfrm flipH="1" flipV="1">
            <a:off x="2512560" y="2268571"/>
            <a:ext cx="842698" cy="1239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7E8C076-2CBB-C68F-8212-DCDE7A921C05}"/>
              </a:ext>
            </a:extLst>
          </p:cNvPr>
          <p:cNvSpPr txBox="1"/>
          <p:nvPr/>
        </p:nvSpPr>
        <p:spPr>
          <a:xfrm>
            <a:off x="3161295" y="3681735"/>
            <a:ext cx="644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FF0000"/>
                </a:solidFill>
              </a:rPr>
              <a:t>ptr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276B6C-52EE-828A-695F-F615BE41D87E}"/>
              </a:ext>
            </a:extLst>
          </p:cNvPr>
          <p:cNvSpPr txBox="1"/>
          <p:nvPr/>
        </p:nvSpPr>
        <p:spPr>
          <a:xfrm>
            <a:off x="1799303" y="4717920"/>
            <a:ext cx="2168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11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CCF21BC-E246-29C8-A6E6-8C3F0196B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183935"/>
              </p:ext>
            </p:extLst>
          </p:nvPr>
        </p:nvGraphicFramePr>
        <p:xfrm>
          <a:off x="4322618" y="4557211"/>
          <a:ext cx="3029526" cy="1874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842">
                  <a:extLst>
                    <a:ext uri="{9D8B030D-6E8A-4147-A177-3AD203B41FA5}">
                      <a16:colId xmlns:a16="http://schemas.microsoft.com/office/drawing/2014/main" val="2488991464"/>
                    </a:ext>
                  </a:extLst>
                </a:gridCol>
                <a:gridCol w="1009842">
                  <a:extLst>
                    <a:ext uri="{9D8B030D-6E8A-4147-A177-3AD203B41FA5}">
                      <a16:colId xmlns:a16="http://schemas.microsoft.com/office/drawing/2014/main" val="2035210671"/>
                    </a:ext>
                  </a:extLst>
                </a:gridCol>
                <a:gridCol w="1009842">
                  <a:extLst>
                    <a:ext uri="{9D8B030D-6E8A-4147-A177-3AD203B41FA5}">
                      <a16:colId xmlns:a16="http://schemas.microsoft.com/office/drawing/2014/main" val="848613116"/>
                    </a:ext>
                  </a:extLst>
                </a:gridCol>
              </a:tblGrid>
              <a:tr h="624802">
                <a:tc>
                  <a:txBody>
                    <a:bodyPr/>
                    <a:lstStyle/>
                    <a:p>
                      <a:r>
                        <a:rPr lang="en-US" altLang="zh-CN" dirty="0"/>
                        <a:t>list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003204"/>
                  </a:ext>
                </a:extLst>
              </a:tr>
              <a:tr h="624802">
                <a:tc>
                  <a:txBody>
                    <a:bodyPr/>
                    <a:lstStyle/>
                    <a:p>
                      <a:r>
                        <a:rPr lang="en-US" altLang="zh-CN" dirty="0"/>
                        <a:t>code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CS1010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982275"/>
                  </a:ext>
                </a:extLst>
              </a:tr>
              <a:tr h="624802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numStu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CS1231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382697"/>
                  </a:ext>
                </a:extLst>
              </a:tr>
            </a:tbl>
          </a:graphicData>
        </a:graphic>
      </p:graphicFrame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AB14D26-30A1-6DEF-480F-A1D814F9B6FE}"/>
              </a:ext>
            </a:extLst>
          </p:cNvPr>
          <p:cNvCxnSpPr/>
          <p:nvPr/>
        </p:nvCxnSpPr>
        <p:spPr>
          <a:xfrm flipH="1" flipV="1">
            <a:off x="7945582" y="3733596"/>
            <a:ext cx="568036" cy="679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157C7BA-F95E-A0DD-A428-3417B272F4E7}"/>
              </a:ext>
            </a:extLst>
          </p:cNvPr>
          <p:cNvSpPr txBox="1"/>
          <p:nvPr/>
        </p:nvSpPr>
        <p:spPr>
          <a:xfrm>
            <a:off x="7973291" y="4412673"/>
            <a:ext cx="4218709" cy="132343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It passes by value, not by address.</a:t>
            </a:r>
          </a:p>
          <a:p>
            <a:r>
              <a:rPr lang="en-US" altLang="zh-CN" sz="2000" dirty="0"/>
              <a:t>So this is the copy of </a:t>
            </a:r>
            <a:r>
              <a:rPr lang="en-US" altLang="zh-CN" sz="2000" dirty="0" err="1"/>
              <a:t>module_t</a:t>
            </a:r>
            <a:r>
              <a:rPr lang="en-US" altLang="zh-CN" sz="2000" dirty="0"/>
              <a:t> list, and will not make a difference on </a:t>
            </a:r>
            <a:r>
              <a:rPr lang="en-US" altLang="zh-CN" sz="2000" dirty="0" err="1"/>
              <a:t>numStu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208F60F-8E99-4344-9244-FBDB951D79C7}"/>
              </a:ext>
            </a:extLst>
          </p:cNvPr>
          <p:cNvSpPr txBox="1"/>
          <p:nvPr/>
        </p:nvSpPr>
        <p:spPr>
          <a:xfrm>
            <a:off x="8028710" y="5908397"/>
            <a:ext cx="2168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100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2BEEC60-97BA-E535-0803-A2C303043A82}"/>
              </a:ext>
            </a:extLst>
          </p:cNvPr>
          <p:cNvSpPr/>
          <p:nvPr/>
        </p:nvSpPr>
        <p:spPr>
          <a:xfrm>
            <a:off x="6310745" y="5782080"/>
            <a:ext cx="630382" cy="3879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1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4" grpId="0" animBg="1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35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21232-44D2-45C8-B8EE-3C43F6BB70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7" t="8195" r="9736" b="9723"/>
          <a:stretch/>
        </p:blipFill>
        <p:spPr>
          <a:xfrm>
            <a:off x="590550" y="53193"/>
            <a:ext cx="4556414" cy="6698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1E2EB3-5A9E-406C-842E-859805DAAC70}"/>
              </a:ext>
            </a:extLst>
          </p:cNvPr>
          <p:cNvSpPr txBox="1"/>
          <p:nvPr/>
        </p:nvSpPr>
        <p:spPr>
          <a:xfrm>
            <a:off x="5365413" y="1681728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3C9C0D-41FB-5CA8-5FB2-A52090E91AA3}"/>
              </a:ext>
            </a:extLst>
          </p:cNvPr>
          <p:cNvSpPr txBox="1"/>
          <p:nvPr/>
        </p:nvSpPr>
        <p:spPr>
          <a:xfrm>
            <a:off x="5561463" y="2215048"/>
            <a:ext cx="5540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mxt</a:t>
            </a:r>
            <a:r>
              <a:rPr lang="en-US" altLang="zh-CN" dirty="0"/>
              <a:t> [1][2] </a:t>
            </a:r>
            <a:r>
              <a:rPr lang="en-US" altLang="zh-CN" dirty="0">
                <a:sym typeface="Wingdings" panose="05000000000000000000" pitchFamily="2" charset="2"/>
              </a:rPr>
              <a:t> 6</a:t>
            </a:r>
            <a:r>
              <a:rPr lang="en-US" altLang="zh-CN" baseline="30000" dirty="0">
                <a:sym typeface="Wingdings" panose="05000000000000000000" pitchFamily="2" charset="2"/>
              </a:rPr>
              <a:t>th</a:t>
            </a:r>
            <a:r>
              <a:rPr lang="en-US" altLang="zh-CN" dirty="0">
                <a:sym typeface="Wingdings" panose="05000000000000000000" pitchFamily="2" charset="2"/>
              </a:rPr>
              <a:t> element (7)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</a:t>
            </a:r>
          </a:p>
          <a:p>
            <a:r>
              <a:rPr lang="en-US" altLang="zh-CN" dirty="0" err="1">
                <a:sym typeface="Wingdings" panose="05000000000000000000" pitchFamily="2" charset="2"/>
              </a:rPr>
              <a:t>mxt</a:t>
            </a:r>
            <a:r>
              <a:rPr lang="en-US" altLang="zh-CN" dirty="0">
                <a:sym typeface="Wingdings" panose="05000000000000000000" pitchFamily="2" charset="2"/>
              </a:rPr>
              <a:t> [row][col]  (row * 4 + col) </a:t>
            </a:r>
            <a:r>
              <a:rPr lang="en-US" altLang="zh-CN" dirty="0" err="1">
                <a:sym typeface="Wingdings" panose="05000000000000000000" pitchFamily="2" charset="2"/>
              </a:rPr>
              <a:t>th</a:t>
            </a:r>
            <a:r>
              <a:rPr lang="en-US" altLang="zh-CN" dirty="0">
                <a:sym typeface="Wingdings" panose="05000000000000000000" pitchFamily="2" charset="2"/>
              </a:rPr>
              <a:t> element</a:t>
            </a:r>
          </a:p>
          <a:p>
            <a:r>
              <a:rPr lang="en-US" altLang="zh-CN" dirty="0" err="1">
                <a:sym typeface="Wingdings" panose="05000000000000000000" pitchFamily="2" charset="2"/>
              </a:rPr>
              <a:t>newID</a:t>
            </a:r>
            <a:r>
              <a:rPr lang="en-US" altLang="zh-CN" dirty="0">
                <a:sym typeface="Wingdings" panose="05000000000000000000" pitchFamily="2" charset="2"/>
              </a:rPr>
              <a:t>: 3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[3/4][3%4]  [0][3]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76B0D2DE-4993-42A8-54BF-2ECF89A477D9}"/>
              </a:ext>
            </a:extLst>
          </p:cNvPr>
          <p:cNvSpPr/>
          <p:nvPr/>
        </p:nvSpPr>
        <p:spPr>
          <a:xfrm>
            <a:off x="5181350" y="3880303"/>
            <a:ext cx="1219632" cy="2183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080FDD-AFE5-830D-A3E8-B8EA467CD5FD}"/>
              </a:ext>
            </a:extLst>
          </p:cNvPr>
          <p:cNvSpPr txBox="1"/>
          <p:nvPr/>
        </p:nvSpPr>
        <p:spPr>
          <a:xfrm>
            <a:off x="5163635" y="4286594"/>
            <a:ext cx="72537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( (row * c + col) - </a:t>
            </a:r>
            <a:r>
              <a:rPr lang="en-US" altLang="zh-CN" sz="2800" b="1" dirty="0" err="1">
                <a:solidFill>
                  <a:srgbClr val="FF0000"/>
                </a:solidFill>
              </a:rPr>
              <a:t>shift_amt</a:t>
            </a:r>
            <a:r>
              <a:rPr lang="en-US" altLang="zh-CN" sz="2800" b="1" dirty="0">
                <a:solidFill>
                  <a:srgbClr val="FF0000"/>
                </a:solidFill>
              </a:rPr>
              <a:t> + r * c ) % (r * c);</a:t>
            </a:r>
          </a:p>
          <a:p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652E1-5494-41CA-BD54-2F69A9E82C4B}"/>
              </a:ext>
            </a:extLst>
          </p:cNvPr>
          <p:cNvSpPr txBox="1"/>
          <p:nvPr/>
        </p:nvSpPr>
        <p:spPr>
          <a:xfrm>
            <a:off x="9074728" y="717610"/>
            <a:ext cx="265314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idx</a:t>
            </a:r>
            <a:r>
              <a:rPr lang="en-SG" dirty="0"/>
              <a:t> </a:t>
            </a:r>
            <a:r>
              <a:rPr lang="zh-CN" altLang="en-US" dirty="0"/>
              <a:t>本质：格子的编号</a:t>
            </a:r>
            <a:endParaRPr lang="en-US" altLang="zh-CN" dirty="0"/>
          </a:p>
          <a:p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zh-CN" altLang="en-US" dirty="0">
                <a:sym typeface="Wingdings" panose="05000000000000000000" pitchFamily="2" charset="2"/>
              </a:rPr>
              <a:t>转换为</a:t>
            </a:r>
            <a:r>
              <a:rPr lang="en-US" altLang="zh-CN" dirty="0">
                <a:sym typeface="Wingdings" panose="05000000000000000000" pitchFamily="2" charset="2"/>
              </a:rPr>
              <a:t>row</a:t>
            </a:r>
            <a:r>
              <a:rPr lang="zh-CN" altLang="en-US" dirty="0">
                <a:sym typeface="Wingdings" panose="05000000000000000000" pitchFamily="2" charset="2"/>
              </a:rPr>
              <a:t>行</a:t>
            </a:r>
            <a:r>
              <a:rPr lang="en-US" altLang="zh-CN" dirty="0">
                <a:sym typeface="Wingdings" panose="05000000000000000000" pitchFamily="2" charset="2"/>
              </a:rPr>
              <a:t>col</a:t>
            </a:r>
            <a:r>
              <a:rPr lang="zh-CN" altLang="en-US" dirty="0">
                <a:sym typeface="Wingdings" panose="05000000000000000000" pitchFamily="2" charset="2"/>
              </a:rPr>
              <a:t>列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9182C3-2334-AABF-6E2E-7CC9414A6738}"/>
              </a:ext>
            </a:extLst>
          </p:cNvPr>
          <p:cNvSpPr txBox="1"/>
          <p:nvPr/>
        </p:nvSpPr>
        <p:spPr>
          <a:xfrm>
            <a:off x="9074728" y="1589394"/>
            <a:ext cx="265314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移动前的</a:t>
            </a:r>
            <a:r>
              <a:rPr lang="en-US" altLang="zh-CN" dirty="0" err="1">
                <a:sym typeface="Wingdings" panose="05000000000000000000" pitchFamily="2" charset="2"/>
              </a:rPr>
              <a:t>idx</a:t>
            </a:r>
            <a:r>
              <a:rPr lang="zh-CN" altLang="en-US" dirty="0">
                <a:sym typeface="Wingdings" panose="05000000000000000000" pitchFamily="2" charset="2"/>
              </a:rPr>
              <a:t>是多少？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移动后的</a:t>
            </a:r>
            <a:r>
              <a:rPr lang="en-US" altLang="zh-CN" dirty="0" err="1">
                <a:sym typeface="Wingdings" panose="05000000000000000000" pitchFamily="2" charset="2"/>
              </a:rPr>
              <a:t>idx</a:t>
            </a:r>
            <a:r>
              <a:rPr lang="zh-CN" altLang="en-US" dirty="0">
                <a:sym typeface="Wingdings" panose="05000000000000000000" pitchFamily="2" charset="2"/>
              </a:rPr>
              <a:t>是多少？</a:t>
            </a:r>
            <a:endParaRPr lang="en-US" altLang="zh-CN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7EB38E5-3A47-90CB-D943-7F376F6110D4}"/>
              </a:ext>
            </a:extLst>
          </p:cNvPr>
          <p:cNvSpPr/>
          <p:nvPr/>
        </p:nvSpPr>
        <p:spPr>
          <a:xfrm rot="5400000">
            <a:off x="6332214" y="4017183"/>
            <a:ext cx="337631" cy="17600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25900-3F13-10F7-164A-76A8DAB64EF6}"/>
              </a:ext>
            </a:extLst>
          </p:cNvPr>
          <p:cNvSpPr txBox="1"/>
          <p:nvPr/>
        </p:nvSpPr>
        <p:spPr>
          <a:xfrm>
            <a:off x="5791166" y="5014590"/>
            <a:ext cx="173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Original </a:t>
            </a:r>
            <a:r>
              <a:rPr lang="en-US" altLang="zh-CN" dirty="0" err="1"/>
              <a:t>idx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54BE6-7E0D-4CAC-0688-AD4209FBF36C}"/>
              </a:ext>
            </a:extLst>
          </p:cNvPr>
          <p:cNvSpPr txBox="1"/>
          <p:nvPr/>
        </p:nvSpPr>
        <p:spPr>
          <a:xfrm>
            <a:off x="8766464" y="4007501"/>
            <a:ext cx="243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Prevent it is negative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74AB1A-0377-723F-3D71-9B10AEAC8E2C}"/>
              </a:ext>
            </a:extLst>
          </p:cNvPr>
          <p:cNvSpPr txBox="1"/>
          <p:nvPr/>
        </p:nvSpPr>
        <p:spPr>
          <a:xfrm>
            <a:off x="10236545" y="4712564"/>
            <a:ext cx="173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Within 0 - r*c-1</a:t>
            </a:r>
          </a:p>
        </p:txBody>
      </p:sp>
    </p:spTree>
    <p:extLst>
      <p:ext uri="{BB962C8B-B14F-4D97-AF65-F5344CB8AC3E}">
        <p14:creationId xmlns:p14="http://schemas.microsoft.com/office/powerpoint/2010/main" val="8107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/>
      <p:bldP spid="8" grpId="0" animBg="1"/>
      <p:bldP spid="9" grpId="0" animBg="1"/>
      <p:bldP spid="10" grpId="0" animBg="1"/>
      <p:bldP spid="11" grpId="0"/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36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15463-B63E-414F-BE4A-D0B1856ACB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8" t="8333" r="11306" b="14445"/>
          <a:stretch/>
        </p:blipFill>
        <p:spPr>
          <a:xfrm>
            <a:off x="232279" y="11382"/>
            <a:ext cx="4880556" cy="6835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019633-38C1-46C6-9212-5CFA31B9F90B}"/>
              </a:ext>
            </a:extLst>
          </p:cNvPr>
          <p:cNvSpPr txBox="1"/>
          <p:nvPr/>
        </p:nvSpPr>
        <p:spPr>
          <a:xfrm>
            <a:off x="5230220" y="902827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F037FA-48E7-AF0C-5E1F-B1CE954F23DF}"/>
              </a:ext>
            </a:extLst>
          </p:cNvPr>
          <p:cNvSpPr txBox="1"/>
          <p:nvPr/>
        </p:nvSpPr>
        <p:spPr>
          <a:xfrm>
            <a:off x="5495838" y="1352596"/>
            <a:ext cx="4559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(a)</a:t>
            </a:r>
          </a:p>
          <a:p>
            <a:r>
              <a:rPr lang="en-US" altLang="zh-CN" sz="2400" dirty="0" err="1"/>
              <a:t>present_on_day</a:t>
            </a:r>
            <a:r>
              <a:rPr lang="en-US" altLang="zh-CN" sz="2400" dirty="0"/>
              <a:t> ( int n )</a:t>
            </a:r>
          </a:p>
          <a:p>
            <a:r>
              <a:rPr lang="en-US" altLang="zh-CN" sz="2400" dirty="0"/>
              <a:t>n = 1 </a:t>
            </a:r>
            <a:r>
              <a:rPr lang="en-US" altLang="zh-CN" sz="2400" dirty="0">
                <a:sym typeface="Wingdings" panose="05000000000000000000" pitchFamily="2" charset="2"/>
              </a:rPr>
              <a:t> </a:t>
            </a:r>
            <a:r>
              <a:rPr lang="en-US" altLang="zh-CN" sz="2400" dirty="0"/>
              <a:t>1 </a:t>
            </a:r>
          </a:p>
          <a:p>
            <a:r>
              <a:rPr lang="en-US" altLang="zh-CN" sz="2400" dirty="0"/>
              <a:t>n = 2 </a:t>
            </a:r>
            <a:r>
              <a:rPr lang="en-US" altLang="zh-CN" sz="2400" dirty="0">
                <a:sym typeface="Wingdings" panose="05000000000000000000" pitchFamily="2" charset="2"/>
              </a:rPr>
              <a:t> 2 + 1 = 3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n = 3  3 + 3 = 6</a:t>
            </a:r>
          </a:p>
          <a:p>
            <a:r>
              <a:rPr lang="en-US" altLang="zh-CN" sz="2400" dirty="0">
                <a:sym typeface="Wingdings" panose="05000000000000000000" pitchFamily="2" charset="2"/>
              </a:rPr>
              <a:t>……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78410E7-7E17-18C4-F08B-361940C7F692}"/>
              </a:ext>
            </a:extLst>
          </p:cNvPr>
          <p:cNvCxnSpPr/>
          <p:nvPr/>
        </p:nvCxnSpPr>
        <p:spPr>
          <a:xfrm flipV="1">
            <a:off x="8916171" y="2104149"/>
            <a:ext cx="0" cy="139889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9D018F0-B65E-BF56-D4D8-E86F77A9384B}"/>
              </a:ext>
            </a:extLst>
          </p:cNvPr>
          <p:cNvSpPr txBox="1"/>
          <p:nvPr/>
        </p:nvSpPr>
        <p:spPr>
          <a:xfrm>
            <a:off x="9195950" y="2803596"/>
            <a:ext cx="285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present_on_day</a:t>
            </a:r>
            <a:r>
              <a:rPr lang="en-US" altLang="zh-CN" sz="2000" dirty="0"/>
              <a:t> ( 2 ) + 3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2CE23C-CF22-61E0-DA66-BD41DD5F606D}"/>
              </a:ext>
            </a:extLst>
          </p:cNvPr>
          <p:cNvSpPr txBox="1"/>
          <p:nvPr/>
        </p:nvSpPr>
        <p:spPr>
          <a:xfrm>
            <a:off x="9195949" y="2450929"/>
            <a:ext cx="285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present_on_day</a:t>
            </a:r>
            <a:r>
              <a:rPr lang="en-US" altLang="zh-CN" sz="2000" dirty="0"/>
              <a:t> ( 1 ) + 2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558EC8-C56B-D656-CD80-54BA6DF7F533}"/>
              </a:ext>
            </a:extLst>
          </p:cNvPr>
          <p:cNvSpPr txBox="1"/>
          <p:nvPr/>
        </p:nvSpPr>
        <p:spPr>
          <a:xfrm>
            <a:off x="9245992" y="2050819"/>
            <a:ext cx="285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D92997-97A5-3A03-DD6D-AD0BE6965879}"/>
              </a:ext>
            </a:extLst>
          </p:cNvPr>
          <p:cNvSpPr txBox="1"/>
          <p:nvPr/>
        </p:nvSpPr>
        <p:spPr>
          <a:xfrm>
            <a:off x="5741497" y="3949372"/>
            <a:ext cx="5406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present_on_day</a:t>
            </a:r>
            <a:r>
              <a:rPr lang="en-US" altLang="zh-CN" sz="2400" dirty="0"/>
              <a:t> ( int n ) {</a:t>
            </a:r>
          </a:p>
          <a:p>
            <a:r>
              <a:rPr lang="en-US" altLang="zh-CN" sz="2400" dirty="0"/>
              <a:t>       if ( n == 1 ) return 1;</a:t>
            </a:r>
          </a:p>
          <a:p>
            <a:r>
              <a:rPr lang="en-US" altLang="zh-CN" sz="2400" dirty="0"/>
              <a:t>       return n + </a:t>
            </a:r>
            <a:r>
              <a:rPr lang="en-US" altLang="zh-CN" sz="2400" dirty="0" err="1"/>
              <a:t>present_on_day</a:t>
            </a:r>
            <a:r>
              <a:rPr lang="en-US" altLang="zh-CN" sz="2400" dirty="0"/>
              <a:t> ( n – 1 );</a:t>
            </a:r>
          </a:p>
          <a:p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A9E8F-A90C-5A87-8B6E-60B066365468}"/>
              </a:ext>
            </a:extLst>
          </p:cNvPr>
          <p:cNvSpPr txBox="1"/>
          <p:nvPr/>
        </p:nvSpPr>
        <p:spPr>
          <a:xfrm>
            <a:off x="9391467" y="3435814"/>
            <a:ext cx="2568254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 err="1"/>
              <a:t>present_on_day</a:t>
            </a:r>
            <a:r>
              <a:rPr lang="en-SG" dirty="0"/>
              <a:t>(n-1) + 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4679EC-54AD-F818-14F0-0E8933C4C384}"/>
              </a:ext>
            </a:extLst>
          </p:cNvPr>
          <p:cNvSpPr/>
          <p:nvPr/>
        </p:nvSpPr>
        <p:spPr>
          <a:xfrm>
            <a:off x="1537855" y="526474"/>
            <a:ext cx="2078181" cy="632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0A99E0-9818-A2CC-B693-2088B8350B06}"/>
              </a:ext>
            </a:extLst>
          </p:cNvPr>
          <p:cNvSpPr txBox="1"/>
          <p:nvPr/>
        </p:nvSpPr>
        <p:spPr>
          <a:xfrm>
            <a:off x="3681233" y="789709"/>
            <a:ext cx="136640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Base case</a:t>
            </a:r>
          </a:p>
        </p:txBody>
      </p:sp>
    </p:spTree>
    <p:extLst>
      <p:ext uri="{BB962C8B-B14F-4D97-AF65-F5344CB8AC3E}">
        <p14:creationId xmlns:p14="http://schemas.microsoft.com/office/powerpoint/2010/main" val="148984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  <p:bldP spid="4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D2BA8C-0552-C5CE-2B60-641780E1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37</a:t>
            </a:fld>
            <a:endParaRPr lang="en-SG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50B150-FF06-76DF-D58A-AA95C53B2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95" y="770368"/>
            <a:ext cx="5901300" cy="35879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FCA39FD-709C-D30D-91D1-8C3244D032CD}"/>
              </a:ext>
            </a:extLst>
          </p:cNvPr>
          <p:cNvSpPr txBox="1"/>
          <p:nvPr/>
        </p:nvSpPr>
        <p:spPr>
          <a:xfrm>
            <a:off x="6460601" y="1086464"/>
            <a:ext cx="511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(b)</a:t>
            </a:r>
            <a:r>
              <a:rPr lang="zh-CN" altLang="en-US"/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55BD81-02B5-D56E-3B23-B9231A3A89E9}"/>
              </a:ext>
            </a:extLst>
          </p:cNvPr>
          <p:cNvSpPr txBox="1"/>
          <p:nvPr/>
        </p:nvSpPr>
        <p:spPr>
          <a:xfrm>
            <a:off x="2595045" y="5032136"/>
            <a:ext cx="8818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int </a:t>
            </a:r>
            <a:r>
              <a:rPr lang="en-US" altLang="zh-CN" sz="2400" dirty="0" err="1"/>
              <a:t>present_thru_days</a:t>
            </a:r>
            <a:r>
              <a:rPr lang="en-US" altLang="zh-CN" sz="2400" dirty="0"/>
              <a:t> ( int n ){</a:t>
            </a:r>
          </a:p>
          <a:p>
            <a:r>
              <a:rPr lang="en-US" altLang="zh-CN" sz="2400" dirty="0"/>
              <a:t>           if ( n == 1) return 1;</a:t>
            </a:r>
          </a:p>
          <a:p>
            <a:r>
              <a:rPr lang="en-US" altLang="zh-CN" sz="2400" dirty="0"/>
              <a:t>           return </a:t>
            </a:r>
            <a:r>
              <a:rPr lang="en-US" altLang="zh-CN" sz="2400" dirty="0" err="1"/>
              <a:t>present_on_day</a:t>
            </a:r>
            <a:r>
              <a:rPr lang="en-US" altLang="zh-CN" sz="2400" dirty="0"/>
              <a:t> ( n ) + </a:t>
            </a:r>
            <a:r>
              <a:rPr lang="en-US" altLang="zh-CN" sz="2400" dirty="0" err="1"/>
              <a:t>present_thru_days</a:t>
            </a:r>
            <a:r>
              <a:rPr lang="en-US" altLang="zh-CN" sz="2400" dirty="0"/>
              <a:t> ( n – 1 );</a:t>
            </a:r>
          </a:p>
          <a:p>
            <a:r>
              <a:rPr lang="en-US" altLang="zh-CN" sz="2400" dirty="0"/>
              <a:t>}</a:t>
            </a:r>
            <a:endParaRPr lang="zh-CN" altLang="en-US" sz="24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F876156-A118-29A9-6982-3C7FC07E8F29}"/>
              </a:ext>
            </a:extLst>
          </p:cNvPr>
          <p:cNvCxnSpPr/>
          <p:nvPr/>
        </p:nvCxnSpPr>
        <p:spPr>
          <a:xfrm flipV="1">
            <a:off x="8457412" y="1889139"/>
            <a:ext cx="0" cy="139889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4115C3A-9FB5-4391-6B20-9D9087606D68}"/>
              </a:ext>
            </a:extLst>
          </p:cNvPr>
          <p:cNvSpPr txBox="1"/>
          <p:nvPr/>
        </p:nvSpPr>
        <p:spPr>
          <a:xfrm>
            <a:off x="8506215" y="2564363"/>
            <a:ext cx="3995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</a:rPr>
              <a:t>P_thru_days</a:t>
            </a:r>
            <a:r>
              <a:rPr lang="en-US" altLang="zh-CN" sz="2000" dirty="0">
                <a:solidFill>
                  <a:srgbClr val="0000FF"/>
                </a:solidFill>
              </a:rPr>
              <a:t> ( 1 )+</a:t>
            </a:r>
            <a:r>
              <a:rPr lang="en-US" altLang="zh-CN" sz="2000" dirty="0" err="1">
                <a:solidFill>
                  <a:srgbClr val="0000FF"/>
                </a:solidFill>
              </a:rPr>
              <a:t>P_on_day</a:t>
            </a:r>
            <a:r>
              <a:rPr lang="en-US" altLang="zh-CN" sz="2000" dirty="0">
                <a:solidFill>
                  <a:srgbClr val="0000FF"/>
                </a:solidFill>
              </a:rPr>
              <a:t> ( 3 )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480825-695F-1D05-F57E-AD93BEFBC80A}"/>
              </a:ext>
            </a:extLst>
          </p:cNvPr>
          <p:cNvSpPr txBox="1"/>
          <p:nvPr/>
        </p:nvSpPr>
        <p:spPr>
          <a:xfrm>
            <a:off x="8506571" y="2103004"/>
            <a:ext cx="5471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P_thru_days</a:t>
            </a:r>
            <a:r>
              <a:rPr lang="en-US" altLang="zh-CN" sz="2000" dirty="0"/>
              <a:t> ( 1 ) + </a:t>
            </a:r>
            <a:r>
              <a:rPr lang="en-US" altLang="zh-CN" sz="2000" dirty="0" err="1"/>
              <a:t>P_on_day</a:t>
            </a:r>
            <a:r>
              <a:rPr lang="en-US" altLang="zh-CN" sz="2000" dirty="0"/>
              <a:t> ( 2 ) 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EE099D-00EC-1214-ACF3-5D6B5E8E1F51}"/>
              </a:ext>
            </a:extLst>
          </p:cNvPr>
          <p:cNvSpPr txBox="1"/>
          <p:nvPr/>
        </p:nvSpPr>
        <p:spPr>
          <a:xfrm>
            <a:off x="8719306" y="1786017"/>
            <a:ext cx="285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1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087F3C-DA9F-9AE3-0246-0FF19D72260A}"/>
              </a:ext>
            </a:extLst>
          </p:cNvPr>
          <p:cNvSpPr txBox="1"/>
          <p:nvPr/>
        </p:nvSpPr>
        <p:spPr>
          <a:xfrm>
            <a:off x="5953979" y="1763069"/>
            <a:ext cx="26820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n = 1 </a:t>
            </a:r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 </a:t>
            </a:r>
            <a:r>
              <a:rPr lang="en-US" altLang="zh-CN" sz="2400" dirty="0">
                <a:solidFill>
                  <a:srgbClr val="0000FF"/>
                </a:solidFill>
              </a:rPr>
              <a:t>1 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n = 2 </a:t>
            </a:r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 1 + 3 = 4</a:t>
            </a:r>
          </a:p>
          <a:p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n = 3  4 + 6 = 10</a:t>
            </a:r>
          </a:p>
          <a:p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……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7FC6D-7428-5057-27FC-AC6AE40F1A73}"/>
              </a:ext>
            </a:extLst>
          </p:cNvPr>
          <p:cNvSpPr txBox="1"/>
          <p:nvPr/>
        </p:nvSpPr>
        <p:spPr>
          <a:xfrm>
            <a:off x="8636076" y="3173265"/>
            <a:ext cx="336195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 err="1"/>
              <a:t>p_thru_days</a:t>
            </a:r>
            <a:r>
              <a:rPr lang="en-SG" dirty="0"/>
              <a:t>(n-1) + </a:t>
            </a:r>
            <a:r>
              <a:rPr lang="en-SG" dirty="0" err="1"/>
              <a:t>p_on_day</a:t>
            </a:r>
            <a:r>
              <a:rPr lang="en-SG" dirty="0"/>
              <a:t>(n)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BBD556-9648-9E78-5024-1A33FDD69D4F}"/>
              </a:ext>
            </a:extLst>
          </p:cNvPr>
          <p:cNvSpPr/>
          <p:nvPr/>
        </p:nvSpPr>
        <p:spPr>
          <a:xfrm>
            <a:off x="2091145" y="1568520"/>
            <a:ext cx="2591691" cy="3890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EF4AEE-C46F-54F8-2AB8-CD1F8E731ABC}"/>
              </a:ext>
            </a:extLst>
          </p:cNvPr>
          <p:cNvSpPr txBox="1"/>
          <p:nvPr/>
        </p:nvSpPr>
        <p:spPr>
          <a:xfrm>
            <a:off x="5417582" y="1367047"/>
            <a:ext cx="145024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Base case</a:t>
            </a:r>
          </a:p>
        </p:txBody>
      </p:sp>
    </p:spTree>
    <p:extLst>
      <p:ext uri="{BB962C8B-B14F-4D97-AF65-F5344CB8AC3E}">
        <p14:creationId xmlns:p14="http://schemas.microsoft.com/office/powerpoint/2010/main" val="388363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2" grpId="0" animBg="1"/>
      <p:bldP spid="11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38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691D1-EA2B-4E7C-8B8D-6C2C708BF6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5" t="8472" r="10129" b="41528"/>
          <a:stretch/>
        </p:blipFill>
        <p:spPr>
          <a:xfrm>
            <a:off x="0" y="162647"/>
            <a:ext cx="6775451" cy="60675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123DA2-60F0-453C-ADFB-6CC052B625E6}"/>
              </a:ext>
            </a:extLst>
          </p:cNvPr>
          <p:cNvSpPr txBox="1"/>
          <p:nvPr/>
        </p:nvSpPr>
        <p:spPr>
          <a:xfrm>
            <a:off x="6626341" y="491468"/>
            <a:ext cx="1536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  <a:p>
            <a:r>
              <a:rPr lang="en-US" sz="2400" b="1" dirty="0"/>
              <a:t>(nested loops)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DB7B3C-E847-39AE-C8E3-8BC717CCAD52}"/>
              </a:ext>
            </a:extLst>
          </p:cNvPr>
          <p:cNvSpPr txBox="1"/>
          <p:nvPr/>
        </p:nvSpPr>
        <p:spPr>
          <a:xfrm>
            <a:off x="7871170" y="245128"/>
            <a:ext cx="3544082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/>
              <a:t>int match(char *s1, char *s2) </a:t>
            </a:r>
            <a:r>
              <a:rPr lang="en-US" altLang="zh-CN" sz="1300" dirty="0">
                <a:solidFill>
                  <a:srgbClr val="0000FF"/>
                </a:solidFill>
              </a:rPr>
              <a:t>{</a:t>
            </a:r>
          </a:p>
          <a:p>
            <a:r>
              <a:rPr lang="en-US" altLang="zh-CN" sz="1300" dirty="0"/>
              <a:t>    int len1 = </a:t>
            </a:r>
            <a:r>
              <a:rPr lang="en-US" altLang="zh-CN" sz="1300" dirty="0" err="1"/>
              <a:t>strlen</a:t>
            </a:r>
            <a:r>
              <a:rPr lang="en-US" altLang="zh-CN" sz="1300" dirty="0"/>
              <a:t>(s1);</a:t>
            </a:r>
          </a:p>
          <a:p>
            <a:r>
              <a:rPr lang="en-US" altLang="zh-CN" sz="1300" dirty="0"/>
              <a:t>    int len2 = </a:t>
            </a:r>
            <a:r>
              <a:rPr lang="en-US" altLang="zh-CN" sz="1300" dirty="0" err="1"/>
              <a:t>strlen</a:t>
            </a:r>
            <a:r>
              <a:rPr lang="en-US" altLang="zh-CN" sz="1300" dirty="0"/>
              <a:t>(s2);</a:t>
            </a:r>
          </a:p>
          <a:p>
            <a:endParaRPr lang="en-US" altLang="zh-CN" sz="500" dirty="0"/>
          </a:p>
          <a:p>
            <a:r>
              <a:rPr lang="en-US" altLang="zh-CN" sz="1300" dirty="0"/>
              <a:t>    // if s1 is longer than s2, cannot match</a:t>
            </a:r>
            <a:endParaRPr lang="zh-CN" altLang="en-US" sz="1300" dirty="0"/>
          </a:p>
          <a:p>
            <a:r>
              <a:rPr lang="zh-CN" altLang="en-US" sz="1300" dirty="0"/>
              <a:t>    </a:t>
            </a:r>
            <a:r>
              <a:rPr lang="en-US" altLang="zh-CN" sz="1300" dirty="0"/>
              <a:t>if (len1 &gt; len2)  return 0;</a:t>
            </a:r>
          </a:p>
          <a:p>
            <a:r>
              <a:rPr lang="en-US" altLang="zh-CN" sz="1300" dirty="0"/>
              <a:t>    </a:t>
            </a:r>
          </a:p>
          <a:p>
            <a:r>
              <a:rPr lang="en-US" altLang="zh-CN" sz="1300" dirty="0"/>
              <a:t>    // all</a:t>
            </a:r>
            <a:r>
              <a:rPr lang="zh-CN" altLang="en-US" sz="1300" dirty="0"/>
              <a:t> </a:t>
            </a:r>
            <a:r>
              <a:rPr lang="en-US" altLang="zh-CN" sz="1300" dirty="0"/>
              <a:t>the</a:t>
            </a:r>
            <a:r>
              <a:rPr lang="zh-CN" altLang="en-US" sz="1300" dirty="0"/>
              <a:t> </a:t>
            </a:r>
            <a:r>
              <a:rPr lang="en-US" altLang="zh-CN" sz="1300" dirty="0"/>
              <a:t>possible starting points for s2</a:t>
            </a:r>
            <a:endParaRPr lang="zh-CN" altLang="en-US" sz="1300" dirty="0"/>
          </a:p>
          <a:p>
            <a:r>
              <a:rPr lang="zh-CN" altLang="en-US" sz="1300" dirty="0"/>
              <a:t>    </a:t>
            </a:r>
            <a:r>
              <a:rPr lang="en-US" altLang="zh-CN" sz="1300" dirty="0"/>
              <a:t>for (int </a:t>
            </a:r>
            <a:r>
              <a:rPr lang="en-US" altLang="zh-CN" sz="1300" dirty="0" err="1"/>
              <a:t>i</a:t>
            </a:r>
            <a:r>
              <a:rPr lang="en-US" altLang="zh-CN" sz="1300" dirty="0"/>
              <a:t> = 0; </a:t>
            </a:r>
            <a:r>
              <a:rPr lang="en-US" altLang="zh-CN" sz="1300" dirty="0" err="1"/>
              <a:t>i</a:t>
            </a:r>
            <a:r>
              <a:rPr lang="en-US" altLang="zh-CN" sz="1300" dirty="0"/>
              <a:t> &lt;= len2 - len1; </a:t>
            </a:r>
            <a:r>
              <a:rPr lang="en-US" altLang="zh-CN" sz="1300" dirty="0" err="1"/>
              <a:t>i</a:t>
            </a:r>
            <a:r>
              <a:rPr lang="en-US" altLang="zh-CN" sz="1300" dirty="0"/>
              <a:t>++) </a:t>
            </a:r>
            <a:r>
              <a:rPr lang="en-US" altLang="zh-CN" sz="1300" dirty="0">
                <a:solidFill>
                  <a:srgbClr val="FF0000"/>
                </a:solidFill>
              </a:rPr>
              <a:t>{</a:t>
            </a:r>
          </a:p>
          <a:p>
            <a:r>
              <a:rPr lang="en-US" altLang="zh-CN" sz="1300" dirty="0"/>
              <a:t>        int matched = 1;</a:t>
            </a:r>
          </a:p>
          <a:p>
            <a:r>
              <a:rPr lang="en-US" altLang="zh-CN" sz="1300" dirty="0"/>
              <a:t>        </a:t>
            </a:r>
          </a:p>
          <a:p>
            <a:r>
              <a:rPr lang="en-US" altLang="zh-CN" sz="1300" dirty="0"/>
              <a:t>        // check whether the characters match</a:t>
            </a:r>
            <a:endParaRPr lang="zh-CN" altLang="en-US" sz="1300" dirty="0"/>
          </a:p>
          <a:p>
            <a:r>
              <a:rPr lang="zh-CN" altLang="en-US" sz="1300" dirty="0"/>
              <a:t>        </a:t>
            </a:r>
            <a:r>
              <a:rPr lang="en-US" altLang="zh-CN" sz="1300" dirty="0"/>
              <a:t>for (int j = 0; j &lt; len1; </a:t>
            </a:r>
            <a:r>
              <a:rPr lang="en-US" altLang="zh-CN" sz="1300" dirty="0" err="1"/>
              <a:t>j++</a:t>
            </a:r>
            <a:r>
              <a:rPr lang="en-US" altLang="zh-CN" sz="1300" dirty="0"/>
              <a:t>) {</a:t>
            </a:r>
          </a:p>
          <a:p>
            <a:r>
              <a:rPr lang="en-US" altLang="zh-CN" sz="1300" dirty="0"/>
              <a:t>            char c1 = s1[j];</a:t>
            </a:r>
          </a:p>
          <a:p>
            <a:r>
              <a:rPr lang="en-US" altLang="zh-CN" sz="1300" dirty="0"/>
              <a:t>            char c2 = s2[</a:t>
            </a:r>
            <a:r>
              <a:rPr lang="en-US" altLang="zh-CN" sz="1300" dirty="0" err="1"/>
              <a:t>i</a:t>
            </a:r>
            <a:r>
              <a:rPr lang="en-US" altLang="zh-CN" sz="1300" dirty="0"/>
              <a:t> + j];</a:t>
            </a:r>
          </a:p>
          <a:p>
            <a:endParaRPr lang="en-US" altLang="zh-CN" sz="600" dirty="0"/>
          </a:p>
          <a:p>
            <a:r>
              <a:rPr lang="en-US" altLang="zh-CN" sz="1300" dirty="0"/>
              <a:t>            if (!((c1 == 'A' &amp;&amp; c2 == 'T') || </a:t>
            </a:r>
          </a:p>
          <a:p>
            <a:r>
              <a:rPr lang="en-US" altLang="zh-CN" sz="1300" dirty="0"/>
              <a:t>                  (c1 == 'T' &amp;&amp; c2 == 'A') || </a:t>
            </a:r>
          </a:p>
          <a:p>
            <a:r>
              <a:rPr lang="en-US" altLang="zh-CN" sz="1300" dirty="0"/>
              <a:t>                  (c1 == 'C' &amp;&amp; c2 == 'G') || </a:t>
            </a:r>
          </a:p>
          <a:p>
            <a:r>
              <a:rPr lang="en-US" altLang="zh-CN" sz="1300" dirty="0"/>
              <a:t>                  (c1 == 'G' &amp;&amp; c2 == 'C'))) {</a:t>
            </a:r>
          </a:p>
          <a:p>
            <a:r>
              <a:rPr lang="en-US" altLang="zh-CN" sz="1300" dirty="0"/>
              <a:t>                  matched = 0;</a:t>
            </a:r>
          </a:p>
          <a:p>
            <a:r>
              <a:rPr lang="en-US" altLang="zh-CN" sz="1300" dirty="0"/>
              <a:t>                 break;</a:t>
            </a:r>
          </a:p>
          <a:p>
            <a:r>
              <a:rPr lang="en-US" altLang="zh-CN" sz="1300" dirty="0"/>
              <a:t>            }</a:t>
            </a:r>
          </a:p>
          <a:p>
            <a:r>
              <a:rPr lang="en-US" altLang="zh-CN" sz="1300" dirty="0"/>
              <a:t>        }</a:t>
            </a:r>
          </a:p>
          <a:p>
            <a:r>
              <a:rPr lang="en-US" altLang="zh-CN" sz="600" dirty="0"/>
              <a:t>        </a:t>
            </a:r>
          </a:p>
          <a:p>
            <a:r>
              <a:rPr lang="en-US" altLang="zh-CN" sz="1300" dirty="0"/>
              <a:t>        // if it finds the matched sequence</a:t>
            </a:r>
          </a:p>
          <a:p>
            <a:r>
              <a:rPr lang="en-US" altLang="zh-CN" sz="1300" dirty="0"/>
              <a:t>        if (matched) {</a:t>
            </a:r>
          </a:p>
          <a:p>
            <a:r>
              <a:rPr lang="en-US" altLang="zh-CN" sz="1300" dirty="0"/>
              <a:t>            return 1;</a:t>
            </a:r>
          </a:p>
          <a:p>
            <a:r>
              <a:rPr lang="en-US" altLang="zh-CN" sz="1300" dirty="0"/>
              <a:t>        }</a:t>
            </a:r>
          </a:p>
          <a:p>
            <a:r>
              <a:rPr lang="en-US" altLang="zh-CN" sz="1300" dirty="0"/>
              <a:t>   </a:t>
            </a:r>
            <a:r>
              <a:rPr lang="en-US" altLang="zh-CN" sz="1300" dirty="0">
                <a:solidFill>
                  <a:srgbClr val="FF0000"/>
                </a:solidFill>
              </a:rPr>
              <a:t> }</a:t>
            </a:r>
          </a:p>
          <a:p>
            <a:r>
              <a:rPr lang="en-US" altLang="zh-CN" sz="600" dirty="0"/>
              <a:t>    </a:t>
            </a:r>
          </a:p>
          <a:p>
            <a:r>
              <a:rPr lang="en-US" altLang="zh-CN" sz="1300" dirty="0"/>
              <a:t>    // check the whole string still do not match</a:t>
            </a:r>
          </a:p>
          <a:p>
            <a:r>
              <a:rPr lang="en-US" altLang="zh-CN" sz="1300" dirty="0"/>
              <a:t>         return 0;</a:t>
            </a:r>
          </a:p>
          <a:p>
            <a:r>
              <a:rPr lang="en-US" altLang="zh-CN" sz="1300" dirty="0">
                <a:solidFill>
                  <a:srgbClr val="0000FF"/>
                </a:solidFill>
              </a:rPr>
              <a:t>}</a:t>
            </a:r>
            <a:endParaRPr lang="zh-CN" altLang="en-US" sz="13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95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BD9B51-074B-1045-9ED4-68EE90FA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39</a:t>
            </a:fld>
            <a:endParaRPr lang="en-SG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CD43BA-E94A-BCEB-1C29-EB8A2BC251CD}"/>
              </a:ext>
            </a:extLst>
          </p:cNvPr>
          <p:cNvSpPr txBox="1"/>
          <p:nvPr/>
        </p:nvSpPr>
        <p:spPr>
          <a:xfrm>
            <a:off x="5965977" y="226830"/>
            <a:ext cx="578267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int match(char *s1, char *s2)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char comp[20];</a:t>
            </a:r>
          </a:p>
          <a:p>
            <a:r>
              <a:rPr lang="en-US" altLang="zh-CN" sz="2000" dirty="0"/>
              <a:t>    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</a:t>
            </a:r>
          </a:p>
          <a:p>
            <a:endParaRPr lang="en-US" altLang="zh-CN" sz="2000" dirty="0"/>
          </a:p>
          <a:p>
            <a:r>
              <a:rPr lang="en-US" altLang="zh-CN" sz="2000" dirty="0"/>
              <a:t>    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s1[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!= '\0';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</a:t>
            </a:r>
          </a:p>
          <a:p>
            <a:r>
              <a:rPr lang="en-US" altLang="zh-CN" sz="2000" dirty="0"/>
              <a:t>    {</a:t>
            </a:r>
          </a:p>
          <a:p>
            <a:r>
              <a:rPr lang="en-US" altLang="zh-CN" sz="2000" dirty="0"/>
              <a:t>        if(s1[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== 'A') comp[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'T';</a:t>
            </a:r>
          </a:p>
          <a:p>
            <a:r>
              <a:rPr lang="en-US" altLang="zh-CN" sz="2000" dirty="0"/>
              <a:t>        else if(s1[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== 'T') comp[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'A';</a:t>
            </a:r>
          </a:p>
          <a:p>
            <a:r>
              <a:rPr lang="en-US" altLang="zh-CN" sz="2000" dirty="0"/>
              <a:t>        else if(s1[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== 'C') comp[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'G';</a:t>
            </a:r>
          </a:p>
          <a:p>
            <a:r>
              <a:rPr lang="en-US" altLang="zh-CN" sz="2000" dirty="0"/>
              <a:t>        else comp[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'C';</a:t>
            </a:r>
          </a:p>
          <a:p>
            <a:r>
              <a:rPr lang="en-US" altLang="zh-CN" sz="2000" dirty="0"/>
              <a:t>    }</a:t>
            </a:r>
          </a:p>
          <a:p>
            <a:r>
              <a:rPr lang="en-US" altLang="zh-CN" sz="2000" dirty="0"/>
              <a:t>    comp[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'\0';</a:t>
            </a:r>
          </a:p>
          <a:p>
            <a:endParaRPr lang="en-US" altLang="zh-CN" sz="2000" dirty="0"/>
          </a:p>
          <a:p>
            <a:r>
              <a:rPr lang="en-US" altLang="zh-CN" sz="2000" dirty="0"/>
              <a:t>    if (</a:t>
            </a:r>
            <a:r>
              <a:rPr lang="en-US" altLang="zh-CN" sz="2000" dirty="0" err="1"/>
              <a:t>strstr</a:t>
            </a:r>
            <a:r>
              <a:rPr lang="en-US" altLang="zh-CN" sz="2000" dirty="0"/>
              <a:t>(s2, comp) != NULL) {</a:t>
            </a:r>
          </a:p>
          <a:p>
            <a:r>
              <a:rPr lang="en-US" altLang="zh-CN" sz="2000" dirty="0"/>
              <a:t>          return 1    </a:t>
            </a:r>
          </a:p>
          <a:p>
            <a:r>
              <a:rPr lang="en-US" altLang="zh-CN" sz="2000" dirty="0"/>
              <a:t>     }</a:t>
            </a:r>
          </a:p>
          <a:p>
            <a:r>
              <a:rPr lang="en-US" altLang="zh-CN" sz="2000" dirty="0"/>
              <a:t>     else {</a:t>
            </a:r>
          </a:p>
          <a:p>
            <a:r>
              <a:rPr lang="en-US" altLang="zh-CN" sz="2000" dirty="0"/>
              <a:t>           return 0  </a:t>
            </a:r>
          </a:p>
          <a:p>
            <a:r>
              <a:rPr lang="en-US" altLang="zh-CN" sz="2000" dirty="0"/>
              <a:t>      }</a:t>
            </a:r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F2CE0A-322C-BDA8-6DA5-1CD4456D7994}"/>
              </a:ext>
            </a:extLst>
          </p:cNvPr>
          <p:cNvSpPr txBox="1"/>
          <p:nvPr/>
        </p:nvSpPr>
        <p:spPr>
          <a:xfrm>
            <a:off x="521610" y="1101734"/>
            <a:ext cx="4542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Find complement sequence &amp; use given function </a:t>
            </a:r>
            <a:r>
              <a:rPr lang="en-US" altLang="zh-CN" sz="2400" b="1" dirty="0" err="1"/>
              <a:t>strstr</a:t>
            </a:r>
            <a:r>
              <a:rPr lang="en-US" altLang="zh-CN" sz="2400" b="1" dirty="0"/>
              <a:t>()</a:t>
            </a:r>
          </a:p>
          <a:p>
            <a:endParaRPr lang="zh-CN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2FDBE-FC18-D4D4-5CE1-6619CD9BDBB2}"/>
              </a:ext>
            </a:extLst>
          </p:cNvPr>
          <p:cNvSpPr txBox="1"/>
          <p:nvPr/>
        </p:nvSpPr>
        <p:spPr>
          <a:xfrm>
            <a:off x="521610" y="1925781"/>
            <a:ext cx="5049514" cy="452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 err="1"/>
              <a:t>strstr</a:t>
            </a:r>
            <a:r>
              <a:rPr lang="en-SG" dirty="0"/>
              <a:t>(s1, s2):</a:t>
            </a:r>
          </a:p>
          <a:p>
            <a:r>
              <a:rPr lang="zh-CN" altLang="zh-CN" dirty="0"/>
              <a:t>用来在一个字符串中查找另一个字符串第一次出现的位置</a:t>
            </a:r>
            <a:endParaRPr lang="en-SG" altLang="zh-CN" dirty="0"/>
          </a:p>
          <a:p>
            <a:r>
              <a:rPr lang="en-SG" dirty="0" err="1"/>
              <a:t>Eg.</a:t>
            </a:r>
            <a:endParaRPr lang="en-SG" dirty="0"/>
          </a:p>
          <a:p>
            <a:r>
              <a:rPr lang="en-SG" dirty="0"/>
              <a:t>char s[] = "</a:t>
            </a:r>
            <a:r>
              <a:rPr lang="en-SG" dirty="0" err="1"/>
              <a:t>abcdef</a:t>
            </a:r>
            <a:r>
              <a:rPr lang="en-SG" dirty="0"/>
              <a:t>";</a:t>
            </a:r>
          </a:p>
          <a:p>
            <a:r>
              <a:rPr lang="en-SG" dirty="0"/>
              <a:t>char *p = </a:t>
            </a:r>
            <a:r>
              <a:rPr lang="en-SG" dirty="0" err="1"/>
              <a:t>strstr</a:t>
            </a:r>
            <a:r>
              <a:rPr lang="en-SG" dirty="0"/>
              <a:t>(s, "cd");</a:t>
            </a:r>
          </a:p>
          <a:p>
            <a:endParaRPr lang="en-SG" dirty="0"/>
          </a:p>
          <a:p>
            <a:r>
              <a:rPr lang="en-SG" dirty="0" err="1"/>
              <a:t>printf</a:t>
            </a:r>
            <a:r>
              <a:rPr lang="en-SG" dirty="0"/>
              <a:t>("%s\n", p);</a:t>
            </a:r>
          </a:p>
          <a:p>
            <a:endParaRPr lang="en-SG" dirty="0"/>
          </a:p>
          <a:p>
            <a:r>
              <a:rPr lang="pt-BR" dirty="0"/>
              <a:t>a b c d e f \0</a:t>
            </a:r>
          </a:p>
          <a:p>
            <a:r>
              <a:rPr lang="pt-BR" dirty="0"/>
              <a:t>       ^</a:t>
            </a:r>
          </a:p>
          <a:p>
            <a:r>
              <a:rPr lang="pt-BR" dirty="0"/>
              <a:t>       p</a:t>
            </a:r>
          </a:p>
          <a:p>
            <a:r>
              <a:rPr lang="en-SG" dirty="0"/>
              <a:t>Output: </a:t>
            </a:r>
            <a:r>
              <a:rPr lang="en-SG" dirty="0" err="1"/>
              <a:t>cdef</a:t>
            </a:r>
            <a:endParaRPr lang="en-SG" dirty="0"/>
          </a:p>
          <a:p>
            <a:r>
              <a:rPr lang="en-SG" dirty="0"/>
              <a:t>If not found: return NULL</a:t>
            </a:r>
          </a:p>
          <a:p>
            <a:r>
              <a:rPr lang="en-SG" dirty="0" err="1"/>
              <a:t>strstr</a:t>
            </a:r>
            <a:r>
              <a:rPr lang="en-SG" dirty="0"/>
              <a:t>(s1, s2)</a:t>
            </a:r>
          </a:p>
          <a:p>
            <a:r>
              <a:rPr lang="en-SG" altLang="zh-CN" dirty="0"/>
              <a:t>Used to check whether s2 is the substring of s1</a:t>
            </a:r>
          </a:p>
        </p:txBody>
      </p:sp>
    </p:spTree>
    <p:extLst>
      <p:ext uri="{BB962C8B-B14F-4D97-AF65-F5344CB8AC3E}">
        <p14:creationId xmlns:p14="http://schemas.microsoft.com/office/powerpoint/2010/main" val="378555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40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FA927-CF8D-47D2-A222-F324829845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 t="7917" r="10521" b="55139"/>
          <a:stretch/>
        </p:blipFill>
        <p:spPr>
          <a:xfrm>
            <a:off x="1980585" y="550607"/>
            <a:ext cx="7147897" cy="4765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6F4CD-7BC4-4C8A-A137-79D8555CFFD4}"/>
              </a:ext>
            </a:extLst>
          </p:cNvPr>
          <p:cNvSpPr txBox="1"/>
          <p:nvPr/>
        </p:nvSpPr>
        <p:spPr>
          <a:xfrm>
            <a:off x="1968061" y="5329802"/>
            <a:ext cx="153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Answer: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F534D9-0284-0901-DAFF-A583E780917E}"/>
              </a:ext>
            </a:extLst>
          </p:cNvPr>
          <p:cNvSpPr txBox="1"/>
          <p:nvPr/>
        </p:nvSpPr>
        <p:spPr>
          <a:xfrm>
            <a:off x="2908009" y="5737122"/>
            <a:ext cx="5994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Use one for loop (</a:t>
            </a:r>
            <a:r>
              <a:rPr lang="en-US" altLang="zh-CN" sz="2400" b="1" dirty="0" err="1"/>
              <a:t>Kadane’s</a:t>
            </a:r>
            <a:r>
              <a:rPr lang="en-US" altLang="zh-CN" sz="2400" b="1" dirty="0"/>
              <a:t> algorithm)</a:t>
            </a:r>
            <a:endParaRPr lang="zh-CN" altLang="en-US" sz="24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6B11B8-56BB-FC4C-BAC5-84715FBF8F1E}"/>
              </a:ext>
            </a:extLst>
          </p:cNvPr>
          <p:cNvCxnSpPr/>
          <p:nvPr/>
        </p:nvCxnSpPr>
        <p:spPr>
          <a:xfrm>
            <a:off x="4862945" y="3345873"/>
            <a:ext cx="41286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5305E7-7DFC-A974-EB6D-6C765A7C16E2}"/>
              </a:ext>
            </a:extLst>
          </p:cNvPr>
          <p:cNvCxnSpPr>
            <a:cxnSpLocks/>
          </p:cNvCxnSpPr>
          <p:nvPr/>
        </p:nvCxnSpPr>
        <p:spPr>
          <a:xfrm>
            <a:off x="2500745" y="3567546"/>
            <a:ext cx="17110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35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C530-BD40-4C93-B339-E1D8D943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41</a:t>
            </a:fld>
            <a:endParaRPr lang="en-SG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02C260-BCBE-C8C5-2A1A-BFE98806C0FB}"/>
              </a:ext>
            </a:extLst>
          </p:cNvPr>
          <p:cNvSpPr txBox="1"/>
          <p:nvPr/>
        </p:nvSpPr>
        <p:spPr>
          <a:xfrm>
            <a:off x="526962" y="518300"/>
            <a:ext cx="5290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To make the sum the biggest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zh-CN" sz="2400" dirty="0">
                <a:sym typeface="Wingdings" panose="05000000000000000000" pitchFamily="2" charset="2"/>
              </a:rPr>
              <a:t>Avoid adding negative numbers and try to include all the non-negative numbers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5ADFB9-C1B8-FE00-6F25-376A7DD582F2}"/>
              </a:ext>
            </a:extLst>
          </p:cNvPr>
          <p:cNvSpPr txBox="1"/>
          <p:nvPr/>
        </p:nvSpPr>
        <p:spPr>
          <a:xfrm>
            <a:off x="6304114" y="1895754"/>
            <a:ext cx="457925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int </a:t>
            </a:r>
            <a:r>
              <a:rPr lang="en-US" altLang="zh-CN" sz="2000" b="1" dirty="0" err="1">
                <a:solidFill>
                  <a:srgbClr val="0000FF"/>
                </a:solidFill>
              </a:rPr>
              <a:t>max_subarray_sum</a:t>
            </a:r>
            <a:r>
              <a:rPr lang="en-US" altLang="zh-CN" sz="2000" b="1" dirty="0">
                <a:solidFill>
                  <a:srgbClr val="0000FF"/>
                </a:solidFill>
              </a:rPr>
              <a:t>(int a[8]) {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int </a:t>
            </a:r>
            <a:r>
              <a:rPr lang="en-US" altLang="zh-CN" sz="2000" b="1" dirty="0" err="1">
                <a:solidFill>
                  <a:srgbClr val="0000FF"/>
                </a:solidFill>
              </a:rPr>
              <a:t>current_sum</a:t>
            </a:r>
            <a:r>
              <a:rPr lang="en-US" altLang="zh-CN" sz="2000" b="1" dirty="0">
                <a:solidFill>
                  <a:srgbClr val="0000FF"/>
                </a:solidFill>
              </a:rPr>
              <a:t> = 0;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int </a:t>
            </a:r>
            <a:r>
              <a:rPr lang="en-US" altLang="zh-CN" sz="2000" b="1" dirty="0" err="1">
                <a:solidFill>
                  <a:srgbClr val="0000FF"/>
                </a:solidFill>
              </a:rPr>
              <a:t>max_sum</a:t>
            </a:r>
            <a:r>
              <a:rPr lang="en-US" altLang="zh-CN" sz="2000" b="1" dirty="0">
                <a:solidFill>
                  <a:srgbClr val="0000FF"/>
                </a:solidFill>
              </a:rPr>
              <a:t> = 0;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for (int </a:t>
            </a:r>
            <a:r>
              <a:rPr lang="en-US" altLang="zh-CN" sz="2000" b="1" dirty="0" err="1">
                <a:solidFill>
                  <a:srgbClr val="0000FF"/>
                </a:solidFill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</a:rPr>
              <a:t> = 0; </a:t>
            </a:r>
            <a:r>
              <a:rPr lang="en-US" altLang="zh-CN" sz="2000" b="1" dirty="0" err="1">
                <a:solidFill>
                  <a:srgbClr val="0000FF"/>
                </a:solidFill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</a:rPr>
              <a:t> &lt; 8; </a:t>
            </a:r>
            <a:r>
              <a:rPr lang="en-US" altLang="zh-CN" sz="2000" b="1" dirty="0" err="1">
                <a:solidFill>
                  <a:srgbClr val="0000FF"/>
                </a:solidFill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</a:rPr>
              <a:t>++) {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current_sum</a:t>
            </a:r>
            <a:r>
              <a:rPr lang="en-US" altLang="zh-CN" sz="2000" b="1" dirty="0">
                <a:solidFill>
                  <a:srgbClr val="0000FF"/>
                </a:solidFill>
              </a:rPr>
              <a:t> += a[</a:t>
            </a:r>
            <a:r>
              <a:rPr lang="en-US" altLang="zh-CN" sz="2000" b="1" dirty="0" err="1">
                <a:solidFill>
                  <a:srgbClr val="0000FF"/>
                </a:solidFill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</a:rPr>
              <a:t>];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    if (</a:t>
            </a:r>
            <a:r>
              <a:rPr lang="en-US" altLang="zh-CN" sz="2000" b="1" dirty="0" err="1">
                <a:solidFill>
                  <a:srgbClr val="0000FF"/>
                </a:solidFill>
              </a:rPr>
              <a:t>current_sum</a:t>
            </a:r>
            <a:r>
              <a:rPr lang="en-US" altLang="zh-CN" sz="2000" b="1" dirty="0">
                <a:solidFill>
                  <a:srgbClr val="0000FF"/>
                </a:solidFill>
              </a:rPr>
              <a:t> &lt; 0) {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current_sum</a:t>
            </a:r>
            <a:r>
              <a:rPr lang="en-US" altLang="zh-CN" sz="2000" b="1" dirty="0">
                <a:solidFill>
                  <a:srgbClr val="0000FF"/>
                </a:solidFill>
              </a:rPr>
              <a:t> = 0;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    }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    if (</a:t>
            </a:r>
            <a:r>
              <a:rPr lang="en-US" altLang="zh-CN" sz="2000" b="1" dirty="0" err="1">
                <a:solidFill>
                  <a:srgbClr val="0000FF"/>
                </a:solidFill>
              </a:rPr>
              <a:t>current_sum</a:t>
            </a:r>
            <a:r>
              <a:rPr lang="en-US" altLang="zh-CN" sz="2000" b="1" dirty="0">
                <a:solidFill>
                  <a:srgbClr val="0000FF"/>
                </a:solidFill>
              </a:rPr>
              <a:t> &gt; </a:t>
            </a:r>
            <a:r>
              <a:rPr lang="en-US" altLang="zh-CN" sz="2000" b="1" dirty="0" err="1">
                <a:solidFill>
                  <a:srgbClr val="0000FF"/>
                </a:solidFill>
              </a:rPr>
              <a:t>max_sum</a:t>
            </a:r>
            <a:r>
              <a:rPr lang="en-US" altLang="zh-CN" sz="2000" b="1" dirty="0">
                <a:solidFill>
                  <a:srgbClr val="0000FF"/>
                </a:solidFill>
              </a:rPr>
              <a:t>) {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max_sum</a:t>
            </a:r>
            <a:r>
              <a:rPr lang="en-US" altLang="zh-CN" sz="2000" b="1" dirty="0">
                <a:solidFill>
                  <a:srgbClr val="0000FF"/>
                </a:solidFill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</a:rPr>
              <a:t>current_sum</a:t>
            </a:r>
            <a:r>
              <a:rPr lang="en-US" altLang="zh-CN" sz="2000" b="1" dirty="0">
                <a:solidFill>
                  <a:srgbClr val="0000FF"/>
                </a:solidFill>
              </a:rPr>
              <a:t>;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    }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}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    return </a:t>
            </a:r>
            <a:r>
              <a:rPr lang="en-US" altLang="zh-CN" sz="2000" b="1" dirty="0" err="1">
                <a:solidFill>
                  <a:srgbClr val="0000FF"/>
                </a:solidFill>
              </a:rPr>
              <a:t>max_sum</a:t>
            </a:r>
            <a:r>
              <a:rPr lang="en-US" altLang="zh-CN" sz="2000" b="1" dirty="0">
                <a:solidFill>
                  <a:srgbClr val="0000FF"/>
                </a:solidFill>
              </a:rPr>
              <a:t>;</a:t>
            </a:r>
          </a:p>
          <a:p>
            <a:r>
              <a:rPr lang="en-US" altLang="zh-CN" sz="2000" b="1" dirty="0">
                <a:solidFill>
                  <a:srgbClr val="0000FF"/>
                </a:solidFill>
              </a:rPr>
              <a:t>}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1FCD4F-3225-4752-A637-11CC362414C5}"/>
              </a:ext>
            </a:extLst>
          </p:cNvPr>
          <p:cNvCxnSpPr/>
          <p:nvPr/>
        </p:nvCxnSpPr>
        <p:spPr>
          <a:xfrm>
            <a:off x="5938684" y="648929"/>
            <a:ext cx="0" cy="6027174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6288958-5CEA-E0DF-016B-5349A1C56681}"/>
              </a:ext>
            </a:extLst>
          </p:cNvPr>
          <p:cNvSpPr/>
          <p:nvPr/>
        </p:nvSpPr>
        <p:spPr>
          <a:xfrm>
            <a:off x="6691745" y="3789218"/>
            <a:ext cx="2535371" cy="8936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9B9169-A3A1-B3B0-38E2-698D7B39C081}"/>
              </a:ext>
            </a:extLst>
          </p:cNvPr>
          <p:cNvSpPr txBox="1"/>
          <p:nvPr/>
        </p:nvSpPr>
        <p:spPr>
          <a:xfrm>
            <a:off x="4016618" y="3891083"/>
            <a:ext cx="2459179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Once the sum added up before is negative,</a:t>
            </a:r>
          </a:p>
          <a:p>
            <a:r>
              <a:rPr lang="en-SG" dirty="0"/>
              <a:t>Delete all of them and start calculating again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F20AED-120A-92A2-B30B-F26BABBD9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881474"/>
              </p:ext>
            </p:extLst>
          </p:nvPr>
        </p:nvGraphicFramePr>
        <p:xfrm>
          <a:off x="201260" y="2253018"/>
          <a:ext cx="5554710" cy="1015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530">
                  <a:extLst>
                    <a:ext uri="{9D8B030D-6E8A-4147-A177-3AD203B41FA5}">
                      <a16:colId xmlns:a16="http://schemas.microsoft.com/office/drawing/2014/main" val="3216309860"/>
                    </a:ext>
                  </a:extLst>
                </a:gridCol>
                <a:gridCol w="793530">
                  <a:extLst>
                    <a:ext uri="{9D8B030D-6E8A-4147-A177-3AD203B41FA5}">
                      <a16:colId xmlns:a16="http://schemas.microsoft.com/office/drawing/2014/main" val="2135000569"/>
                    </a:ext>
                  </a:extLst>
                </a:gridCol>
                <a:gridCol w="793530">
                  <a:extLst>
                    <a:ext uri="{9D8B030D-6E8A-4147-A177-3AD203B41FA5}">
                      <a16:colId xmlns:a16="http://schemas.microsoft.com/office/drawing/2014/main" val="2051885856"/>
                    </a:ext>
                  </a:extLst>
                </a:gridCol>
                <a:gridCol w="793530">
                  <a:extLst>
                    <a:ext uri="{9D8B030D-6E8A-4147-A177-3AD203B41FA5}">
                      <a16:colId xmlns:a16="http://schemas.microsoft.com/office/drawing/2014/main" val="277000567"/>
                    </a:ext>
                  </a:extLst>
                </a:gridCol>
                <a:gridCol w="793530">
                  <a:extLst>
                    <a:ext uri="{9D8B030D-6E8A-4147-A177-3AD203B41FA5}">
                      <a16:colId xmlns:a16="http://schemas.microsoft.com/office/drawing/2014/main" val="1042825946"/>
                    </a:ext>
                  </a:extLst>
                </a:gridCol>
                <a:gridCol w="793530">
                  <a:extLst>
                    <a:ext uri="{9D8B030D-6E8A-4147-A177-3AD203B41FA5}">
                      <a16:colId xmlns:a16="http://schemas.microsoft.com/office/drawing/2014/main" val="2718903624"/>
                    </a:ext>
                  </a:extLst>
                </a:gridCol>
                <a:gridCol w="793530">
                  <a:extLst>
                    <a:ext uri="{9D8B030D-6E8A-4147-A177-3AD203B41FA5}">
                      <a16:colId xmlns:a16="http://schemas.microsoft.com/office/drawing/2014/main" val="2522819014"/>
                    </a:ext>
                  </a:extLst>
                </a:gridCol>
              </a:tblGrid>
              <a:tr h="1015662">
                <a:tc>
                  <a:txBody>
                    <a:bodyPr/>
                    <a:lstStyle/>
                    <a:p>
                      <a:r>
                        <a:rPr lang="en-SG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52874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FB341D-1D30-923D-7D79-FEC30DAD4CB8}"/>
              </a:ext>
            </a:extLst>
          </p:cNvPr>
          <p:cNvCxnSpPr/>
          <p:nvPr/>
        </p:nvCxnSpPr>
        <p:spPr>
          <a:xfrm>
            <a:off x="263236" y="3429000"/>
            <a:ext cx="208510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F3E994-66EE-4B70-B276-7C0E9B8A9DE8}"/>
              </a:ext>
            </a:extLst>
          </p:cNvPr>
          <p:cNvSpPr txBox="1"/>
          <p:nvPr/>
        </p:nvSpPr>
        <p:spPr>
          <a:xfrm>
            <a:off x="1205345" y="3713018"/>
            <a:ext cx="2396837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前三项为负，无论后面正负情况，加上这三项的和</a:t>
            </a:r>
            <a:r>
              <a:rPr lang="en-US" altLang="zh-CN" dirty="0"/>
              <a:t>sum</a:t>
            </a:r>
            <a:r>
              <a:rPr lang="zh-CN" altLang="en-US" dirty="0"/>
              <a:t>都变小，</a:t>
            </a:r>
            <a:endParaRPr lang="en-US" altLang="zh-CN" dirty="0"/>
          </a:p>
          <a:p>
            <a:r>
              <a:rPr lang="zh-CN" altLang="en-US" dirty="0"/>
              <a:t>因此放弃这三项，从后面开始。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7700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4F9899-5EA4-06AA-30EF-F2117696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42</a:t>
            </a:fld>
            <a:endParaRPr lang="en-SG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E30D2B-4B35-5902-614D-23A012DA6E94}"/>
              </a:ext>
            </a:extLst>
          </p:cNvPr>
          <p:cNvSpPr txBox="1"/>
          <p:nvPr/>
        </p:nvSpPr>
        <p:spPr>
          <a:xfrm>
            <a:off x="968478" y="976203"/>
            <a:ext cx="523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Alternative method: nested loops</a:t>
            </a:r>
            <a:endParaRPr lang="zh-CN" altLang="en-US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CFE975-A304-42E8-FAC6-B250F77B07C8}"/>
              </a:ext>
            </a:extLst>
          </p:cNvPr>
          <p:cNvSpPr txBox="1"/>
          <p:nvPr/>
        </p:nvSpPr>
        <p:spPr>
          <a:xfrm>
            <a:off x="1307456" y="1718772"/>
            <a:ext cx="878652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int </a:t>
            </a:r>
            <a:r>
              <a:rPr lang="en-US" altLang="zh-CN" sz="2200" dirty="0" err="1"/>
              <a:t>max_subarray_sum</a:t>
            </a:r>
            <a:r>
              <a:rPr lang="en-US" altLang="zh-CN" sz="2200" dirty="0"/>
              <a:t> (int a [ 8 ] ){</a:t>
            </a:r>
          </a:p>
          <a:p>
            <a:r>
              <a:rPr lang="en-US" altLang="zh-CN" sz="2200" dirty="0"/>
              <a:t>           	int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, j, </a:t>
            </a:r>
            <a:r>
              <a:rPr lang="en-US" altLang="zh-CN" sz="2200" dirty="0" err="1"/>
              <a:t>current_sum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max_sum</a:t>
            </a:r>
            <a:r>
              <a:rPr lang="en-US" altLang="zh-CN" sz="2200" dirty="0"/>
              <a:t>;</a:t>
            </a:r>
          </a:p>
          <a:p>
            <a:r>
              <a:rPr lang="en-US" altLang="zh-CN" sz="2200" dirty="0"/>
              <a:t>	</a:t>
            </a:r>
            <a:r>
              <a:rPr lang="en-US" altLang="zh-CN" sz="2200" dirty="0" err="1"/>
              <a:t>max_sum</a:t>
            </a:r>
            <a:r>
              <a:rPr lang="en-US" altLang="zh-CN" sz="2200" dirty="0"/>
              <a:t> = a[0];</a:t>
            </a:r>
          </a:p>
          <a:p>
            <a:r>
              <a:rPr lang="en-US" altLang="zh-CN" sz="2200" dirty="0"/>
              <a:t>	for 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= 0;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&lt; 8;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++){</a:t>
            </a:r>
          </a:p>
          <a:p>
            <a:r>
              <a:rPr lang="en-US" altLang="zh-CN" sz="2200" dirty="0"/>
              <a:t>	     </a:t>
            </a:r>
            <a:r>
              <a:rPr lang="en-US" altLang="zh-CN" sz="2200" dirty="0" err="1"/>
              <a:t>current_sum</a:t>
            </a:r>
            <a:r>
              <a:rPr lang="en-US" altLang="zh-CN" sz="2200" dirty="0"/>
              <a:t> = 0;</a:t>
            </a:r>
          </a:p>
          <a:p>
            <a:r>
              <a:rPr lang="en-US" altLang="zh-CN" sz="2200" dirty="0"/>
              <a:t>	     for (j = 0; j &lt; 8 -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;  </a:t>
            </a:r>
            <a:r>
              <a:rPr lang="en-US" altLang="zh-CN" sz="2200" dirty="0" err="1"/>
              <a:t>j++</a:t>
            </a:r>
            <a:r>
              <a:rPr lang="en-US" altLang="zh-CN" sz="2200" dirty="0"/>
              <a:t>){</a:t>
            </a:r>
          </a:p>
          <a:p>
            <a:r>
              <a:rPr lang="en-US" altLang="zh-CN" sz="2200" dirty="0"/>
              <a:t>	          </a:t>
            </a:r>
            <a:r>
              <a:rPr lang="en-US" altLang="zh-CN" sz="2200" dirty="0" err="1"/>
              <a:t>current_sum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current_sum</a:t>
            </a:r>
            <a:r>
              <a:rPr lang="en-US" altLang="zh-CN" sz="2200" dirty="0"/>
              <a:t> + a[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+ j];</a:t>
            </a:r>
          </a:p>
          <a:p>
            <a:r>
              <a:rPr lang="en-US" altLang="zh-CN" sz="2200" dirty="0"/>
              <a:t>	          if (</a:t>
            </a:r>
            <a:r>
              <a:rPr lang="en-US" altLang="zh-CN" sz="2200" dirty="0" err="1"/>
              <a:t>current_sum</a:t>
            </a:r>
            <a:r>
              <a:rPr lang="en-US" altLang="zh-CN" sz="2200" dirty="0"/>
              <a:t> &gt; </a:t>
            </a:r>
            <a:r>
              <a:rPr lang="en-US" altLang="zh-CN" sz="2200" dirty="0" err="1"/>
              <a:t>max_sum</a:t>
            </a:r>
            <a:r>
              <a:rPr lang="en-US" altLang="zh-CN" sz="2200" dirty="0"/>
              <a:t>) </a:t>
            </a:r>
            <a:r>
              <a:rPr lang="en-US" altLang="zh-CN" sz="2200" dirty="0" err="1"/>
              <a:t>max_sum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current_sum</a:t>
            </a:r>
            <a:r>
              <a:rPr lang="en-US" altLang="zh-CN" sz="2200" dirty="0"/>
              <a:t>; </a:t>
            </a:r>
          </a:p>
          <a:p>
            <a:r>
              <a:rPr lang="en-US" altLang="zh-CN" sz="2200" dirty="0"/>
              <a:t>	      }</a:t>
            </a:r>
          </a:p>
          <a:p>
            <a:r>
              <a:rPr lang="en-US" altLang="zh-CN" sz="2200" dirty="0"/>
              <a:t>	}</a:t>
            </a:r>
          </a:p>
          <a:p>
            <a:r>
              <a:rPr lang="en-US" altLang="zh-CN" sz="2200" dirty="0"/>
              <a:t>	return </a:t>
            </a:r>
            <a:r>
              <a:rPr lang="en-US" altLang="zh-CN" sz="2200" dirty="0" err="1"/>
              <a:t>max_sum</a:t>
            </a:r>
            <a:r>
              <a:rPr lang="en-US" altLang="zh-CN" sz="2200" dirty="0"/>
              <a:t>;</a:t>
            </a:r>
          </a:p>
          <a:p>
            <a:endParaRPr lang="en-US" altLang="zh-CN" sz="2200" dirty="0"/>
          </a:p>
          <a:p>
            <a:r>
              <a:rPr lang="en-US" altLang="zh-CN" sz="2200" dirty="0"/>
              <a:t>}</a:t>
            </a:r>
            <a:endParaRPr lang="zh-CN" altLang="en-US" sz="2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8B2D35-737C-DF3B-24B0-188234C50397}"/>
              </a:ext>
            </a:extLst>
          </p:cNvPr>
          <p:cNvSpPr txBox="1"/>
          <p:nvPr/>
        </p:nvSpPr>
        <p:spPr>
          <a:xfrm>
            <a:off x="6704569" y="5243949"/>
            <a:ext cx="4463143" cy="1107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If it does not assume there is at least one positive number, this program will still work!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21781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C306C-25FA-D533-7FD5-CB1045B5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7202"/>
          </a:xfrm>
        </p:spPr>
        <p:txBody>
          <a:bodyPr/>
          <a:lstStyle/>
          <a:p>
            <a:r>
              <a:rPr lang="zh-CN" altLang="en-US" dirty="0"/>
              <a:t>考试建议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4BE78-0A75-F343-094E-FBE4D7E19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328"/>
            <a:ext cx="10515600" cy="4874635"/>
          </a:xfrm>
        </p:spPr>
        <p:txBody>
          <a:bodyPr/>
          <a:lstStyle/>
          <a:p>
            <a:r>
              <a:rPr lang="zh-CN" altLang="en-US" dirty="0"/>
              <a:t>先易后难，第一遍写不要先追求最优解</a:t>
            </a:r>
            <a:endParaRPr lang="en-US" altLang="zh-CN" dirty="0"/>
          </a:p>
          <a:p>
            <a:pPr lvl="1"/>
            <a:r>
              <a:rPr lang="zh-CN" altLang="en-US" dirty="0"/>
              <a:t>可以先写最慢但一定正确的解法</a:t>
            </a:r>
            <a:endParaRPr lang="en-US" altLang="zh-CN" dirty="0"/>
          </a:p>
          <a:p>
            <a:pPr lvl="1"/>
            <a:r>
              <a:rPr lang="zh-CN" altLang="en-US" dirty="0"/>
              <a:t>多层</a:t>
            </a:r>
            <a:r>
              <a:rPr lang="en-US" altLang="zh-CN" dirty="0"/>
              <a:t>for-loops/while-loops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没有思路可以先跳过，保证会做的先做完</a:t>
            </a:r>
            <a:endParaRPr lang="en-US" altLang="zh-CN" dirty="0"/>
          </a:p>
          <a:p>
            <a:r>
              <a:rPr lang="zh-CN" altLang="en-US" dirty="0"/>
              <a:t>时间往往比较充足，保持稳定心态</a:t>
            </a:r>
            <a:endParaRPr lang="en-US" altLang="zh-CN" dirty="0"/>
          </a:p>
          <a:p>
            <a:r>
              <a:rPr lang="zh-CN" altLang="en-US" dirty="0"/>
              <a:t>考查</a:t>
            </a:r>
            <a:r>
              <a:rPr lang="en-US" altLang="zh-CN" dirty="0"/>
              <a:t>recursion</a:t>
            </a:r>
            <a:r>
              <a:rPr lang="zh-CN" altLang="en-US" dirty="0"/>
              <a:t>，思考：</a:t>
            </a:r>
            <a:endParaRPr lang="en-US" altLang="zh-CN" dirty="0"/>
          </a:p>
          <a:p>
            <a:pPr lvl="1"/>
            <a:r>
              <a:rPr lang="en-US" altLang="zh-CN" dirty="0"/>
              <a:t>Base case</a:t>
            </a:r>
          </a:p>
          <a:p>
            <a:pPr lvl="1"/>
            <a:r>
              <a:rPr lang="zh-CN" altLang="en-US" dirty="0"/>
              <a:t>每一层要做什么，需要什么前提条件 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zh-CN" altLang="en-US" dirty="0">
                <a:sym typeface="Wingdings" panose="05000000000000000000" pitchFamily="2" charset="2"/>
              </a:rPr>
              <a:t>用</a:t>
            </a:r>
            <a:r>
              <a:rPr lang="en-US" altLang="zh-CN" dirty="0">
                <a:sym typeface="Wingdings" panose="05000000000000000000" pitchFamily="2" charset="2"/>
              </a:rPr>
              <a:t>n</a:t>
            </a:r>
            <a:r>
              <a:rPr lang="zh-CN" altLang="en-US" dirty="0">
                <a:sym typeface="Wingdings" panose="05000000000000000000" pitchFamily="2" charset="2"/>
              </a:rPr>
              <a:t>表示一般情况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D9B65-8249-CEE4-B0E3-5C55C7A7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88764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C2D8F-DEA1-5ED5-1405-E3D542BE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068" y="511320"/>
            <a:ext cx="10515600" cy="2852737"/>
          </a:xfrm>
        </p:spPr>
        <p:txBody>
          <a:bodyPr/>
          <a:lstStyle/>
          <a:p>
            <a:r>
              <a:rPr lang="en-SG" dirty="0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AA089-342C-4E80-F963-67C84953D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068" y="3422073"/>
            <a:ext cx="10515600" cy="1500187"/>
          </a:xfrm>
        </p:spPr>
        <p:txBody>
          <a:bodyPr/>
          <a:lstStyle/>
          <a:p>
            <a:r>
              <a:rPr lang="zh-CN" altLang="en-US" dirty="0"/>
              <a:t>如有疑问，请在聊天框发出题号和问题 </a:t>
            </a:r>
            <a:r>
              <a:rPr lang="en-US" altLang="zh-CN" dirty="0">
                <a:sym typeface="Wingdings" panose="05000000000000000000" pitchFamily="2" charset="2"/>
              </a:rPr>
              <a:t>;)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8562-FA8A-A264-0A5D-44C55C20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DCFFD-5DF0-4D29-8BB5-234142B32273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SG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585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A681-5EE7-E037-52EC-EF1F2582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祝大家考试顺利</a:t>
            </a:r>
            <a:br>
              <a:rPr lang="en-US" altLang="zh-CN" dirty="0"/>
            </a:br>
            <a:r>
              <a:rPr lang="zh-CN" altLang="en-US" dirty="0"/>
              <a:t>大一顺利！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0CE44-7A6D-08BB-38C7-1254328F8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</a:t>
            </a:r>
            <a:r>
              <a:rPr lang="en-US" altLang="zh-CN" dirty="0" err="1"/>
              <a:t>ll</a:t>
            </a:r>
            <a:r>
              <a:rPr lang="en-US" altLang="zh-CN" dirty="0"/>
              <a:t> the best!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8D0D-B0D3-2493-6271-C94F62FD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61434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F647CC-FEAD-4A36-BAB4-37114287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46</a:t>
            </a:fld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E6844-2AAA-498C-8B2E-7F9B86FCEB6D}"/>
              </a:ext>
            </a:extLst>
          </p:cNvPr>
          <p:cNvSpPr txBox="1"/>
          <p:nvPr/>
        </p:nvSpPr>
        <p:spPr>
          <a:xfrm>
            <a:off x="5096536" y="2341081"/>
            <a:ext cx="27194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-  End 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17759-9638-4578-9918-7732D7142972}"/>
              </a:ext>
            </a:extLst>
          </p:cNvPr>
          <p:cNvSpPr txBox="1"/>
          <p:nvPr/>
        </p:nvSpPr>
        <p:spPr>
          <a:xfrm>
            <a:off x="1876343" y="3324752"/>
            <a:ext cx="8326582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Acknowledgement: </a:t>
            </a:r>
            <a:r>
              <a:rPr lang="en-US" sz="4400" dirty="0"/>
              <a:t>The first draft of these solutions was provided by Li</a:t>
            </a:r>
            <a:r>
              <a:rPr lang="en-US" altLang="zh-CN" sz="4400" dirty="0"/>
              <a:t>u</a:t>
            </a:r>
            <a:r>
              <a:rPr lang="en-US" sz="4400" dirty="0"/>
              <a:t> Yuqi.</a:t>
            </a:r>
          </a:p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23191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7623</TotalTime>
  <Words>3426</Words>
  <Application>Microsoft Office PowerPoint</Application>
  <PresentationFormat>Widescreen</PresentationFormat>
  <Paragraphs>592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Calibri (Headings)</vt:lpstr>
      <vt:lpstr>Aptos</vt:lpstr>
      <vt:lpstr>Aptos Display</vt:lpstr>
      <vt:lpstr>Arial</vt:lpstr>
      <vt:lpstr>Wingdings</vt:lpstr>
      <vt:lpstr>Office Theme</vt:lpstr>
      <vt:lpstr>我们7：05开始</vt:lpstr>
      <vt:lpstr>   CS1010 Placement Test AY2025-26 (7 July 2025)    Liu Yuqi   E-mail: e1513087@u.nus.edu      The first draft of the solutions for AY2025-26 was provided by Liu Yuqi.               </vt:lpstr>
      <vt:lpstr>PowerPoint Presentation</vt:lpstr>
      <vt:lpstr>PowerPoint Presentation</vt:lpstr>
      <vt:lpstr>PowerPoint Presentation</vt:lpstr>
      <vt:lpstr>PowerPoint Presentation</vt:lpstr>
      <vt:lpstr>什么时候转换，什么时候不转换？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考试建议</vt:lpstr>
      <vt:lpstr>Q&amp;A</vt:lpstr>
      <vt:lpstr>祝大家考试顺利 大一顺利！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S&amp;T2024    Advanced C Programming Language   CS1010 Placement Test AY2023-24    Lecturer A/Prof Tay Seng Chuan   E-mail: pvotaysc@nus.edu.sg    Office of the Provost National University of Singapore  The first draft of the solutions for AY2023-24 was provided by Li Lehao.</dc:title>
  <dc:creator>Li Lehao</dc:creator>
  <cp:lastModifiedBy>Liu Yuqi</cp:lastModifiedBy>
  <cp:revision>176</cp:revision>
  <dcterms:created xsi:type="dcterms:W3CDTF">2025-05-28T07:24:09Z</dcterms:created>
  <dcterms:modified xsi:type="dcterms:W3CDTF">2026-06-25T12:37:35Z</dcterms:modified>
</cp:coreProperties>
</file>